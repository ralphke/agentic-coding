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329" r:id="rId10"/>
    <p:sldId id="264"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 id="281" r:id="rId26"/>
    <p:sldId id="283" r:id="rId27"/>
    <p:sldId id="284" r:id="rId28"/>
    <p:sldId id="285" r:id="rId29"/>
    <p:sldId id="286" r:id="rId30"/>
    <p:sldId id="287" r:id="rId31"/>
    <p:sldId id="288" r:id="rId32"/>
    <p:sldId id="290" r:id="rId33"/>
    <p:sldId id="291" r:id="rId34"/>
    <p:sldId id="292" r:id="rId35"/>
    <p:sldId id="293" r:id="rId36"/>
    <p:sldId id="294" r:id="rId37"/>
    <p:sldId id="295" r:id="rId38"/>
    <p:sldId id="296" r:id="rId39"/>
    <p:sldId id="330" r:id="rId40"/>
    <p:sldId id="297" r:id="rId41"/>
    <p:sldId id="298" r:id="rId42"/>
    <p:sldId id="300" r:id="rId43"/>
    <p:sldId id="301" r:id="rId44"/>
    <p:sldId id="302" r:id="rId45"/>
    <p:sldId id="303" r:id="rId46"/>
    <p:sldId id="304" r:id="rId47"/>
    <p:sldId id="305" r:id="rId48"/>
    <p:sldId id="306"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1" r:id="rId62"/>
    <p:sldId id="322" r:id="rId63"/>
    <p:sldId id="323" r:id="rId64"/>
    <p:sldId id="324" r:id="rId65"/>
    <p:sldId id="325" r:id="rId66"/>
    <p:sldId id="326" r:id="rId67"/>
    <p:sldId id="327" r:id="rId68"/>
    <p:sldId id="328" r:id="rId6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11CB367F-2825-4CBE-AC63-394CE3A0A9B4}">
          <p14:sldIdLst>
            <p14:sldId id="256"/>
          </p14:sldIdLst>
        </p14:section>
        <p14:section name="Chapter 1: Introduction" id="{CCAE6C82-EEF5-4EF7-B44C-361D9F8E5995}">
          <p14:sldIdLst>
            <p14:sldId id="257"/>
            <p14:sldId id="258"/>
            <p14:sldId id="259"/>
            <p14:sldId id="260"/>
            <p14:sldId id="261"/>
            <p14:sldId id="262"/>
            <p14:sldId id="263"/>
            <p14:sldId id="329"/>
            <p14:sldId id="264"/>
          </p14:sldIdLst>
        </p14:section>
        <p14:section name="Chapter 2: The Ecosystem" id="{502924DB-191D-4A91-8FB6-4F5BE25C6C41}">
          <p14:sldIdLst>
            <p14:sldId id="266"/>
            <p14:sldId id="267"/>
            <p14:sldId id="268"/>
            <p14:sldId id="269"/>
            <p14:sldId id="270"/>
            <p14:sldId id="271"/>
            <p14:sldId id="272"/>
            <p14:sldId id="273"/>
            <p14:sldId id="274"/>
            <p14:sldId id="276"/>
            <p14:sldId id="277"/>
            <p14:sldId id="278"/>
            <p14:sldId id="279"/>
            <p14:sldId id="280"/>
            <p14:sldId id="281"/>
          </p14:sldIdLst>
        </p14:section>
        <p14:section name="Chapter 4: Testimonials" id="{D7CC4333-62C2-4153-9060-340125371022}">
          <p14:sldIdLst>
            <p14:sldId id="283"/>
            <p14:sldId id="284"/>
            <p14:sldId id="285"/>
            <p14:sldId id="286"/>
            <p14:sldId id="287"/>
            <p14:sldId id="288"/>
          </p14:sldIdLst>
        </p14:section>
        <p14:section name="Chapter 5: Security" id="{A83404D6-5141-4E9A-A419-0897319764EA}">
          <p14:sldIdLst>
            <p14:sldId id="290"/>
            <p14:sldId id="291"/>
            <p14:sldId id="292"/>
            <p14:sldId id="293"/>
            <p14:sldId id="294"/>
            <p14:sldId id="295"/>
            <p14:sldId id="296"/>
            <p14:sldId id="330"/>
            <p14:sldId id="297"/>
            <p14:sldId id="298"/>
          </p14:sldIdLst>
        </p14:section>
        <p14:section name="Chapter 6: Legal and IP" id="{78F2BDA4-6AB0-4F06-A20A-229BDD4C3955}">
          <p14:sldIdLst>
            <p14:sldId id="300"/>
            <p14:sldId id="301"/>
            <p14:sldId id="302"/>
            <p14:sldId id="303"/>
            <p14:sldId id="304"/>
            <p14:sldId id="305"/>
            <p14:sldId id="306"/>
          </p14:sldIdLst>
        </p14:section>
        <p14:section name="Chapter 7: Team and Organizational Impact" id="{15D98B42-EFD5-4D1F-881A-ABD055337C6B}">
          <p14:sldIdLst>
            <p14:sldId id="308"/>
            <p14:sldId id="309"/>
            <p14:sldId id="310"/>
            <p14:sldId id="311"/>
            <p14:sldId id="312"/>
            <p14:sldId id="313"/>
            <p14:sldId id="314"/>
            <p14:sldId id="315"/>
            <p14:sldId id="316"/>
            <p14:sldId id="317"/>
            <p14:sldId id="318"/>
            <p14:sldId id="319"/>
          </p14:sldIdLst>
        </p14:section>
        <p14:section name="Chapter 8: Future Outlook" id="{7F290704-65D2-4EB7-854F-73E736549A88}">
          <p14:sldIdLst>
            <p14:sldId id="321"/>
            <p14:sldId id="322"/>
            <p14:sldId id="323"/>
            <p14:sldId id="324"/>
            <p14:sldId id="325"/>
            <p14:sldId id="326"/>
            <p14:sldId id="327"/>
            <p14:sldId id="328"/>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p:scale>
          <a:sx n="100" d="100"/>
          <a:sy n="100" d="100"/>
        </p:scale>
        <p:origin x="4939" y="181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ata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9.svg"/></Relationships>
</file>

<file path=ppt/diagrams/_rels/data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ata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9.svg"/></Relationships>
</file>

<file path=ppt/diagrams/_rels/drawing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9E9C18-B3DE-4676-8972-BA6D5274F19E}" type="doc">
      <dgm:prSet loTypeId="urn:microsoft.com/office/officeart/2016/7/layout/LinearArrowProcessNumbered" loCatId="process" qsTypeId="urn:microsoft.com/office/officeart/2005/8/quickstyle/simple4" qsCatId="simple" csTypeId="urn:microsoft.com/office/officeart/2005/8/colors/accent1_2" csCatId="accent1"/>
      <dgm:spPr/>
      <dgm:t>
        <a:bodyPr/>
        <a:lstStyle/>
        <a:p>
          <a:endParaRPr lang="en-US"/>
        </a:p>
      </dgm:t>
    </dgm:pt>
    <dgm:pt modelId="{264517E8-6DAC-43EB-9C43-22C804E3CE1A}">
      <dgm:prSet/>
      <dgm:spPr/>
      <dgm:t>
        <a:bodyPr/>
        <a:lstStyle/>
        <a:p>
          <a:r>
            <a:rPr lang="en-US" dirty="0"/>
            <a:t>For decades, building software required a specific skill: writing code. You needed to learn programming languages, understand data structures, memorize syntax, and spend years practicing before you could turn an idea into a working application. That barrier is now collapsing.</a:t>
          </a:r>
        </a:p>
      </dgm:t>
    </dgm:pt>
    <dgm:pt modelId="{6AF371E2-07C4-4F93-8503-D9003EDDDF4C}" type="parTrans" cxnId="{7F8B353E-89CA-4F48-860E-6A47A2037387}">
      <dgm:prSet/>
      <dgm:spPr/>
      <dgm:t>
        <a:bodyPr/>
        <a:lstStyle/>
        <a:p>
          <a:endParaRPr lang="en-US"/>
        </a:p>
      </dgm:t>
    </dgm:pt>
    <dgm:pt modelId="{B759B007-66DE-489E-8141-7B8360ADE62D}" type="sibTrans" cxnId="{7F8B353E-89CA-4F48-860E-6A47A2037387}">
      <dgm:prSet phldrT="1" phldr="0"/>
      <dgm:spPr/>
      <dgm:t>
        <a:bodyPr/>
        <a:lstStyle/>
        <a:p>
          <a:r>
            <a:rPr lang="en-US"/>
            <a:t>1</a:t>
          </a:r>
        </a:p>
      </dgm:t>
    </dgm:pt>
    <dgm:pt modelId="{2A155F22-42D3-4F5A-8515-B365BB39073E}">
      <dgm:prSet/>
      <dgm:spPr/>
      <dgm:t>
        <a:bodyPr/>
        <a:lstStyle/>
        <a:p>
          <a:r>
            <a:rPr lang="en-US"/>
            <a:t>A new way of building software has emerged. Instead of writing code line by line, you describe what you want in plain English, and an AI builds it for you. You iterate by talking, not typing semicolons. You focus on what you want, not how to implement it. This approach has a name: vibe coding.</a:t>
          </a:r>
        </a:p>
      </dgm:t>
    </dgm:pt>
    <dgm:pt modelId="{50FF9133-B90F-4542-A7F7-0ACFEF4680E3}" type="parTrans" cxnId="{42584F53-3248-4FDB-81C2-4319985BFA2C}">
      <dgm:prSet/>
      <dgm:spPr/>
      <dgm:t>
        <a:bodyPr/>
        <a:lstStyle/>
        <a:p>
          <a:endParaRPr lang="en-US"/>
        </a:p>
      </dgm:t>
    </dgm:pt>
    <dgm:pt modelId="{D6D1F890-E178-46F3-BEB5-944856E43047}" type="sibTrans" cxnId="{42584F53-3248-4FDB-81C2-4319985BFA2C}">
      <dgm:prSet phldrT="2" phldr="0"/>
      <dgm:spPr/>
      <dgm:t>
        <a:bodyPr/>
        <a:lstStyle/>
        <a:p>
          <a:r>
            <a:rPr lang="en-US"/>
            <a:t>2</a:t>
          </a:r>
        </a:p>
      </dgm:t>
    </dgm:pt>
    <dgm:pt modelId="{DBF6A57B-A475-4A10-93C3-A0E9185FE182}">
      <dgm:prSet/>
      <dgm:spPr/>
      <dgm:t>
        <a:bodyPr/>
        <a:lstStyle/>
        <a:p>
          <a:r>
            <a:rPr lang="en-US"/>
            <a:t>The term might sound casual, but the implications are serious. Software already touches every part of modern life: how we communicate, shop, learn, work, and get healthcare. If the cost and difficulty of creating software drops by an order of magnitude, it changes who can build, what gets built, and how fast the world moves.</a:t>
          </a:r>
        </a:p>
      </dgm:t>
    </dgm:pt>
    <dgm:pt modelId="{C65DD98A-473E-4919-B467-F55030836BC0}" type="parTrans" cxnId="{7FDDFB39-A7D3-488E-8FBE-9DBFDCCE30DF}">
      <dgm:prSet/>
      <dgm:spPr/>
      <dgm:t>
        <a:bodyPr/>
        <a:lstStyle/>
        <a:p>
          <a:endParaRPr lang="en-US"/>
        </a:p>
      </dgm:t>
    </dgm:pt>
    <dgm:pt modelId="{E4BE1B02-B84C-4ACC-A1F1-E56F97E734D6}" type="sibTrans" cxnId="{7FDDFB39-A7D3-488E-8FBE-9DBFDCCE30DF}">
      <dgm:prSet phldrT="3" phldr="0"/>
      <dgm:spPr/>
      <dgm:t>
        <a:bodyPr/>
        <a:lstStyle/>
        <a:p>
          <a:r>
            <a:rPr lang="en-US"/>
            <a:t>3</a:t>
          </a:r>
        </a:p>
      </dgm:t>
    </dgm:pt>
    <dgm:pt modelId="{2AAFF15A-D222-447A-921D-15B864C8D5E0}">
      <dgm:prSet/>
      <dgm:spPr/>
      <dgm:t>
        <a:bodyPr/>
        <a:lstStyle/>
        <a:p>
          <a:r>
            <a:rPr lang="en-US"/>
            <a:t>This matters whether you’re a seasoned developer, a business owner with an app idea, a student, or someone who’s never written a line of code. The tools that make vibe coding possible are available right now, and they’re getting better every month.</a:t>
          </a:r>
        </a:p>
      </dgm:t>
    </dgm:pt>
    <dgm:pt modelId="{62777D32-C940-49B0-BBC2-553A332D8A95}" type="parTrans" cxnId="{CAF000EB-2233-41B2-A1DF-C8961B01BA92}">
      <dgm:prSet/>
      <dgm:spPr/>
      <dgm:t>
        <a:bodyPr/>
        <a:lstStyle/>
        <a:p>
          <a:endParaRPr lang="en-US"/>
        </a:p>
      </dgm:t>
    </dgm:pt>
    <dgm:pt modelId="{83336575-450D-46CB-A506-FFB18DD4E7CD}" type="sibTrans" cxnId="{CAF000EB-2233-41B2-A1DF-C8961B01BA92}">
      <dgm:prSet phldrT="4" phldr="0"/>
      <dgm:spPr/>
      <dgm:t>
        <a:bodyPr/>
        <a:lstStyle/>
        <a:p>
          <a:r>
            <a:rPr lang="en-US"/>
            <a:t>4</a:t>
          </a:r>
        </a:p>
      </dgm:t>
    </dgm:pt>
    <dgm:pt modelId="{832A7B35-FD0F-4CA8-88FB-00A3EBA58AD8}">
      <dgm:prSet/>
      <dgm:spPr/>
      <dgm:t>
        <a:bodyPr/>
        <a:lstStyle/>
        <a:p>
          <a:r>
            <a:rPr lang="en-US"/>
            <a:t>This chapter tells the story of how we got here, what it costs, how it changes the way software is made, and what real people have already accomplished with these tools.</a:t>
          </a:r>
        </a:p>
      </dgm:t>
    </dgm:pt>
    <dgm:pt modelId="{652F6896-5985-4823-9FB4-0C1429262BCC}" type="parTrans" cxnId="{BC9A7A41-D91B-409B-AA7A-E76639979B09}">
      <dgm:prSet/>
      <dgm:spPr/>
      <dgm:t>
        <a:bodyPr/>
        <a:lstStyle/>
        <a:p>
          <a:endParaRPr lang="en-US"/>
        </a:p>
      </dgm:t>
    </dgm:pt>
    <dgm:pt modelId="{0A6C294A-7636-4F03-B332-1A5E43EB73F5}" type="sibTrans" cxnId="{BC9A7A41-D91B-409B-AA7A-E76639979B09}">
      <dgm:prSet phldrT="5" phldr="0"/>
      <dgm:spPr/>
      <dgm:t>
        <a:bodyPr/>
        <a:lstStyle/>
        <a:p>
          <a:r>
            <a:rPr lang="en-US"/>
            <a:t>5</a:t>
          </a:r>
        </a:p>
      </dgm:t>
    </dgm:pt>
    <dgm:pt modelId="{380331E2-6BE6-49E6-82C7-79C006C6FE70}" type="pres">
      <dgm:prSet presAssocID="{509E9C18-B3DE-4676-8972-BA6D5274F19E}" presName="linearFlow" presStyleCnt="0">
        <dgm:presLayoutVars>
          <dgm:dir/>
          <dgm:animLvl val="lvl"/>
          <dgm:resizeHandles val="exact"/>
        </dgm:presLayoutVars>
      </dgm:prSet>
      <dgm:spPr/>
    </dgm:pt>
    <dgm:pt modelId="{EDE27434-9002-4F63-9C91-B36DBE0F1091}" type="pres">
      <dgm:prSet presAssocID="{264517E8-6DAC-43EB-9C43-22C804E3CE1A}" presName="compositeNode" presStyleCnt="0"/>
      <dgm:spPr/>
    </dgm:pt>
    <dgm:pt modelId="{04027036-E4E4-4DAC-A09B-AFEAD550CB5D}" type="pres">
      <dgm:prSet presAssocID="{264517E8-6DAC-43EB-9C43-22C804E3CE1A}" presName="parTx" presStyleLbl="node1" presStyleIdx="0" presStyleCnt="0">
        <dgm:presLayoutVars>
          <dgm:chMax val="0"/>
          <dgm:chPref val="0"/>
          <dgm:bulletEnabled val="1"/>
        </dgm:presLayoutVars>
      </dgm:prSet>
      <dgm:spPr/>
    </dgm:pt>
    <dgm:pt modelId="{ABB1923F-8C09-45A4-AAB0-75EEB0598985}" type="pres">
      <dgm:prSet presAssocID="{264517E8-6DAC-43EB-9C43-22C804E3CE1A}" presName="parSh" presStyleCnt="0"/>
      <dgm:spPr/>
    </dgm:pt>
    <dgm:pt modelId="{118F4340-47AD-4245-8ACA-18FB7B1790C5}" type="pres">
      <dgm:prSet presAssocID="{264517E8-6DAC-43EB-9C43-22C804E3CE1A}" presName="lineNode" presStyleLbl="alignAccFollowNode1" presStyleIdx="0" presStyleCnt="15"/>
      <dgm:spPr/>
    </dgm:pt>
    <dgm:pt modelId="{E9B530FA-FD35-4712-B9E6-17165CC4D6D2}" type="pres">
      <dgm:prSet presAssocID="{264517E8-6DAC-43EB-9C43-22C804E3CE1A}" presName="lineArrowNode" presStyleLbl="alignAccFollowNode1" presStyleIdx="1" presStyleCnt="15"/>
      <dgm:spPr/>
    </dgm:pt>
    <dgm:pt modelId="{F6A01A14-6A13-4B41-A216-17BCF8ABD776}" type="pres">
      <dgm:prSet presAssocID="{B759B007-66DE-489E-8141-7B8360ADE62D}" presName="sibTransNodeCircle" presStyleLbl="alignNode1" presStyleIdx="0" presStyleCnt="5">
        <dgm:presLayoutVars>
          <dgm:chMax val="0"/>
          <dgm:bulletEnabled/>
        </dgm:presLayoutVars>
      </dgm:prSet>
      <dgm:spPr/>
    </dgm:pt>
    <dgm:pt modelId="{26105242-0355-415C-AE79-8BEDD1EAC540}" type="pres">
      <dgm:prSet presAssocID="{B759B007-66DE-489E-8141-7B8360ADE62D}" presName="spacerBetweenCircleAndCallout" presStyleCnt="0">
        <dgm:presLayoutVars/>
      </dgm:prSet>
      <dgm:spPr/>
    </dgm:pt>
    <dgm:pt modelId="{D7EE4265-B935-444B-83CE-0EC289FD4211}" type="pres">
      <dgm:prSet presAssocID="{264517E8-6DAC-43EB-9C43-22C804E3CE1A}" presName="nodeText" presStyleLbl="alignAccFollowNode1" presStyleIdx="2" presStyleCnt="15">
        <dgm:presLayoutVars>
          <dgm:bulletEnabled val="1"/>
        </dgm:presLayoutVars>
      </dgm:prSet>
      <dgm:spPr/>
    </dgm:pt>
    <dgm:pt modelId="{BF605974-D8D9-474D-9593-45B1883FC18C}" type="pres">
      <dgm:prSet presAssocID="{B759B007-66DE-489E-8141-7B8360ADE62D}" presName="sibTransComposite" presStyleCnt="0"/>
      <dgm:spPr/>
    </dgm:pt>
    <dgm:pt modelId="{04B9D093-50F3-43E6-B08B-0CF2F1C3F1B0}" type="pres">
      <dgm:prSet presAssocID="{2A155F22-42D3-4F5A-8515-B365BB39073E}" presName="compositeNode" presStyleCnt="0"/>
      <dgm:spPr/>
    </dgm:pt>
    <dgm:pt modelId="{42D04F51-D773-410B-8473-74375346C6A3}" type="pres">
      <dgm:prSet presAssocID="{2A155F22-42D3-4F5A-8515-B365BB39073E}" presName="parTx" presStyleLbl="node1" presStyleIdx="0" presStyleCnt="0">
        <dgm:presLayoutVars>
          <dgm:chMax val="0"/>
          <dgm:chPref val="0"/>
          <dgm:bulletEnabled val="1"/>
        </dgm:presLayoutVars>
      </dgm:prSet>
      <dgm:spPr/>
    </dgm:pt>
    <dgm:pt modelId="{75997478-E123-4F01-9500-483D546E1DD8}" type="pres">
      <dgm:prSet presAssocID="{2A155F22-42D3-4F5A-8515-B365BB39073E}" presName="parSh" presStyleCnt="0"/>
      <dgm:spPr/>
    </dgm:pt>
    <dgm:pt modelId="{DBCF780A-6713-4AC9-BE69-5E81E2D354E2}" type="pres">
      <dgm:prSet presAssocID="{2A155F22-42D3-4F5A-8515-B365BB39073E}" presName="lineNode" presStyleLbl="alignAccFollowNode1" presStyleIdx="3" presStyleCnt="15"/>
      <dgm:spPr/>
    </dgm:pt>
    <dgm:pt modelId="{2720D765-454A-4A3C-BF42-3B269143195F}" type="pres">
      <dgm:prSet presAssocID="{2A155F22-42D3-4F5A-8515-B365BB39073E}" presName="lineArrowNode" presStyleLbl="alignAccFollowNode1" presStyleIdx="4" presStyleCnt="15"/>
      <dgm:spPr/>
    </dgm:pt>
    <dgm:pt modelId="{91421C18-289C-42A7-8FFB-1735AD52F082}" type="pres">
      <dgm:prSet presAssocID="{D6D1F890-E178-46F3-BEB5-944856E43047}" presName="sibTransNodeCircle" presStyleLbl="alignNode1" presStyleIdx="1" presStyleCnt="5">
        <dgm:presLayoutVars>
          <dgm:chMax val="0"/>
          <dgm:bulletEnabled/>
        </dgm:presLayoutVars>
      </dgm:prSet>
      <dgm:spPr/>
    </dgm:pt>
    <dgm:pt modelId="{16D80170-AD10-4A55-BCBE-401849A658B4}" type="pres">
      <dgm:prSet presAssocID="{D6D1F890-E178-46F3-BEB5-944856E43047}" presName="spacerBetweenCircleAndCallout" presStyleCnt="0">
        <dgm:presLayoutVars/>
      </dgm:prSet>
      <dgm:spPr/>
    </dgm:pt>
    <dgm:pt modelId="{93814436-A04B-42B5-9FF3-C7B958BB8982}" type="pres">
      <dgm:prSet presAssocID="{2A155F22-42D3-4F5A-8515-B365BB39073E}" presName="nodeText" presStyleLbl="alignAccFollowNode1" presStyleIdx="5" presStyleCnt="15">
        <dgm:presLayoutVars>
          <dgm:bulletEnabled val="1"/>
        </dgm:presLayoutVars>
      </dgm:prSet>
      <dgm:spPr/>
    </dgm:pt>
    <dgm:pt modelId="{C24BE124-8AE8-401A-A803-D47EA6B33F53}" type="pres">
      <dgm:prSet presAssocID="{D6D1F890-E178-46F3-BEB5-944856E43047}" presName="sibTransComposite" presStyleCnt="0"/>
      <dgm:spPr/>
    </dgm:pt>
    <dgm:pt modelId="{6190A65F-F2F6-4280-9012-973A3F859D12}" type="pres">
      <dgm:prSet presAssocID="{DBF6A57B-A475-4A10-93C3-A0E9185FE182}" presName="compositeNode" presStyleCnt="0"/>
      <dgm:spPr/>
    </dgm:pt>
    <dgm:pt modelId="{49710C45-77D0-47CF-A4B6-8BBD34992F64}" type="pres">
      <dgm:prSet presAssocID="{DBF6A57B-A475-4A10-93C3-A0E9185FE182}" presName="parTx" presStyleLbl="node1" presStyleIdx="0" presStyleCnt="0">
        <dgm:presLayoutVars>
          <dgm:chMax val="0"/>
          <dgm:chPref val="0"/>
          <dgm:bulletEnabled val="1"/>
        </dgm:presLayoutVars>
      </dgm:prSet>
      <dgm:spPr/>
    </dgm:pt>
    <dgm:pt modelId="{14BB7AF1-3DFD-4F37-A405-4364020B9143}" type="pres">
      <dgm:prSet presAssocID="{DBF6A57B-A475-4A10-93C3-A0E9185FE182}" presName="parSh" presStyleCnt="0"/>
      <dgm:spPr/>
    </dgm:pt>
    <dgm:pt modelId="{A012F465-9AC9-452F-ADC6-2B4DECA25D2A}" type="pres">
      <dgm:prSet presAssocID="{DBF6A57B-A475-4A10-93C3-A0E9185FE182}" presName="lineNode" presStyleLbl="alignAccFollowNode1" presStyleIdx="6" presStyleCnt="15"/>
      <dgm:spPr/>
    </dgm:pt>
    <dgm:pt modelId="{07235D39-8A9F-4FC0-9775-951C8AE394B7}" type="pres">
      <dgm:prSet presAssocID="{DBF6A57B-A475-4A10-93C3-A0E9185FE182}" presName="lineArrowNode" presStyleLbl="alignAccFollowNode1" presStyleIdx="7" presStyleCnt="15"/>
      <dgm:spPr/>
    </dgm:pt>
    <dgm:pt modelId="{19E88625-2E0B-4C13-84AA-78255A7FACEB}" type="pres">
      <dgm:prSet presAssocID="{E4BE1B02-B84C-4ACC-A1F1-E56F97E734D6}" presName="sibTransNodeCircle" presStyleLbl="alignNode1" presStyleIdx="2" presStyleCnt="5">
        <dgm:presLayoutVars>
          <dgm:chMax val="0"/>
          <dgm:bulletEnabled/>
        </dgm:presLayoutVars>
      </dgm:prSet>
      <dgm:spPr/>
    </dgm:pt>
    <dgm:pt modelId="{12601A2D-51B7-47E9-BB9B-30217BA21841}" type="pres">
      <dgm:prSet presAssocID="{E4BE1B02-B84C-4ACC-A1F1-E56F97E734D6}" presName="spacerBetweenCircleAndCallout" presStyleCnt="0">
        <dgm:presLayoutVars/>
      </dgm:prSet>
      <dgm:spPr/>
    </dgm:pt>
    <dgm:pt modelId="{93F36C96-2A82-4EE2-B3B2-12501C55F5A4}" type="pres">
      <dgm:prSet presAssocID="{DBF6A57B-A475-4A10-93C3-A0E9185FE182}" presName="nodeText" presStyleLbl="alignAccFollowNode1" presStyleIdx="8" presStyleCnt="15">
        <dgm:presLayoutVars>
          <dgm:bulletEnabled val="1"/>
        </dgm:presLayoutVars>
      </dgm:prSet>
      <dgm:spPr/>
    </dgm:pt>
    <dgm:pt modelId="{2D4F059D-3B51-48FD-A8C1-57B0156ECC19}" type="pres">
      <dgm:prSet presAssocID="{E4BE1B02-B84C-4ACC-A1F1-E56F97E734D6}" presName="sibTransComposite" presStyleCnt="0"/>
      <dgm:spPr/>
    </dgm:pt>
    <dgm:pt modelId="{115B5E1C-1D37-40E4-A1F7-DBB0B0B38BFE}" type="pres">
      <dgm:prSet presAssocID="{2AAFF15A-D222-447A-921D-15B864C8D5E0}" presName="compositeNode" presStyleCnt="0"/>
      <dgm:spPr/>
    </dgm:pt>
    <dgm:pt modelId="{AE1D47BE-67EC-44BA-B21F-6553A2A3BEED}" type="pres">
      <dgm:prSet presAssocID="{2AAFF15A-D222-447A-921D-15B864C8D5E0}" presName="parTx" presStyleLbl="node1" presStyleIdx="0" presStyleCnt="0">
        <dgm:presLayoutVars>
          <dgm:chMax val="0"/>
          <dgm:chPref val="0"/>
          <dgm:bulletEnabled val="1"/>
        </dgm:presLayoutVars>
      </dgm:prSet>
      <dgm:spPr/>
    </dgm:pt>
    <dgm:pt modelId="{0D2DB952-2B99-40AC-B709-24AF44C588CA}" type="pres">
      <dgm:prSet presAssocID="{2AAFF15A-D222-447A-921D-15B864C8D5E0}" presName="parSh" presStyleCnt="0"/>
      <dgm:spPr/>
    </dgm:pt>
    <dgm:pt modelId="{B91ABCB3-12DC-40D2-BFAC-CE5FEBA0DEE2}" type="pres">
      <dgm:prSet presAssocID="{2AAFF15A-D222-447A-921D-15B864C8D5E0}" presName="lineNode" presStyleLbl="alignAccFollowNode1" presStyleIdx="9" presStyleCnt="15"/>
      <dgm:spPr/>
    </dgm:pt>
    <dgm:pt modelId="{56817747-B552-46F6-9134-DE5D4B8CB960}" type="pres">
      <dgm:prSet presAssocID="{2AAFF15A-D222-447A-921D-15B864C8D5E0}" presName="lineArrowNode" presStyleLbl="alignAccFollowNode1" presStyleIdx="10" presStyleCnt="15"/>
      <dgm:spPr/>
    </dgm:pt>
    <dgm:pt modelId="{75B9AE1C-2550-44E6-8A84-0644C040D897}" type="pres">
      <dgm:prSet presAssocID="{83336575-450D-46CB-A506-FFB18DD4E7CD}" presName="sibTransNodeCircle" presStyleLbl="alignNode1" presStyleIdx="3" presStyleCnt="5">
        <dgm:presLayoutVars>
          <dgm:chMax val="0"/>
          <dgm:bulletEnabled/>
        </dgm:presLayoutVars>
      </dgm:prSet>
      <dgm:spPr/>
    </dgm:pt>
    <dgm:pt modelId="{854F9C75-7F35-4381-BECA-D804F9B1195E}" type="pres">
      <dgm:prSet presAssocID="{83336575-450D-46CB-A506-FFB18DD4E7CD}" presName="spacerBetweenCircleAndCallout" presStyleCnt="0">
        <dgm:presLayoutVars/>
      </dgm:prSet>
      <dgm:spPr/>
    </dgm:pt>
    <dgm:pt modelId="{A7403252-1E4A-4955-A592-63F41D6C2446}" type="pres">
      <dgm:prSet presAssocID="{2AAFF15A-D222-447A-921D-15B864C8D5E0}" presName="nodeText" presStyleLbl="alignAccFollowNode1" presStyleIdx="11" presStyleCnt="15">
        <dgm:presLayoutVars>
          <dgm:bulletEnabled val="1"/>
        </dgm:presLayoutVars>
      </dgm:prSet>
      <dgm:spPr/>
    </dgm:pt>
    <dgm:pt modelId="{2DCED9E2-623D-47CA-AE0A-68B29C645331}" type="pres">
      <dgm:prSet presAssocID="{83336575-450D-46CB-A506-FFB18DD4E7CD}" presName="sibTransComposite" presStyleCnt="0"/>
      <dgm:spPr/>
    </dgm:pt>
    <dgm:pt modelId="{F780BE7F-9D7D-4027-8FF0-817B417F281E}" type="pres">
      <dgm:prSet presAssocID="{832A7B35-FD0F-4CA8-88FB-00A3EBA58AD8}" presName="compositeNode" presStyleCnt="0"/>
      <dgm:spPr/>
    </dgm:pt>
    <dgm:pt modelId="{F8CE1233-4AFB-4FF2-9934-F336FF5F0AE1}" type="pres">
      <dgm:prSet presAssocID="{832A7B35-FD0F-4CA8-88FB-00A3EBA58AD8}" presName="parTx" presStyleLbl="node1" presStyleIdx="0" presStyleCnt="0">
        <dgm:presLayoutVars>
          <dgm:chMax val="0"/>
          <dgm:chPref val="0"/>
          <dgm:bulletEnabled val="1"/>
        </dgm:presLayoutVars>
      </dgm:prSet>
      <dgm:spPr/>
    </dgm:pt>
    <dgm:pt modelId="{78E42A78-A7ED-4DD0-B767-7BEC4F43710C}" type="pres">
      <dgm:prSet presAssocID="{832A7B35-FD0F-4CA8-88FB-00A3EBA58AD8}" presName="parSh" presStyleCnt="0"/>
      <dgm:spPr/>
    </dgm:pt>
    <dgm:pt modelId="{2B2814F5-EA83-47B5-BFAB-F6AEF01FC435}" type="pres">
      <dgm:prSet presAssocID="{832A7B35-FD0F-4CA8-88FB-00A3EBA58AD8}" presName="lineNode" presStyleLbl="alignAccFollowNode1" presStyleIdx="12" presStyleCnt="15"/>
      <dgm:spPr/>
    </dgm:pt>
    <dgm:pt modelId="{D5321F18-3587-4A50-8ACE-8D5970C3B84F}" type="pres">
      <dgm:prSet presAssocID="{832A7B35-FD0F-4CA8-88FB-00A3EBA58AD8}" presName="lineArrowNode" presStyleLbl="alignAccFollowNode1" presStyleIdx="13" presStyleCnt="15"/>
      <dgm:spPr/>
    </dgm:pt>
    <dgm:pt modelId="{0F135441-5E46-4CE6-9F2C-398CA5DD1AF0}" type="pres">
      <dgm:prSet presAssocID="{0A6C294A-7636-4F03-B332-1A5E43EB73F5}" presName="sibTransNodeCircle" presStyleLbl="alignNode1" presStyleIdx="4" presStyleCnt="5">
        <dgm:presLayoutVars>
          <dgm:chMax val="0"/>
          <dgm:bulletEnabled/>
        </dgm:presLayoutVars>
      </dgm:prSet>
      <dgm:spPr/>
    </dgm:pt>
    <dgm:pt modelId="{DD5DE4C6-5FE0-4CB5-9CF5-EB06E6F88A4A}" type="pres">
      <dgm:prSet presAssocID="{0A6C294A-7636-4F03-B332-1A5E43EB73F5}" presName="spacerBetweenCircleAndCallout" presStyleCnt="0">
        <dgm:presLayoutVars/>
      </dgm:prSet>
      <dgm:spPr/>
    </dgm:pt>
    <dgm:pt modelId="{8AC0CB27-6394-4E8E-B579-43B1915C66E5}" type="pres">
      <dgm:prSet presAssocID="{832A7B35-FD0F-4CA8-88FB-00A3EBA58AD8}" presName="nodeText" presStyleLbl="alignAccFollowNode1" presStyleIdx="14" presStyleCnt="15">
        <dgm:presLayoutVars>
          <dgm:bulletEnabled val="1"/>
        </dgm:presLayoutVars>
      </dgm:prSet>
      <dgm:spPr/>
    </dgm:pt>
  </dgm:ptLst>
  <dgm:cxnLst>
    <dgm:cxn modelId="{7FDDFB39-A7D3-488E-8FBE-9DBFDCCE30DF}" srcId="{509E9C18-B3DE-4676-8972-BA6D5274F19E}" destId="{DBF6A57B-A475-4A10-93C3-A0E9185FE182}" srcOrd="2" destOrd="0" parTransId="{C65DD98A-473E-4919-B467-F55030836BC0}" sibTransId="{E4BE1B02-B84C-4ACC-A1F1-E56F97E734D6}"/>
    <dgm:cxn modelId="{7F8B353E-89CA-4F48-860E-6A47A2037387}" srcId="{509E9C18-B3DE-4676-8972-BA6D5274F19E}" destId="{264517E8-6DAC-43EB-9C43-22C804E3CE1A}" srcOrd="0" destOrd="0" parTransId="{6AF371E2-07C4-4F93-8503-D9003EDDDF4C}" sibTransId="{B759B007-66DE-489E-8141-7B8360ADE62D}"/>
    <dgm:cxn modelId="{BC9A7A41-D91B-409B-AA7A-E76639979B09}" srcId="{509E9C18-B3DE-4676-8972-BA6D5274F19E}" destId="{832A7B35-FD0F-4CA8-88FB-00A3EBA58AD8}" srcOrd="4" destOrd="0" parTransId="{652F6896-5985-4823-9FB4-0C1429262BCC}" sibTransId="{0A6C294A-7636-4F03-B332-1A5E43EB73F5}"/>
    <dgm:cxn modelId="{F3F5136A-79D1-419E-A05D-D501B6CCC430}" type="presOf" srcId="{83336575-450D-46CB-A506-FFB18DD4E7CD}" destId="{75B9AE1C-2550-44E6-8A84-0644C040D897}" srcOrd="0" destOrd="0" presId="urn:microsoft.com/office/officeart/2016/7/layout/LinearArrowProcessNumbered"/>
    <dgm:cxn modelId="{5B2DE86A-9FFE-4595-BD07-DF51EBD32228}" type="presOf" srcId="{509E9C18-B3DE-4676-8972-BA6D5274F19E}" destId="{380331E2-6BE6-49E6-82C7-79C006C6FE70}" srcOrd="0" destOrd="0" presId="urn:microsoft.com/office/officeart/2016/7/layout/LinearArrowProcessNumbered"/>
    <dgm:cxn modelId="{42584F53-3248-4FDB-81C2-4319985BFA2C}" srcId="{509E9C18-B3DE-4676-8972-BA6D5274F19E}" destId="{2A155F22-42D3-4F5A-8515-B365BB39073E}" srcOrd="1" destOrd="0" parTransId="{50FF9133-B90F-4542-A7F7-0ACFEF4680E3}" sibTransId="{D6D1F890-E178-46F3-BEB5-944856E43047}"/>
    <dgm:cxn modelId="{B3109F53-7D07-45F8-AB39-31ACD9E4C24D}" type="presOf" srcId="{DBF6A57B-A475-4A10-93C3-A0E9185FE182}" destId="{93F36C96-2A82-4EE2-B3B2-12501C55F5A4}" srcOrd="0" destOrd="0" presId="urn:microsoft.com/office/officeart/2016/7/layout/LinearArrowProcessNumbered"/>
    <dgm:cxn modelId="{6E933C57-FEE9-4D05-A829-943668BAB731}" type="presOf" srcId="{2A155F22-42D3-4F5A-8515-B365BB39073E}" destId="{93814436-A04B-42B5-9FF3-C7B958BB8982}" srcOrd="0" destOrd="0" presId="urn:microsoft.com/office/officeart/2016/7/layout/LinearArrowProcessNumbered"/>
    <dgm:cxn modelId="{63F3397B-0485-4B5D-AEF9-4B04B0AC87D1}" type="presOf" srcId="{2AAFF15A-D222-447A-921D-15B864C8D5E0}" destId="{A7403252-1E4A-4955-A592-63F41D6C2446}" srcOrd="0" destOrd="0" presId="urn:microsoft.com/office/officeart/2016/7/layout/LinearArrowProcessNumbered"/>
    <dgm:cxn modelId="{F4D573A7-6945-425D-B5A2-39ABCEE441AC}" type="presOf" srcId="{E4BE1B02-B84C-4ACC-A1F1-E56F97E734D6}" destId="{19E88625-2E0B-4C13-84AA-78255A7FACEB}" srcOrd="0" destOrd="0" presId="urn:microsoft.com/office/officeart/2016/7/layout/LinearArrowProcessNumbered"/>
    <dgm:cxn modelId="{4DC177BC-064C-49F4-B766-403F8EE4B7E0}" type="presOf" srcId="{264517E8-6DAC-43EB-9C43-22C804E3CE1A}" destId="{D7EE4265-B935-444B-83CE-0EC289FD4211}" srcOrd="0" destOrd="0" presId="urn:microsoft.com/office/officeart/2016/7/layout/LinearArrowProcessNumbered"/>
    <dgm:cxn modelId="{4D74C0D1-C8A0-4C76-BC0A-AE7FDD59F942}" type="presOf" srcId="{D6D1F890-E178-46F3-BEB5-944856E43047}" destId="{91421C18-289C-42A7-8FFB-1735AD52F082}" srcOrd="0" destOrd="0" presId="urn:microsoft.com/office/officeart/2016/7/layout/LinearArrowProcessNumbered"/>
    <dgm:cxn modelId="{ED107CD6-C571-439C-8F80-7E79BED88EBF}" type="presOf" srcId="{832A7B35-FD0F-4CA8-88FB-00A3EBA58AD8}" destId="{8AC0CB27-6394-4E8E-B579-43B1915C66E5}" srcOrd="0" destOrd="0" presId="urn:microsoft.com/office/officeart/2016/7/layout/LinearArrowProcessNumbered"/>
    <dgm:cxn modelId="{CAF000EB-2233-41B2-A1DF-C8961B01BA92}" srcId="{509E9C18-B3DE-4676-8972-BA6D5274F19E}" destId="{2AAFF15A-D222-447A-921D-15B864C8D5E0}" srcOrd="3" destOrd="0" parTransId="{62777D32-C940-49B0-BBC2-553A332D8A95}" sibTransId="{83336575-450D-46CB-A506-FFB18DD4E7CD}"/>
    <dgm:cxn modelId="{B9A7A1F3-D1C6-456A-B9AD-33C5B3D887AF}" type="presOf" srcId="{0A6C294A-7636-4F03-B332-1A5E43EB73F5}" destId="{0F135441-5E46-4CE6-9F2C-398CA5DD1AF0}" srcOrd="0" destOrd="0" presId="urn:microsoft.com/office/officeart/2016/7/layout/LinearArrowProcessNumbered"/>
    <dgm:cxn modelId="{111338FA-06BA-48A2-8878-E9AEEE18E120}" type="presOf" srcId="{B759B007-66DE-489E-8141-7B8360ADE62D}" destId="{F6A01A14-6A13-4B41-A216-17BCF8ABD776}" srcOrd="0" destOrd="0" presId="urn:microsoft.com/office/officeart/2016/7/layout/LinearArrowProcessNumbered"/>
    <dgm:cxn modelId="{B1DEF35C-37AD-40C3-955A-7F170AAC3529}" type="presParOf" srcId="{380331E2-6BE6-49E6-82C7-79C006C6FE70}" destId="{EDE27434-9002-4F63-9C91-B36DBE0F1091}" srcOrd="0" destOrd="0" presId="urn:microsoft.com/office/officeart/2016/7/layout/LinearArrowProcessNumbered"/>
    <dgm:cxn modelId="{E061DD1B-47C0-4E0A-875C-76AE6A6F3D09}" type="presParOf" srcId="{EDE27434-9002-4F63-9C91-B36DBE0F1091}" destId="{04027036-E4E4-4DAC-A09B-AFEAD550CB5D}" srcOrd="0" destOrd="0" presId="urn:microsoft.com/office/officeart/2016/7/layout/LinearArrowProcessNumbered"/>
    <dgm:cxn modelId="{0ED6CBED-9FDD-46FF-880F-D587BDD1C43D}" type="presParOf" srcId="{EDE27434-9002-4F63-9C91-B36DBE0F1091}" destId="{ABB1923F-8C09-45A4-AAB0-75EEB0598985}" srcOrd="1" destOrd="0" presId="urn:microsoft.com/office/officeart/2016/7/layout/LinearArrowProcessNumbered"/>
    <dgm:cxn modelId="{2FA79D4D-5802-40A3-B033-06719D880D3F}" type="presParOf" srcId="{ABB1923F-8C09-45A4-AAB0-75EEB0598985}" destId="{118F4340-47AD-4245-8ACA-18FB7B1790C5}" srcOrd="0" destOrd="0" presId="urn:microsoft.com/office/officeart/2016/7/layout/LinearArrowProcessNumbered"/>
    <dgm:cxn modelId="{22F0D8FD-58CF-4394-9A2E-739506A925EC}" type="presParOf" srcId="{ABB1923F-8C09-45A4-AAB0-75EEB0598985}" destId="{E9B530FA-FD35-4712-B9E6-17165CC4D6D2}" srcOrd="1" destOrd="0" presId="urn:microsoft.com/office/officeart/2016/7/layout/LinearArrowProcessNumbered"/>
    <dgm:cxn modelId="{16B1866E-A74C-4B1C-8045-ACE963248992}" type="presParOf" srcId="{ABB1923F-8C09-45A4-AAB0-75EEB0598985}" destId="{F6A01A14-6A13-4B41-A216-17BCF8ABD776}" srcOrd="2" destOrd="0" presId="urn:microsoft.com/office/officeart/2016/7/layout/LinearArrowProcessNumbered"/>
    <dgm:cxn modelId="{53211004-86AB-4F3E-A33D-44E6150727CE}" type="presParOf" srcId="{ABB1923F-8C09-45A4-AAB0-75EEB0598985}" destId="{26105242-0355-415C-AE79-8BEDD1EAC540}" srcOrd="3" destOrd="0" presId="urn:microsoft.com/office/officeart/2016/7/layout/LinearArrowProcessNumbered"/>
    <dgm:cxn modelId="{07D96509-A47F-4D6E-B497-D18D73C14970}" type="presParOf" srcId="{EDE27434-9002-4F63-9C91-B36DBE0F1091}" destId="{D7EE4265-B935-444B-83CE-0EC289FD4211}" srcOrd="2" destOrd="0" presId="urn:microsoft.com/office/officeart/2016/7/layout/LinearArrowProcessNumbered"/>
    <dgm:cxn modelId="{BD2B41BD-4937-4392-A32A-0A94E0B909D2}" type="presParOf" srcId="{380331E2-6BE6-49E6-82C7-79C006C6FE70}" destId="{BF605974-D8D9-474D-9593-45B1883FC18C}" srcOrd="1" destOrd="0" presId="urn:microsoft.com/office/officeart/2016/7/layout/LinearArrowProcessNumbered"/>
    <dgm:cxn modelId="{15AA3230-4310-4101-849A-22AB443FC0D6}" type="presParOf" srcId="{380331E2-6BE6-49E6-82C7-79C006C6FE70}" destId="{04B9D093-50F3-43E6-B08B-0CF2F1C3F1B0}" srcOrd="2" destOrd="0" presId="urn:microsoft.com/office/officeart/2016/7/layout/LinearArrowProcessNumbered"/>
    <dgm:cxn modelId="{642A4D03-8D00-4317-9562-0EA2A1F6F02D}" type="presParOf" srcId="{04B9D093-50F3-43E6-B08B-0CF2F1C3F1B0}" destId="{42D04F51-D773-410B-8473-74375346C6A3}" srcOrd="0" destOrd="0" presId="urn:microsoft.com/office/officeart/2016/7/layout/LinearArrowProcessNumbered"/>
    <dgm:cxn modelId="{C2D1732D-EEC1-427A-839E-CA6696279DF4}" type="presParOf" srcId="{04B9D093-50F3-43E6-B08B-0CF2F1C3F1B0}" destId="{75997478-E123-4F01-9500-483D546E1DD8}" srcOrd="1" destOrd="0" presId="urn:microsoft.com/office/officeart/2016/7/layout/LinearArrowProcessNumbered"/>
    <dgm:cxn modelId="{07CD0EF8-EE96-444A-A9D9-2FFD71C87818}" type="presParOf" srcId="{75997478-E123-4F01-9500-483D546E1DD8}" destId="{DBCF780A-6713-4AC9-BE69-5E81E2D354E2}" srcOrd="0" destOrd="0" presId="urn:microsoft.com/office/officeart/2016/7/layout/LinearArrowProcessNumbered"/>
    <dgm:cxn modelId="{E2231B30-CE9A-441B-BD1C-590CBAD98763}" type="presParOf" srcId="{75997478-E123-4F01-9500-483D546E1DD8}" destId="{2720D765-454A-4A3C-BF42-3B269143195F}" srcOrd="1" destOrd="0" presId="urn:microsoft.com/office/officeart/2016/7/layout/LinearArrowProcessNumbered"/>
    <dgm:cxn modelId="{D83986E5-EB59-480B-ADE8-CF9517147B70}" type="presParOf" srcId="{75997478-E123-4F01-9500-483D546E1DD8}" destId="{91421C18-289C-42A7-8FFB-1735AD52F082}" srcOrd="2" destOrd="0" presId="urn:microsoft.com/office/officeart/2016/7/layout/LinearArrowProcessNumbered"/>
    <dgm:cxn modelId="{09D324AC-8078-4EC0-A32C-8EFEB9A7B54F}" type="presParOf" srcId="{75997478-E123-4F01-9500-483D546E1DD8}" destId="{16D80170-AD10-4A55-BCBE-401849A658B4}" srcOrd="3" destOrd="0" presId="urn:microsoft.com/office/officeart/2016/7/layout/LinearArrowProcessNumbered"/>
    <dgm:cxn modelId="{0DAEAF65-455B-4A68-934A-6E25290DD2D4}" type="presParOf" srcId="{04B9D093-50F3-43E6-B08B-0CF2F1C3F1B0}" destId="{93814436-A04B-42B5-9FF3-C7B958BB8982}" srcOrd="2" destOrd="0" presId="urn:microsoft.com/office/officeart/2016/7/layout/LinearArrowProcessNumbered"/>
    <dgm:cxn modelId="{C086A230-0EEB-4FFF-983E-2A4D48854E7B}" type="presParOf" srcId="{380331E2-6BE6-49E6-82C7-79C006C6FE70}" destId="{C24BE124-8AE8-401A-A803-D47EA6B33F53}" srcOrd="3" destOrd="0" presId="urn:microsoft.com/office/officeart/2016/7/layout/LinearArrowProcessNumbered"/>
    <dgm:cxn modelId="{B78ED45F-9392-46C0-92AC-628CB904FE11}" type="presParOf" srcId="{380331E2-6BE6-49E6-82C7-79C006C6FE70}" destId="{6190A65F-F2F6-4280-9012-973A3F859D12}" srcOrd="4" destOrd="0" presId="urn:microsoft.com/office/officeart/2016/7/layout/LinearArrowProcessNumbered"/>
    <dgm:cxn modelId="{9A711E13-4666-458D-BCF0-70D9B59AF245}" type="presParOf" srcId="{6190A65F-F2F6-4280-9012-973A3F859D12}" destId="{49710C45-77D0-47CF-A4B6-8BBD34992F64}" srcOrd="0" destOrd="0" presId="urn:microsoft.com/office/officeart/2016/7/layout/LinearArrowProcessNumbered"/>
    <dgm:cxn modelId="{004611E0-A944-4C1F-9EE4-264522FFAEC0}" type="presParOf" srcId="{6190A65F-F2F6-4280-9012-973A3F859D12}" destId="{14BB7AF1-3DFD-4F37-A405-4364020B9143}" srcOrd="1" destOrd="0" presId="urn:microsoft.com/office/officeart/2016/7/layout/LinearArrowProcessNumbered"/>
    <dgm:cxn modelId="{861686AF-0540-43C0-B24A-032A47550D57}" type="presParOf" srcId="{14BB7AF1-3DFD-4F37-A405-4364020B9143}" destId="{A012F465-9AC9-452F-ADC6-2B4DECA25D2A}" srcOrd="0" destOrd="0" presId="urn:microsoft.com/office/officeart/2016/7/layout/LinearArrowProcessNumbered"/>
    <dgm:cxn modelId="{47E60304-00DD-4BDE-9A52-9E1650FD393D}" type="presParOf" srcId="{14BB7AF1-3DFD-4F37-A405-4364020B9143}" destId="{07235D39-8A9F-4FC0-9775-951C8AE394B7}" srcOrd="1" destOrd="0" presId="urn:microsoft.com/office/officeart/2016/7/layout/LinearArrowProcessNumbered"/>
    <dgm:cxn modelId="{2E8C6FA4-42EE-443E-A302-5A6C5220C543}" type="presParOf" srcId="{14BB7AF1-3DFD-4F37-A405-4364020B9143}" destId="{19E88625-2E0B-4C13-84AA-78255A7FACEB}" srcOrd="2" destOrd="0" presId="urn:microsoft.com/office/officeart/2016/7/layout/LinearArrowProcessNumbered"/>
    <dgm:cxn modelId="{13ACFFB9-B6D9-4AC4-816B-870C608FA6B3}" type="presParOf" srcId="{14BB7AF1-3DFD-4F37-A405-4364020B9143}" destId="{12601A2D-51B7-47E9-BB9B-30217BA21841}" srcOrd="3" destOrd="0" presId="urn:microsoft.com/office/officeart/2016/7/layout/LinearArrowProcessNumbered"/>
    <dgm:cxn modelId="{8B998DC0-9A08-4070-9E5F-57448E188490}" type="presParOf" srcId="{6190A65F-F2F6-4280-9012-973A3F859D12}" destId="{93F36C96-2A82-4EE2-B3B2-12501C55F5A4}" srcOrd="2" destOrd="0" presId="urn:microsoft.com/office/officeart/2016/7/layout/LinearArrowProcessNumbered"/>
    <dgm:cxn modelId="{63056B49-2490-4EEA-9947-C52224806EC8}" type="presParOf" srcId="{380331E2-6BE6-49E6-82C7-79C006C6FE70}" destId="{2D4F059D-3B51-48FD-A8C1-57B0156ECC19}" srcOrd="5" destOrd="0" presId="urn:microsoft.com/office/officeart/2016/7/layout/LinearArrowProcessNumbered"/>
    <dgm:cxn modelId="{D6951FE3-D0AE-4443-8238-E60C42908210}" type="presParOf" srcId="{380331E2-6BE6-49E6-82C7-79C006C6FE70}" destId="{115B5E1C-1D37-40E4-A1F7-DBB0B0B38BFE}" srcOrd="6" destOrd="0" presId="urn:microsoft.com/office/officeart/2016/7/layout/LinearArrowProcessNumbered"/>
    <dgm:cxn modelId="{05EF1E51-0544-450D-B30C-7D06EFF833CB}" type="presParOf" srcId="{115B5E1C-1D37-40E4-A1F7-DBB0B0B38BFE}" destId="{AE1D47BE-67EC-44BA-B21F-6553A2A3BEED}" srcOrd="0" destOrd="0" presId="urn:microsoft.com/office/officeart/2016/7/layout/LinearArrowProcessNumbered"/>
    <dgm:cxn modelId="{FA54621E-CE8C-4D98-8270-EDA0EF78658E}" type="presParOf" srcId="{115B5E1C-1D37-40E4-A1F7-DBB0B0B38BFE}" destId="{0D2DB952-2B99-40AC-B709-24AF44C588CA}" srcOrd="1" destOrd="0" presId="urn:microsoft.com/office/officeart/2016/7/layout/LinearArrowProcessNumbered"/>
    <dgm:cxn modelId="{BB3D5B5A-78C5-46B8-848B-F5030934AE8A}" type="presParOf" srcId="{0D2DB952-2B99-40AC-B709-24AF44C588CA}" destId="{B91ABCB3-12DC-40D2-BFAC-CE5FEBA0DEE2}" srcOrd="0" destOrd="0" presId="urn:microsoft.com/office/officeart/2016/7/layout/LinearArrowProcessNumbered"/>
    <dgm:cxn modelId="{3774B4A4-69F5-42CD-B4EF-D0E00C590358}" type="presParOf" srcId="{0D2DB952-2B99-40AC-B709-24AF44C588CA}" destId="{56817747-B552-46F6-9134-DE5D4B8CB960}" srcOrd="1" destOrd="0" presId="urn:microsoft.com/office/officeart/2016/7/layout/LinearArrowProcessNumbered"/>
    <dgm:cxn modelId="{C5B62235-1798-40D3-9980-439C7CDED627}" type="presParOf" srcId="{0D2DB952-2B99-40AC-B709-24AF44C588CA}" destId="{75B9AE1C-2550-44E6-8A84-0644C040D897}" srcOrd="2" destOrd="0" presId="urn:microsoft.com/office/officeart/2016/7/layout/LinearArrowProcessNumbered"/>
    <dgm:cxn modelId="{72DCD9EC-820A-4F06-9C58-59E585574C8F}" type="presParOf" srcId="{0D2DB952-2B99-40AC-B709-24AF44C588CA}" destId="{854F9C75-7F35-4381-BECA-D804F9B1195E}" srcOrd="3" destOrd="0" presId="urn:microsoft.com/office/officeart/2016/7/layout/LinearArrowProcessNumbered"/>
    <dgm:cxn modelId="{43E09356-5E65-40B1-83EB-5412741533D6}" type="presParOf" srcId="{115B5E1C-1D37-40E4-A1F7-DBB0B0B38BFE}" destId="{A7403252-1E4A-4955-A592-63F41D6C2446}" srcOrd="2" destOrd="0" presId="urn:microsoft.com/office/officeart/2016/7/layout/LinearArrowProcessNumbered"/>
    <dgm:cxn modelId="{D68DF426-7328-44FA-89E9-0A46C4E573FB}" type="presParOf" srcId="{380331E2-6BE6-49E6-82C7-79C006C6FE70}" destId="{2DCED9E2-623D-47CA-AE0A-68B29C645331}" srcOrd="7" destOrd="0" presId="urn:microsoft.com/office/officeart/2016/7/layout/LinearArrowProcessNumbered"/>
    <dgm:cxn modelId="{1AAF382E-E3AC-4FFC-9FF8-9127CD376C55}" type="presParOf" srcId="{380331E2-6BE6-49E6-82C7-79C006C6FE70}" destId="{F780BE7F-9D7D-4027-8FF0-817B417F281E}" srcOrd="8" destOrd="0" presId="urn:microsoft.com/office/officeart/2016/7/layout/LinearArrowProcessNumbered"/>
    <dgm:cxn modelId="{45722164-4916-42C8-807A-884B61B90555}" type="presParOf" srcId="{F780BE7F-9D7D-4027-8FF0-817B417F281E}" destId="{F8CE1233-4AFB-4FF2-9934-F336FF5F0AE1}" srcOrd="0" destOrd="0" presId="urn:microsoft.com/office/officeart/2016/7/layout/LinearArrowProcessNumbered"/>
    <dgm:cxn modelId="{4A9C8389-6F46-4475-B8A5-5D8B3540A001}" type="presParOf" srcId="{F780BE7F-9D7D-4027-8FF0-817B417F281E}" destId="{78E42A78-A7ED-4DD0-B767-7BEC4F43710C}" srcOrd="1" destOrd="0" presId="urn:microsoft.com/office/officeart/2016/7/layout/LinearArrowProcessNumbered"/>
    <dgm:cxn modelId="{9BAA1316-AF2F-4B45-BEB2-F8A9D3D28B03}" type="presParOf" srcId="{78E42A78-A7ED-4DD0-B767-7BEC4F43710C}" destId="{2B2814F5-EA83-47B5-BFAB-F6AEF01FC435}" srcOrd="0" destOrd="0" presId="urn:microsoft.com/office/officeart/2016/7/layout/LinearArrowProcessNumbered"/>
    <dgm:cxn modelId="{FF5A4348-C8B2-4781-8C93-2EA6526C8F09}" type="presParOf" srcId="{78E42A78-A7ED-4DD0-B767-7BEC4F43710C}" destId="{D5321F18-3587-4A50-8ACE-8D5970C3B84F}" srcOrd="1" destOrd="0" presId="urn:microsoft.com/office/officeart/2016/7/layout/LinearArrowProcessNumbered"/>
    <dgm:cxn modelId="{0614BDD0-3542-4A96-AF68-43899BBF66E9}" type="presParOf" srcId="{78E42A78-A7ED-4DD0-B767-7BEC4F43710C}" destId="{0F135441-5E46-4CE6-9F2C-398CA5DD1AF0}" srcOrd="2" destOrd="0" presId="urn:microsoft.com/office/officeart/2016/7/layout/LinearArrowProcessNumbered"/>
    <dgm:cxn modelId="{1D43E709-B2DB-4ED2-B448-204DACBB2A69}" type="presParOf" srcId="{78E42A78-A7ED-4DD0-B767-7BEC4F43710C}" destId="{DD5DE4C6-5FE0-4CB5-9CF5-EB06E6F88A4A}" srcOrd="3" destOrd="0" presId="urn:microsoft.com/office/officeart/2016/7/layout/LinearArrowProcessNumbered"/>
    <dgm:cxn modelId="{F8D787BB-5ED4-4EC5-9938-AC02CCBC4A93}" type="presParOf" srcId="{F780BE7F-9D7D-4027-8FF0-817B417F281E}" destId="{8AC0CB27-6394-4E8E-B579-43B1915C66E5}"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8E7941-4FDB-4F84-A902-C71320F06C1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C2E0FCF-3DD9-4991-AEE2-C11FCE1B6E4B}">
      <dgm:prSet/>
      <dgm:spPr/>
      <dgm:t>
        <a:bodyPr/>
        <a:lstStyle/>
        <a:p>
          <a:r>
            <a:rPr lang="en-US"/>
            <a:t>A vibe coder spending $200 per month who saves just 4 hours per week would get:</a:t>
          </a:r>
        </a:p>
      </dgm:t>
    </dgm:pt>
    <dgm:pt modelId="{42499D8E-1988-44CA-AC52-B5EBBC90B5ED}" type="parTrans" cxnId="{BE65AF45-A019-4798-9EA1-7D93A184D578}">
      <dgm:prSet/>
      <dgm:spPr/>
      <dgm:t>
        <a:bodyPr/>
        <a:lstStyle/>
        <a:p>
          <a:endParaRPr lang="en-US"/>
        </a:p>
      </dgm:t>
    </dgm:pt>
    <dgm:pt modelId="{A03490EE-EBEB-4D46-8948-F69BFEA38CF4}" type="sibTrans" cxnId="{BE65AF45-A019-4798-9EA1-7D93A184D578}">
      <dgm:prSet/>
      <dgm:spPr/>
      <dgm:t>
        <a:bodyPr/>
        <a:lstStyle/>
        <a:p>
          <a:endParaRPr lang="en-US"/>
        </a:p>
      </dgm:t>
    </dgm:pt>
    <dgm:pt modelId="{A5F23434-35F0-4524-9C44-905FDC40C655}">
      <dgm:prSet/>
      <dgm:spPr/>
      <dgm:t>
        <a:bodyPr/>
        <a:lstStyle/>
        <a:p>
          <a:r>
            <a:rPr lang="en-US"/>
            <a:t>16 hours saved per month</a:t>
          </a:r>
        </a:p>
      </dgm:t>
    </dgm:pt>
    <dgm:pt modelId="{81D4D7D3-5012-44DD-A707-AA75C313F1C4}" type="parTrans" cxnId="{62742377-E14D-4F48-99B2-899B4F924E97}">
      <dgm:prSet/>
      <dgm:spPr/>
      <dgm:t>
        <a:bodyPr/>
        <a:lstStyle/>
        <a:p>
          <a:endParaRPr lang="en-US"/>
        </a:p>
      </dgm:t>
    </dgm:pt>
    <dgm:pt modelId="{94A4DAD2-C92D-40CA-B231-FBCA00896A9B}" type="sibTrans" cxnId="{62742377-E14D-4F48-99B2-899B4F924E97}">
      <dgm:prSet/>
      <dgm:spPr/>
      <dgm:t>
        <a:bodyPr/>
        <a:lstStyle/>
        <a:p>
          <a:endParaRPr lang="en-US"/>
        </a:p>
      </dgm:t>
    </dgm:pt>
    <dgm:pt modelId="{1B3AF8C2-E294-444B-868A-5BC540962DF5}">
      <dgm:prSet/>
      <dgm:spPr/>
      <dgm:t>
        <a:bodyPr/>
        <a:lstStyle/>
        <a:p>
          <a:r>
            <a:rPr lang="en-US"/>
            <a:t>$1,600 in value at $100 per hour</a:t>
          </a:r>
        </a:p>
      </dgm:t>
    </dgm:pt>
    <dgm:pt modelId="{B79E22ED-546F-4D13-B39A-0BA6A52F155E}" type="parTrans" cxnId="{2D82F829-178C-4DA7-A058-92868FE568F3}">
      <dgm:prSet/>
      <dgm:spPr/>
      <dgm:t>
        <a:bodyPr/>
        <a:lstStyle/>
        <a:p>
          <a:endParaRPr lang="en-US"/>
        </a:p>
      </dgm:t>
    </dgm:pt>
    <dgm:pt modelId="{7D62A883-0B47-4529-BC08-043213CD5FDC}" type="sibTrans" cxnId="{2D82F829-178C-4DA7-A058-92868FE568F3}">
      <dgm:prSet/>
      <dgm:spPr/>
      <dgm:t>
        <a:bodyPr/>
        <a:lstStyle/>
        <a:p>
          <a:endParaRPr lang="en-US"/>
        </a:p>
      </dgm:t>
    </dgm:pt>
    <dgm:pt modelId="{D8F09D88-F353-4089-94A9-BFDEC23892BE}">
      <dgm:prSet/>
      <dgm:spPr/>
      <dgm:t>
        <a:bodyPr/>
        <a:lstStyle/>
        <a:p>
          <a:r>
            <a:rPr lang="en-US"/>
            <a:t>An 8:1 return on investment</a:t>
          </a:r>
        </a:p>
      </dgm:t>
    </dgm:pt>
    <dgm:pt modelId="{D531156E-F32F-4286-9F09-C8D7F2F43FBF}" type="parTrans" cxnId="{C6B5FDE9-011C-46B5-AA3F-BE8414AB694A}">
      <dgm:prSet/>
      <dgm:spPr/>
      <dgm:t>
        <a:bodyPr/>
        <a:lstStyle/>
        <a:p>
          <a:endParaRPr lang="en-US"/>
        </a:p>
      </dgm:t>
    </dgm:pt>
    <dgm:pt modelId="{AAD18FF3-6E08-4260-B103-E1705DEEA82A}" type="sibTrans" cxnId="{C6B5FDE9-011C-46B5-AA3F-BE8414AB694A}">
      <dgm:prSet/>
      <dgm:spPr/>
      <dgm:t>
        <a:bodyPr/>
        <a:lstStyle/>
        <a:p>
          <a:endParaRPr lang="en-US"/>
        </a:p>
      </dgm:t>
    </dgm:pt>
    <dgm:pt modelId="{70B2A67C-93CD-4938-A4FB-181AEC0799DC}">
      <dgm:prSet/>
      <dgm:spPr/>
      <dgm:t>
        <a:bodyPr/>
        <a:lstStyle/>
        <a:p>
          <a:r>
            <a:rPr lang="en-US"/>
            <a:t>Even at the high end of monthly spend, the math works out decisively. And for non-developers who would otherwise need to hire a developer at $10,000 or more per month, paying a few hundred dollars in tool costs is transformative.</a:t>
          </a:r>
        </a:p>
      </dgm:t>
    </dgm:pt>
    <dgm:pt modelId="{AF0EF706-CA65-4D89-988E-BAEEB7F2CCDF}" type="parTrans" cxnId="{4E4C3A88-BEE6-410F-9325-2B8BEFFC2812}">
      <dgm:prSet/>
      <dgm:spPr/>
      <dgm:t>
        <a:bodyPr/>
        <a:lstStyle/>
        <a:p>
          <a:endParaRPr lang="en-US"/>
        </a:p>
      </dgm:t>
    </dgm:pt>
    <dgm:pt modelId="{3F3D3D51-8A47-47B0-A59F-855FF7359D99}" type="sibTrans" cxnId="{4E4C3A88-BEE6-410F-9325-2B8BEFFC2812}">
      <dgm:prSet/>
      <dgm:spPr/>
      <dgm:t>
        <a:bodyPr/>
        <a:lstStyle/>
        <a:p>
          <a:endParaRPr lang="en-US"/>
        </a:p>
      </dgm:t>
    </dgm:pt>
    <dgm:pt modelId="{CC6E8C60-4B2B-4F57-856A-83021D8C6EF5}">
      <dgm:prSet/>
      <dgm:spPr/>
      <dgm:t>
        <a:bodyPr/>
        <a:lstStyle/>
        <a:p>
          <a:r>
            <a:rPr lang="en-US"/>
            <a:t>The tokens aren’t cheap in absolute terms. But compared to the alternative, they’re a bargain.</a:t>
          </a:r>
        </a:p>
      </dgm:t>
    </dgm:pt>
    <dgm:pt modelId="{8D093D78-CA0F-4316-9EF0-4FE2054CD5FB}" type="parTrans" cxnId="{D5E1257D-0CC5-46C1-A1CE-87CEE95910B6}">
      <dgm:prSet/>
      <dgm:spPr/>
      <dgm:t>
        <a:bodyPr/>
        <a:lstStyle/>
        <a:p>
          <a:endParaRPr lang="en-US"/>
        </a:p>
      </dgm:t>
    </dgm:pt>
    <dgm:pt modelId="{0A95B948-14DA-446D-A749-14442C110183}" type="sibTrans" cxnId="{D5E1257D-0CC5-46C1-A1CE-87CEE95910B6}">
      <dgm:prSet/>
      <dgm:spPr/>
      <dgm:t>
        <a:bodyPr/>
        <a:lstStyle/>
        <a:p>
          <a:endParaRPr lang="en-US"/>
        </a:p>
      </dgm:t>
    </dgm:pt>
    <dgm:pt modelId="{DD6953B5-E0AD-4524-9352-D7CF65723AF6}" type="pres">
      <dgm:prSet presAssocID="{4C8E7941-4FDB-4F84-A902-C71320F06C12}" presName="root" presStyleCnt="0">
        <dgm:presLayoutVars>
          <dgm:dir/>
          <dgm:resizeHandles val="exact"/>
        </dgm:presLayoutVars>
      </dgm:prSet>
      <dgm:spPr/>
    </dgm:pt>
    <dgm:pt modelId="{2A693B86-2656-4D6A-BE29-62E967A4F6F6}" type="pres">
      <dgm:prSet presAssocID="{8C2E0FCF-3DD9-4991-AEE2-C11FCE1B6E4B}" presName="compNode" presStyleCnt="0"/>
      <dgm:spPr/>
    </dgm:pt>
    <dgm:pt modelId="{168B6FF9-BAE2-4963-8004-2C8A26021831}" type="pres">
      <dgm:prSet presAssocID="{8C2E0FCF-3DD9-4991-AEE2-C11FCE1B6E4B}" presName="bgRect" presStyleLbl="bgShp" presStyleIdx="0" presStyleCnt="3"/>
      <dgm:spPr/>
    </dgm:pt>
    <dgm:pt modelId="{070B641A-A470-447F-8667-821330647A46}" type="pres">
      <dgm:prSet presAssocID="{8C2E0FCF-3DD9-4991-AEE2-C11FCE1B6E4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eld"/>
        </a:ext>
      </dgm:extLst>
    </dgm:pt>
    <dgm:pt modelId="{F32D3EC9-2313-4DB7-A823-EC9134FA4D84}" type="pres">
      <dgm:prSet presAssocID="{8C2E0FCF-3DD9-4991-AEE2-C11FCE1B6E4B}" presName="spaceRect" presStyleCnt="0"/>
      <dgm:spPr/>
    </dgm:pt>
    <dgm:pt modelId="{568E9888-7E1B-4534-BAE4-235AC7584D42}" type="pres">
      <dgm:prSet presAssocID="{8C2E0FCF-3DD9-4991-AEE2-C11FCE1B6E4B}" presName="parTx" presStyleLbl="revTx" presStyleIdx="0" presStyleCnt="4">
        <dgm:presLayoutVars>
          <dgm:chMax val="0"/>
          <dgm:chPref val="0"/>
        </dgm:presLayoutVars>
      </dgm:prSet>
      <dgm:spPr/>
    </dgm:pt>
    <dgm:pt modelId="{377A66B9-1EAF-4062-8648-EF7E8BEFF22D}" type="pres">
      <dgm:prSet presAssocID="{8C2E0FCF-3DD9-4991-AEE2-C11FCE1B6E4B}" presName="desTx" presStyleLbl="revTx" presStyleIdx="1" presStyleCnt="4">
        <dgm:presLayoutVars/>
      </dgm:prSet>
      <dgm:spPr/>
    </dgm:pt>
    <dgm:pt modelId="{155BAACB-4CC4-4798-9A99-A3E9737AA65C}" type="pres">
      <dgm:prSet presAssocID="{A03490EE-EBEB-4D46-8948-F69BFEA38CF4}" presName="sibTrans" presStyleCnt="0"/>
      <dgm:spPr/>
    </dgm:pt>
    <dgm:pt modelId="{28B2F81D-72E2-4F71-93B4-CF8572EACC22}" type="pres">
      <dgm:prSet presAssocID="{70B2A67C-93CD-4938-A4FB-181AEC0799DC}" presName="compNode" presStyleCnt="0"/>
      <dgm:spPr/>
    </dgm:pt>
    <dgm:pt modelId="{5247E338-9197-4E2A-8AFF-7FF4125D70EC}" type="pres">
      <dgm:prSet presAssocID="{70B2A67C-93CD-4938-A4FB-181AEC0799DC}" presName="bgRect" presStyleLbl="bgShp" presStyleIdx="1" presStyleCnt="3"/>
      <dgm:spPr/>
    </dgm:pt>
    <dgm:pt modelId="{0D5EA3BF-2D2D-4B86-B424-123BD030B872}" type="pres">
      <dgm:prSet presAssocID="{70B2A67C-93CD-4938-A4FB-181AEC0799D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puhr"/>
        </a:ext>
      </dgm:extLst>
    </dgm:pt>
    <dgm:pt modelId="{8EBA00DC-8D79-4222-92CB-E732BB7C3ACB}" type="pres">
      <dgm:prSet presAssocID="{70B2A67C-93CD-4938-A4FB-181AEC0799DC}" presName="spaceRect" presStyleCnt="0"/>
      <dgm:spPr/>
    </dgm:pt>
    <dgm:pt modelId="{CB295E61-F483-45A2-82B6-75E5C3CF31F1}" type="pres">
      <dgm:prSet presAssocID="{70B2A67C-93CD-4938-A4FB-181AEC0799DC}" presName="parTx" presStyleLbl="revTx" presStyleIdx="2" presStyleCnt="4">
        <dgm:presLayoutVars>
          <dgm:chMax val="0"/>
          <dgm:chPref val="0"/>
        </dgm:presLayoutVars>
      </dgm:prSet>
      <dgm:spPr/>
    </dgm:pt>
    <dgm:pt modelId="{944A54B9-0346-4C31-A421-F025146526D8}" type="pres">
      <dgm:prSet presAssocID="{3F3D3D51-8A47-47B0-A59F-855FF7359D99}" presName="sibTrans" presStyleCnt="0"/>
      <dgm:spPr/>
    </dgm:pt>
    <dgm:pt modelId="{E215F8D1-7653-4224-98B3-BB231F1FD225}" type="pres">
      <dgm:prSet presAssocID="{CC6E8C60-4B2B-4F57-856A-83021D8C6EF5}" presName="compNode" presStyleCnt="0"/>
      <dgm:spPr/>
    </dgm:pt>
    <dgm:pt modelId="{CEE2EF2B-50F6-4D9A-A18D-C9FBFAFD101A}" type="pres">
      <dgm:prSet presAssocID="{CC6E8C60-4B2B-4F57-856A-83021D8C6EF5}" presName="bgRect" presStyleLbl="bgShp" presStyleIdx="2" presStyleCnt="3"/>
      <dgm:spPr/>
    </dgm:pt>
    <dgm:pt modelId="{0EEBE017-D34A-43FD-8E1C-429A554070E2}" type="pres">
      <dgm:prSet presAssocID="{CC6E8C60-4B2B-4F57-856A-83021D8C6EF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ünzen"/>
        </a:ext>
      </dgm:extLst>
    </dgm:pt>
    <dgm:pt modelId="{535DED97-5444-4ACE-9C3B-9F96125C2717}" type="pres">
      <dgm:prSet presAssocID="{CC6E8C60-4B2B-4F57-856A-83021D8C6EF5}" presName="spaceRect" presStyleCnt="0"/>
      <dgm:spPr/>
    </dgm:pt>
    <dgm:pt modelId="{99A40C54-250E-4B50-8F2F-C3EFA73C4BAD}" type="pres">
      <dgm:prSet presAssocID="{CC6E8C60-4B2B-4F57-856A-83021D8C6EF5}" presName="parTx" presStyleLbl="revTx" presStyleIdx="3" presStyleCnt="4">
        <dgm:presLayoutVars>
          <dgm:chMax val="0"/>
          <dgm:chPref val="0"/>
        </dgm:presLayoutVars>
      </dgm:prSet>
      <dgm:spPr/>
    </dgm:pt>
  </dgm:ptLst>
  <dgm:cxnLst>
    <dgm:cxn modelId="{6A05021F-9A09-4D1D-9391-6E21B0ABF816}" type="presOf" srcId="{4C8E7941-4FDB-4F84-A902-C71320F06C12}" destId="{DD6953B5-E0AD-4524-9352-D7CF65723AF6}" srcOrd="0" destOrd="0" presId="urn:microsoft.com/office/officeart/2018/2/layout/IconVerticalSolidList"/>
    <dgm:cxn modelId="{2D82F829-178C-4DA7-A058-92868FE568F3}" srcId="{8C2E0FCF-3DD9-4991-AEE2-C11FCE1B6E4B}" destId="{1B3AF8C2-E294-444B-868A-5BC540962DF5}" srcOrd="1" destOrd="0" parTransId="{B79E22ED-546F-4D13-B39A-0BA6A52F155E}" sibTransId="{7D62A883-0B47-4529-BC08-043213CD5FDC}"/>
    <dgm:cxn modelId="{BE65AF45-A019-4798-9EA1-7D93A184D578}" srcId="{4C8E7941-4FDB-4F84-A902-C71320F06C12}" destId="{8C2E0FCF-3DD9-4991-AEE2-C11FCE1B6E4B}" srcOrd="0" destOrd="0" parTransId="{42499D8E-1988-44CA-AC52-B5EBBC90B5ED}" sibTransId="{A03490EE-EBEB-4D46-8948-F69BFEA38CF4}"/>
    <dgm:cxn modelId="{ADEE886C-9326-4034-8DD2-59DD0D38589D}" type="presOf" srcId="{CC6E8C60-4B2B-4F57-856A-83021D8C6EF5}" destId="{99A40C54-250E-4B50-8F2F-C3EFA73C4BAD}" srcOrd="0" destOrd="0" presId="urn:microsoft.com/office/officeart/2018/2/layout/IconVerticalSolidList"/>
    <dgm:cxn modelId="{AC300653-7E37-4279-BEEF-C43A1617F983}" type="presOf" srcId="{A5F23434-35F0-4524-9C44-905FDC40C655}" destId="{377A66B9-1EAF-4062-8648-EF7E8BEFF22D}" srcOrd="0" destOrd="0" presId="urn:microsoft.com/office/officeart/2018/2/layout/IconVerticalSolidList"/>
    <dgm:cxn modelId="{62742377-E14D-4F48-99B2-899B4F924E97}" srcId="{8C2E0FCF-3DD9-4991-AEE2-C11FCE1B6E4B}" destId="{A5F23434-35F0-4524-9C44-905FDC40C655}" srcOrd="0" destOrd="0" parTransId="{81D4D7D3-5012-44DD-A707-AA75C313F1C4}" sibTransId="{94A4DAD2-C92D-40CA-B231-FBCA00896A9B}"/>
    <dgm:cxn modelId="{4BC7FA78-54B3-44B8-B329-F591D4917AFD}" type="presOf" srcId="{1B3AF8C2-E294-444B-868A-5BC540962DF5}" destId="{377A66B9-1EAF-4062-8648-EF7E8BEFF22D}" srcOrd="0" destOrd="1" presId="urn:microsoft.com/office/officeart/2018/2/layout/IconVerticalSolidList"/>
    <dgm:cxn modelId="{D5E1257D-0CC5-46C1-A1CE-87CEE95910B6}" srcId="{4C8E7941-4FDB-4F84-A902-C71320F06C12}" destId="{CC6E8C60-4B2B-4F57-856A-83021D8C6EF5}" srcOrd="2" destOrd="0" parTransId="{8D093D78-CA0F-4316-9EF0-4FE2054CD5FB}" sibTransId="{0A95B948-14DA-446D-A749-14442C110183}"/>
    <dgm:cxn modelId="{4E4C3A88-BEE6-410F-9325-2B8BEFFC2812}" srcId="{4C8E7941-4FDB-4F84-A902-C71320F06C12}" destId="{70B2A67C-93CD-4938-A4FB-181AEC0799DC}" srcOrd="1" destOrd="0" parTransId="{AF0EF706-CA65-4D89-988E-BAEEB7F2CCDF}" sibTransId="{3F3D3D51-8A47-47B0-A59F-855FF7359D99}"/>
    <dgm:cxn modelId="{595F96CC-9651-47C4-A8A4-243A4C8AC1D4}" type="presOf" srcId="{D8F09D88-F353-4089-94A9-BFDEC23892BE}" destId="{377A66B9-1EAF-4062-8648-EF7E8BEFF22D}" srcOrd="0" destOrd="2" presId="urn:microsoft.com/office/officeart/2018/2/layout/IconVerticalSolidList"/>
    <dgm:cxn modelId="{3CD454DC-26BA-4A53-B2E3-D441744C66EA}" type="presOf" srcId="{8C2E0FCF-3DD9-4991-AEE2-C11FCE1B6E4B}" destId="{568E9888-7E1B-4534-BAE4-235AC7584D42}" srcOrd="0" destOrd="0" presId="urn:microsoft.com/office/officeart/2018/2/layout/IconVerticalSolidList"/>
    <dgm:cxn modelId="{C6B5FDE9-011C-46B5-AA3F-BE8414AB694A}" srcId="{8C2E0FCF-3DD9-4991-AEE2-C11FCE1B6E4B}" destId="{D8F09D88-F353-4089-94A9-BFDEC23892BE}" srcOrd="2" destOrd="0" parTransId="{D531156E-F32F-4286-9F09-C8D7F2F43FBF}" sibTransId="{AAD18FF3-6E08-4260-B103-E1705DEEA82A}"/>
    <dgm:cxn modelId="{55C3DCF5-98C2-41EE-BE28-20F88C831582}" type="presOf" srcId="{70B2A67C-93CD-4938-A4FB-181AEC0799DC}" destId="{CB295E61-F483-45A2-82B6-75E5C3CF31F1}" srcOrd="0" destOrd="0" presId="urn:microsoft.com/office/officeart/2018/2/layout/IconVerticalSolidList"/>
    <dgm:cxn modelId="{B7683D41-CDD5-4D25-A28C-E9708EB14C75}" type="presParOf" srcId="{DD6953B5-E0AD-4524-9352-D7CF65723AF6}" destId="{2A693B86-2656-4D6A-BE29-62E967A4F6F6}" srcOrd="0" destOrd="0" presId="urn:microsoft.com/office/officeart/2018/2/layout/IconVerticalSolidList"/>
    <dgm:cxn modelId="{776F0D0A-9238-4A70-9284-2C6600CAF498}" type="presParOf" srcId="{2A693B86-2656-4D6A-BE29-62E967A4F6F6}" destId="{168B6FF9-BAE2-4963-8004-2C8A26021831}" srcOrd="0" destOrd="0" presId="urn:microsoft.com/office/officeart/2018/2/layout/IconVerticalSolidList"/>
    <dgm:cxn modelId="{96F12CBC-6CFB-459B-BC8F-923ED6D53014}" type="presParOf" srcId="{2A693B86-2656-4D6A-BE29-62E967A4F6F6}" destId="{070B641A-A470-447F-8667-821330647A46}" srcOrd="1" destOrd="0" presId="urn:microsoft.com/office/officeart/2018/2/layout/IconVerticalSolidList"/>
    <dgm:cxn modelId="{87FCD5BC-AB35-4EE4-8689-B8D22F9D0A71}" type="presParOf" srcId="{2A693B86-2656-4D6A-BE29-62E967A4F6F6}" destId="{F32D3EC9-2313-4DB7-A823-EC9134FA4D84}" srcOrd="2" destOrd="0" presId="urn:microsoft.com/office/officeart/2018/2/layout/IconVerticalSolidList"/>
    <dgm:cxn modelId="{15DD2C5E-059A-4A0E-890B-95A0AF116FC1}" type="presParOf" srcId="{2A693B86-2656-4D6A-BE29-62E967A4F6F6}" destId="{568E9888-7E1B-4534-BAE4-235AC7584D42}" srcOrd="3" destOrd="0" presId="urn:microsoft.com/office/officeart/2018/2/layout/IconVerticalSolidList"/>
    <dgm:cxn modelId="{B79F26C1-9EBC-4EF7-997D-46582EAF09AA}" type="presParOf" srcId="{2A693B86-2656-4D6A-BE29-62E967A4F6F6}" destId="{377A66B9-1EAF-4062-8648-EF7E8BEFF22D}" srcOrd="4" destOrd="0" presId="urn:microsoft.com/office/officeart/2018/2/layout/IconVerticalSolidList"/>
    <dgm:cxn modelId="{79EA9C6E-134B-449A-945E-1A0D84588B42}" type="presParOf" srcId="{DD6953B5-E0AD-4524-9352-D7CF65723AF6}" destId="{155BAACB-4CC4-4798-9A99-A3E9737AA65C}" srcOrd="1" destOrd="0" presId="urn:microsoft.com/office/officeart/2018/2/layout/IconVerticalSolidList"/>
    <dgm:cxn modelId="{4A8C1BA8-8A67-41E0-802A-42D9255EA43B}" type="presParOf" srcId="{DD6953B5-E0AD-4524-9352-D7CF65723AF6}" destId="{28B2F81D-72E2-4F71-93B4-CF8572EACC22}" srcOrd="2" destOrd="0" presId="urn:microsoft.com/office/officeart/2018/2/layout/IconVerticalSolidList"/>
    <dgm:cxn modelId="{3F06EE82-F653-48F2-AFCA-01249CD7B243}" type="presParOf" srcId="{28B2F81D-72E2-4F71-93B4-CF8572EACC22}" destId="{5247E338-9197-4E2A-8AFF-7FF4125D70EC}" srcOrd="0" destOrd="0" presId="urn:microsoft.com/office/officeart/2018/2/layout/IconVerticalSolidList"/>
    <dgm:cxn modelId="{EF426090-B662-45D7-87B8-C0507ECF9269}" type="presParOf" srcId="{28B2F81D-72E2-4F71-93B4-CF8572EACC22}" destId="{0D5EA3BF-2D2D-4B86-B424-123BD030B872}" srcOrd="1" destOrd="0" presId="urn:microsoft.com/office/officeart/2018/2/layout/IconVerticalSolidList"/>
    <dgm:cxn modelId="{30B6F105-1636-43F5-A5E0-4355B1E9DB59}" type="presParOf" srcId="{28B2F81D-72E2-4F71-93B4-CF8572EACC22}" destId="{8EBA00DC-8D79-4222-92CB-E732BB7C3ACB}" srcOrd="2" destOrd="0" presId="urn:microsoft.com/office/officeart/2018/2/layout/IconVerticalSolidList"/>
    <dgm:cxn modelId="{20F07579-5F8E-481F-91C6-E1ACC080712B}" type="presParOf" srcId="{28B2F81D-72E2-4F71-93B4-CF8572EACC22}" destId="{CB295E61-F483-45A2-82B6-75E5C3CF31F1}" srcOrd="3" destOrd="0" presId="urn:microsoft.com/office/officeart/2018/2/layout/IconVerticalSolidList"/>
    <dgm:cxn modelId="{B3871137-A68B-4534-B08F-D1CFD0B705A7}" type="presParOf" srcId="{DD6953B5-E0AD-4524-9352-D7CF65723AF6}" destId="{944A54B9-0346-4C31-A421-F025146526D8}" srcOrd="3" destOrd="0" presId="urn:microsoft.com/office/officeart/2018/2/layout/IconVerticalSolidList"/>
    <dgm:cxn modelId="{8D9DC7F7-7C5D-46D4-99B4-4A5B26824CF3}" type="presParOf" srcId="{DD6953B5-E0AD-4524-9352-D7CF65723AF6}" destId="{E215F8D1-7653-4224-98B3-BB231F1FD225}" srcOrd="4" destOrd="0" presId="urn:microsoft.com/office/officeart/2018/2/layout/IconVerticalSolidList"/>
    <dgm:cxn modelId="{76D10CD9-7B83-4B4F-8DB2-5C9960BEC90F}" type="presParOf" srcId="{E215F8D1-7653-4224-98B3-BB231F1FD225}" destId="{CEE2EF2B-50F6-4D9A-A18D-C9FBFAFD101A}" srcOrd="0" destOrd="0" presId="urn:microsoft.com/office/officeart/2018/2/layout/IconVerticalSolidList"/>
    <dgm:cxn modelId="{D1B7E219-287E-4FAC-B64C-8B492F944C4C}" type="presParOf" srcId="{E215F8D1-7653-4224-98B3-BB231F1FD225}" destId="{0EEBE017-D34A-43FD-8E1C-429A554070E2}" srcOrd="1" destOrd="0" presId="urn:microsoft.com/office/officeart/2018/2/layout/IconVerticalSolidList"/>
    <dgm:cxn modelId="{DCEFA03E-041A-47DE-A06E-DC89F9EE4F32}" type="presParOf" srcId="{E215F8D1-7653-4224-98B3-BB231F1FD225}" destId="{535DED97-5444-4ACE-9C3B-9F96125C2717}" srcOrd="2" destOrd="0" presId="urn:microsoft.com/office/officeart/2018/2/layout/IconVerticalSolidList"/>
    <dgm:cxn modelId="{04C5D0A5-3E4D-4A6E-B2EB-B6F6AD56E7A0}" type="presParOf" srcId="{E215F8D1-7653-4224-98B3-BB231F1FD225}" destId="{99A40C54-250E-4B50-8F2F-C3EFA73C4BA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9A1A1F-C9A0-46C8-B284-7E6C9DEE5A4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96C6621-BC31-403B-8357-5D54E52DF658}">
      <dgm:prSet/>
      <dgm:spPr/>
      <dgm:t>
        <a:bodyPr/>
        <a:lstStyle/>
        <a:p>
          <a:pPr>
            <a:lnSpc>
              <a:spcPct val="100000"/>
            </a:lnSpc>
          </a:pPr>
          <a:r>
            <a:rPr lang="en-US"/>
            <a:t>The ecosystem is moving fast. By the time you read this, some of these tools will have merged, pivoted, or been replaced by something better. That’s the point: the barrier to building software keeps dropping.</a:t>
          </a:r>
        </a:p>
      </dgm:t>
    </dgm:pt>
    <dgm:pt modelId="{7CF0889A-BC1B-4560-9C3D-1BC611BEEA5B}" type="parTrans" cxnId="{AB52995A-E0DA-4943-918F-9BD8ACC26786}">
      <dgm:prSet/>
      <dgm:spPr/>
      <dgm:t>
        <a:bodyPr/>
        <a:lstStyle/>
        <a:p>
          <a:endParaRPr lang="en-US"/>
        </a:p>
      </dgm:t>
    </dgm:pt>
    <dgm:pt modelId="{64D3F9C8-C64E-4F72-9870-DD205A4815A5}" type="sibTrans" cxnId="{AB52995A-E0DA-4943-918F-9BD8ACC26786}">
      <dgm:prSet/>
      <dgm:spPr/>
      <dgm:t>
        <a:bodyPr/>
        <a:lstStyle/>
        <a:p>
          <a:endParaRPr lang="en-US"/>
        </a:p>
      </dgm:t>
    </dgm:pt>
    <dgm:pt modelId="{40B8D923-9643-4D8B-ABE9-50302499E762}">
      <dgm:prSet/>
      <dgm:spPr/>
      <dgm:t>
        <a:bodyPr/>
        <a:lstStyle/>
        <a:p>
          <a:pPr>
            <a:lnSpc>
              <a:spcPct val="100000"/>
            </a:lnSpc>
          </a:pPr>
          <a:r>
            <a:rPr lang="en-US"/>
            <a:t>The best tool is the one that gets you from idea to working product fastest.</a:t>
          </a:r>
        </a:p>
      </dgm:t>
    </dgm:pt>
    <dgm:pt modelId="{58F722BA-0AA8-41F9-BC90-C8D5886398BF}" type="parTrans" cxnId="{86029AD4-982D-4B79-B6CB-2C7B192C8F49}">
      <dgm:prSet/>
      <dgm:spPr/>
      <dgm:t>
        <a:bodyPr/>
        <a:lstStyle/>
        <a:p>
          <a:endParaRPr lang="en-US"/>
        </a:p>
      </dgm:t>
    </dgm:pt>
    <dgm:pt modelId="{DA70E130-6EE7-4EDA-A7F2-68126283B946}" type="sibTrans" cxnId="{86029AD4-982D-4B79-B6CB-2C7B192C8F49}">
      <dgm:prSet/>
      <dgm:spPr/>
      <dgm:t>
        <a:bodyPr/>
        <a:lstStyle/>
        <a:p>
          <a:endParaRPr lang="en-US"/>
        </a:p>
      </dgm:t>
    </dgm:pt>
    <dgm:pt modelId="{DEE7BDC0-BC12-4695-82D1-6E76187646C1}" type="pres">
      <dgm:prSet presAssocID="{5D9A1A1F-C9A0-46C8-B284-7E6C9DEE5A47}" presName="root" presStyleCnt="0">
        <dgm:presLayoutVars>
          <dgm:dir/>
          <dgm:resizeHandles val="exact"/>
        </dgm:presLayoutVars>
      </dgm:prSet>
      <dgm:spPr/>
    </dgm:pt>
    <dgm:pt modelId="{F3833731-AACD-425A-8DC4-0122A11334D5}" type="pres">
      <dgm:prSet presAssocID="{596C6621-BC31-403B-8357-5D54E52DF658}" presName="compNode" presStyleCnt="0"/>
      <dgm:spPr/>
    </dgm:pt>
    <dgm:pt modelId="{B74EA9E0-2DC9-4E47-8FDD-DBF613DBBD4F}" type="pres">
      <dgm:prSet presAssocID="{596C6621-BC31-403B-8357-5D54E52DF658}" presName="bgRect" presStyleLbl="bgShp" presStyleIdx="0" presStyleCnt="2"/>
      <dgm:spPr/>
    </dgm:pt>
    <dgm:pt modelId="{4F4D43A4-86AC-47CB-8C95-DAFCA8FE61CC}" type="pres">
      <dgm:prSet presAssocID="{596C6621-BC31-403B-8357-5D54E52DF658}"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uzzle"/>
        </a:ext>
      </dgm:extLst>
    </dgm:pt>
    <dgm:pt modelId="{3B7A69BF-9A2D-44B7-AA1F-CD209DC54E71}" type="pres">
      <dgm:prSet presAssocID="{596C6621-BC31-403B-8357-5D54E52DF658}" presName="spaceRect" presStyleCnt="0"/>
      <dgm:spPr/>
    </dgm:pt>
    <dgm:pt modelId="{746D0031-A7EF-4348-99A2-16F9EBD0E65D}" type="pres">
      <dgm:prSet presAssocID="{596C6621-BC31-403B-8357-5D54E52DF658}" presName="parTx" presStyleLbl="revTx" presStyleIdx="0" presStyleCnt="2">
        <dgm:presLayoutVars>
          <dgm:chMax val="0"/>
          <dgm:chPref val="0"/>
        </dgm:presLayoutVars>
      </dgm:prSet>
      <dgm:spPr/>
    </dgm:pt>
    <dgm:pt modelId="{2DA077D9-0BD2-4586-B9C5-06350557FF89}" type="pres">
      <dgm:prSet presAssocID="{64D3F9C8-C64E-4F72-9870-DD205A4815A5}" presName="sibTrans" presStyleCnt="0"/>
      <dgm:spPr/>
    </dgm:pt>
    <dgm:pt modelId="{691F73AB-3E3B-4165-A946-413474366CD0}" type="pres">
      <dgm:prSet presAssocID="{40B8D923-9643-4D8B-ABE9-50302499E762}" presName="compNode" presStyleCnt="0"/>
      <dgm:spPr/>
    </dgm:pt>
    <dgm:pt modelId="{4B7DEB9D-60FF-48B2-B7E6-513AA87E5A08}" type="pres">
      <dgm:prSet presAssocID="{40B8D923-9643-4D8B-ABE9-50302499E762}" presName="bgRect" presStyleLbl="bgShp" presStyleIdx="1" presStyleCnt="2"/>
      <dgm:spPr/>
    </dgm:pt>
    <dgm:pt modelId="{DAF1B8C3-3F5B-4E57-B534-D3B06F5DB9EB}" type="pres">
      <dgm:prSet presAssocID="{40B8D923-9643-4D8B-ABE9-50302499E762}"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aw blade"/>
        </a:ext>
      </dgm:extLst>
    </dgm:pt>
    <dgm:pt modelId="{65F1B45F-0F90-479D-B6EF-62682C29CE80}" type="pres">
      <dgm:prSet presAssocID="{40B8D923-9643-4D8B-ABE9-50302499E762}" presName="spaceRect" presStyleCnt="0"/>
      <dgm:spPr/>
    </dgm:pt>
    <dgm:pt modelId="{B1CBF112-A46C-45E5-9F63-F6A6B7FFC2BC}" type="pres">
      <dgm:prSet presAssocID="{40B8D923-9643-4D8B-ABE9-50302499E762}" presName="parTx" presStyleLbl="revTx" presStyleIdx="1" presStyleCnt="2">
        <dgm:presLayoutVars>
          <dgm:chMax val="0"/>
          <dgm:chPref val="0"/>
        </dgm:presLayoutVars>
      </dgm:prSet>
      <dgm:spPr/>
    </dgm:pt>
  </dgm:ptLst>
  <dgm:cxnLst>
    <dgm:cxn modelId="{A91C030A-43B2-4C4C-923C-137BADE872BB}" type="presOf" srcId="{5D9A1A1F-C9A0-46C8-B284-7E6C9DEE5A47}" destId="{DEE7BDC0-BC12-4695-82D1-6E76187646C1}" srcOrd="0" destOrd="0" presId="urn:microsoft.com/office/officeart/2018/2/layout/IconVerticalSolidList"/>
    <dgm:cxn modelId="{AB52995A-E0DA-4943-918F-9BD8ACC26786}" srcId="{5D9A1A1F-C9A0-46C8-B284-7E6C9DEE5A47}" destId="{596C6621-BC31-403B-8357-5D54E52DF658}" srcOrd="0" destOrd="0" parTransId="{7CF0889A-BC1B-4560-9C3D-1BC611BEEA5B}" sibTransId="{64D3F9C8-C64E-4F72-9870-DD205A4815A5}"/>
    <dgm:cxn modelId="{F0357AC4-FE5C-44CF-ADDF-413CCA89FF55}" type="presOf" srcId="{40B8D923-9643-4D8B-ABE9-50302499E762}" destId="{B1CBF112-A46C-45E5-9F63-F6A6B7FFC2BC}" srcOrd="0" destOrd="0" presId="urn:microsoft.com/office/officeart/2018/2/layout/IconVerticalSolidList"/>
    <dgm:cxn modelId="{86029AD4-982D-4B79-B6CB-2C7B192C8F49}" srcId="{5D9A1A1F-C9A0-46C8-B284-7E6C9DEE5A47}" destId="{40B8D923-9643-4D8B-ABE9-50302499E762}" srcOrd="1" destOrd="0" parTransId="{58F722BA-0AA8-41F9-BC90-C8D5886398BF}" sibTransId="{DA70E130-6EE7-4EDA-A7F2-68126283B946}"/>
    <dgm:cxn modelId="{0D1635D7-62D5-4E9E-A77D-BFBE393F1437}" type="presOf" srcId="{596C6621-BC31-403B-8357-5D54E52DF658}" destId="{746D0031-A7EF-4348-99A2-16F9EBD0E65D}" srcOrd="0" destOrd="0" presId="urn:microsoft.com/office/officeart/2018/2/layout/IconVerticalSolidList"/>
    <dgm:cxn modelId="{28E62BB7-3A9B-49C0-A296-0CB7CECBB40B}" type="presParOf" srcId="{DEE7BDC0-BC12-4695-82D1-6E76187646C1}" destId="{F3833731-AACD-425A-8DC4-0122A11334D5}" srcOrd="0" destOrd="0" presId="urn:microsoft.com/office/officeart/2018/2/layout/IconVerticalSolidList"/>
    <dgm:cxn modelId="{AC71EF29-09F7-48C4-AC40-B46BBB5D0419}" type="presParOf" srcId="{F3833731-AACD-425A-8DC4-0122A11334D5}" destId="{B74EA9E0-2DC9-4E47-8FDD-DBF613DBBD4F}" srcOrd="0" destOrd="0" presId="urn:microsoft.com/office/officeart/2018/2/layout/IconVerticalSolidList"/>
    <dgm:cxn modelId="{50CCBF25-29A5-42B0-9928-3D5FA22FFC8A}" type="presParOf" srcId="{F3833731-AACD-425A-8DC4-0122A11334D5}" destId="{4F4D43A4-86AC-47CB-8C95-DAFCA8FE61CC}" srcOrd="1" destOrd="0" presId="urn:microsoft.com/office/officeart/2018/2/layout/IconVerticalSolidList"/>
    <dgm:cxn modelId="{849068E9-4BCF-468F-AD9B-0415F418BA66}" type="presParOf" srcId="{F3833731-AACD-425A-8DC4-0122A11334D5}" destId="{3B7A69BF-9A2D-44B7-AA1F-CD209DC54E71}" srcOrd="2" destOrd="0" presId="urn:microsoft.com/office/officeart/2018/2/layout/IconVerticalSolidList"/>
    <dgm:cxn modelId="{CB8B40B0-6057-44C4-A3B5-A35DC7482DE2}" type="presParOf" srcId="{F3833731-AACD-425A-8DC4-0122A11334D5}" destId="{746D0031-A7EF-4348-99A2-16F9EBD0E65D}" srcOrd="3" destOrd="0" presId="urn:microsoft.com/office/officeart/2018/2/layout/IconVerticalSolidList"/>
    <dgm:cxn modelId="{FC6C3203-CDD0-474C-8DC9-44B3070C9E5D}" type="presParOf" srcId="{DEE7BDC0-BC12-4695-82D1-6E76187646C1}" destId="{2DA077D9-0BD2-4586-B9C5-06350557FF89}" srcOrd="1" destOrd="0" presId="urn:microsoft.com/office/officeart/2018/2/layout/IconVerticalSolidList"/>
    <dgm:cxn modelId="{F90D6800-A87A-4EC7-BC66-D1429580E9DC}" type="presParOf" srcId="{DEE7BDC0-BC12-4695-82D1-6E76187646C1}" destId="{691F73AB-3E3B-4165-A946-413474366CD0}" srcOrd="2" destOrd="0" presId="urn:microsoft.com/office/officeart/2018/2/layout/IconVerticalSolidList"/>
    <dgm:cxn modelId="{6A161B4A-7E94-43D3-AC26-28FF0A26D525}" type="presParOf" srcId="{691F73AB-3E3B-4165-A946-413474366CD0}" destId="{4B7DEB9D-60FF-48B2-B7E6-513AA87E5A08}" srcOrd="0" destOrd="0" presId="urn:microsoft.com/office/officeart/2018/2/layout/IconVerticalSolidList"/>
    <dgm:cxn modelId="{1F1E39DC-9F8F-4D60-ABA0-A01438DFF2A7}" type="presParOf" srcId="{691F73AB-3E3B-4165-A946-413474366CD0}" destId="{DAF1B8C3-3F5B-4E57-B534-D3B06F5DB9EB}" srcOrd="1" destOrd="0" presId="urn:microsoft.com/office/officeart/2018/2/layout/IconVerticalSolidList"/>
    <dgm:cxn modelId="{9DA9565A-2878-4E4F-ADEF-5321903B43B9}" type="presParOf" srcId="{691F73AB-3E3B-4165-A946-413474366CD0}" destId="{65F1B45F-0F90-479D-B6EF-62682C29CE80}" srcOrd="2" destOrd="0" presId="urn:microsoft.com/office/officeart/2018/2/layout/IconVerticalSolidList"/>
    <dgm:cxn modelId="{1CEBB90F-B559-4115-AD25-DB003A4F6AEF}" type="presParOf" srcId="{691F73AB-3E3B-4165-A946-413474366CD0}" destId="{B1CBF112-A46C-45E5-9F63-F6A6B7FFC2B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87E1E2-A96E-4BC5-9D84-750807E57C3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CBD30E1-1B1D-417E-83A0-625B7321863B}">
      <dgm:prSet/>
      <dgm:spPr/>
      <dgm:t>
        <a:bodyPr/>
        <a:lstStyle/>
        <a:p>
          <a:r>
            <a:rPr lang="en-US"/>
            <a:t>AI is both the problem and part of the solution. It introduces vulnerabilities faster than humans, but AI-powered scanners can also review code at machine speed and catch bugs people miss.</a:t>
          </a:r>
        </a:p>
      </dgm:t>
    </dgm:pt>
    <dgm:pt modelId="{69621F77-D93C-4A4A-A6CF-2E3E8786E8F1}" type="parTrans" cxnId="{FD5FD9F3-E072-46E3-B4E7-59F2C51A7049}">
      <dgm:prSet/>
      <dgm:spPr/>
      <dgm:t>
        <a:bodyPr/>
        <a:lstStyle/>
        <a:p>
          <a:endParaRPr lang="en-US"/>
        </a:p>
      </dgm:t>
    </dgm:pt>
    <dgm:pt modelId="{A0E2BB74-AB14-40A0-8412-A5202AEABA83}" type="sibTrans" cxnId="{FD5FD9F3-E072-46E3-B4E7-59F2C51A7049}">
      <dgm:prSet/>
      <dgm:spPr/>
      <dgm:t>
        <a:bodyPr/>
        <a:lstStyle/>
        <a:p>
          <a:endParaRPr lang="en-US"/>
        </a:p>
      </dgm:t>
    </dgm:pt>
    <dgm:pt modelId="{628FD996-62D9-44A7-A975-03B2A61BFC90}">
      <dgm:prSet/>
      <dgm:spPr/>
      <dgm:t>
        <a:bodyPr/>
        <a:lstStyle/>
        <a:p>
          <a:r>
            <a:rPr lang="en-US"/>
            <a:t>The future of secure vibe coding is not human or AI. It’s both layers working together.</a:t>
          </a:r>
        </a:p>
      </dgm:t>
    </dgm:pt>
    <dgm:pt modelId="{56F8E973-730F-490E-8CB3-15ACD67FF3ED}" type="parTrans" cxnId="{76863F40-5FCF-46DE-9CB4-DF1D95CCBEA2}">
      <dgm:prSet/>
      <dgm:spPr/>
      <dgm:t>
        <a:bodyPr/>
        <a:lstStyle/>
        <a:p>
          <a:endParaRPr lang="en-US"/>
        </a:p>
      </dgm:t>
    </dgm:pt>
    <dgm:pt modelId="{F379F88C-ECE1-43F3-BCFE-4FE0E33210A2}" type="sibTrans" cxnId="{76863F40-5FCF-46DE-9CB4-DF1D95CCBEA2}">
      <dgm:prSet/>
      <dgm:spPr/>
      <dgm:t>
        <a:bodyPr/>
        <a:lstStyle/>
        <a:p>
          <a:endParaRPr lang="en-US"/>
        </a:p>
      </dgm:t>
    </dgm:pt>
    <dgm:pt modelId="{6A264092-0D92-446F-9933-215112369753}" type="pres">
      <dgm:prSet presAssocID="{DD87E1E2-A96E-4BC5-9D84-750807E57C35}" presName="root" presStyleCnt="0">
        <dgm:presLayoutVars>
          <dgm:dir/>
          <dgm:resizeHandles val="exact"/>
        </dgm:presLayoutVars>
      </dgm:prSet>
      <dgm:spPr/>
    </dgm:pt>
    <dgm:pt modelId="{4EACE88F-D725-44C2-838C-3ACCD2EC3174}" type="pres">
      <dgm:prSet presAssocID="{BCBD30E1-1B1D-417E-83A0-625B7321863B}" presName="compNode" presStyleCnt="0"/>
      <dgm:spPr/>
    </dgm:pt>
    <dgm:pt modelId="{ACDD613F-918A-4319-B3DE-C1B06DB26B97}" type="pres">
      <dgm:prSet presAssocID="{BCBD30E1-1B1D-417E-83A0-625B7321863B}" presName="bgRect" presStyleLbl="bgShp" presStyleIdx="0" presStyleCnt="2"/>
      <dgm:spPr/>
    </dgm:pt>
    <dgm:pt modelId="{92F56796-E9A5-4864-A45B-8172F034CFFD}" type="pres">
      <dgm:prSet presAssocID="{BCBD30E1-1B1D-417E-83A0-625B7321863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4E83C8E6-0302-45BE-A08F-BB89B05A16AA}" type="pres">
      <dgm:prSet presAssocID="{BCBD30E1-1B1D-417E-83A0-625B7321863B}" presName="spaceRect" presStyleCnt="0"/>
      <dgm:spPr/>
    </dgm:pt>
    <dgm:pt modelId="{B3155534-9652-43F0-AC0C-634F10E589AC}" type="pres">
      <dgm:prSet presAssocID="{BCBD30E1-1B1D-417E-83A0-625B7321863B}" presName="parTx" presStyleLbl="revTx" presStyleIdx="0" presStyleCnt="2">
        <dgm:presLayoutVars>
          <dgm:chMax val="0"/>
          <dgm:chPref val="0"/>
        </dgm:presLayoutVars>
      </dgm:prSet>
      <dgm:spPr/>
    </dgm:pt>
    <dgm:pt modelId="{238C6C3A-BEFA-4756-8B14-44A31150A5FE}" type="pres">
      <dgm:prSet presAssocID="{A0E2BB74-AB14-40A0-8412-A5202AEABA83}" presName="sibTrans" presStyleCnt="0"/>
      <dgm:spPr/>
    </dgm:pt>
    <dgm:pt modelId="{A24CE8AE-169D-4CFE-AFFC-8EFB371034A2}" type="pres">
      <dgm:prSet presAssocID="{628FD996-62D9-44A7-A975-03B2A61BFC90}" presName="compNode" presStyleCnt="0"/>
      <dgm:spPr/>
    </dgm:pt>
    <dgm:pt modelId="{81994F95-16B3-4D7B-9BEB-30DD92C9171C}" type="pres">
      <dgm:prSet presAssocID="{628FD996-62D9-44A7-A975-03B2A61BFC90}" presName="bgRect" presStyleLbl="bgShp" presStyleIdx="1" presStyleCnt="2"/>
      <dgm:spPr/>
    </dgm:pt>
    <dgm:pt modelId="{82D4FE4D-7354-4CFB-AFF1-46FBDD32E59E}" type="pres">
      <dgm:prSet presAssocID="{628FD996-62D9-44A7-A975-03B2A61BFC9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er"/>
        </a:ext>
      </dgm:extLst>
    </dgm:pt>
    <dgm:pt modelId="{06CBACB8-8079-4607-BE34-1AB7909481CA}" type="pres">
      <dgm:prSet presAssocID="{628FD996-62D9-44A7-A975-03B2A61BFC90}" presName="spaceRect" presStyleCnt="0"/>
      <dgm:spPr/>
    </dgm:pt>
    <dgm:pt modelId="{96B89D83-7ECD-4832-93A9-32AFDE2EBB06}" type="pres">
      <dgm:prSet presAssocID="{628FD996-62D9-44A7-A975-03B2A61BFC90}" presName="parTx" presStyleLbl="revTx" presStyleIdx="1" presStyleCnt="2">
        <dgm:presLayoutVars>
          <dgm:chMax val="0"/>
          <dgm:chPref val="0"/>
        </dgm:presLayoutVars>
      </dgm:prSet>
      <dgm:spPr/>
    </dgm:pt>
  </dgm:ptLst>
  <dgm:cxnLst>
    <dgm:cxn modelId="{76863F40-5FCF-46DE-9CB4-DF1D95CCBEA2}" srcId="{DD87E1E2-A96E-4BC5-9D84-750807E57C35}" destId="{628FD996-62D9-44A7-A975-03B2A61BFC90}" srcOrd="1" destOrd="0" parTransId="{56F8E973-730F-490E-8CB3-15ACD67FF3ED}" sibTransId="{F379F88C-ECE1-43F3-BCFE-4FE0E33210A2}"/>
    <dgm:cxn modelId="{119FA0EA-EBC6-443D-A010-B286E197D90E}" type="presOf" srcId="{DD87E1E2-A96E-4BC5-9D84-750807E57C35}" destId="{6A264092-0D92-446F-9933-215112369753}" srcOrd="0" destOrd="0" presId="urn:microsoft.com/office/officeart/2018/2/layout/IconVerticalSolidList"/>
    <dgm:cxn modelId="{E16E6FF3-C372-40FD-B16E-9B7F16612149}" type="presOf" srcId="{BCBD30E1-1B1D-417E-83A0-625B7321863B}" destId="{B3155534-9652-43F0-AC0C-634F10E589AC}" srcOrd="0" destOrd="0" presId="urn:microsoft.com/office/officeart/2018/2/layout/IconVerticalSolidList"/>
    <dgm:cxn modelId="{FD5FD9F3-E072-46E3-B4E7-59F2C51A7049}" srcId="{DD87E1E2-A96E-4BC5-9D84-750807E57C35}" destId="{BCBD30E1-1B1D-417E-83A0-625B7321863B}" srcOrd="0" destOrd="0" parTransId="{69621F77-D93C-4A4A-A6CF-2E3E8786E8F1}" sibTransId="{A0E2BB74-AB14-40A0-8412-A5202AEABA83}"/>
    <dgm:cxn modelId="{447960F8-8CDE-4EA1-B1D0-C19463B63E90}" type="presOf" srcId="{628FD996-62D9-44A7-A975-03B2A61BFC90}" destId="{96B89D83-7ECD-4832-93A9-32AFDE2EBB06}" srcOrd="0" destOrd="0" presId="urn:microsoft.com/office/officeart/2018/2/layout/IconVerticalSolidList"/>
    <dgm:cxn modelId="{F0717B77-F330-4937-AF69-770F779A6812}" type="presParOf" srcId="{6A264092-0D92-446F-9933-215112369753}" destId="{4EACE88F-D725-44C2-838C-3ACCD2EC3174}" srcOrd="0" destOrd="0" presId="urn:microsoft.com/office/officeart/2018/2/layout/IconVerticalSolidList"/>
    <dgm:cxn modelId="{5F3675E8-1B3A-472F-92AF-A7AD8BB29F72}" type="presParOf" srcId="{4EACE88F-D725-44C2-838C-3ACCD2EC3174}" destId="{ACDD613F-918A-4319-B3DE-C1B06DB26B97}" srcOrd="0" destOrd="0" presId="urn:microsoft.com/office/officeart/2018/2/layout/IconVerticalSolidList"/>
    <dgm:cxn modelId="{68EA1DDA-47F1-42DA-8224-93EE90949487}" type="presParOf" srcId="{4EACE88F-D725-44C2-838C-3ACCD2EC3174}" destId="{92F56796-E9A5-4864-A45B-8172F034CFFD}" srcOrd="1" destOrd="0" presId="urn:microsoft.com/office/officeart/2018/2/layout/IconVerticalSolidList"/>
    <dgm:cxn modelId="{83A690FC-4F5F-4A68-8375-C8ABE2ECDD2F}" type="presParOf" srcId="{4EACE88F-D725-44C2-838C-3ACCD2EC3174}" destId="{4E83C8E6-0302-45BE-A08F-BB89B05A16AA}" srcOrd="2" destOrd="0" presId="urn:microsoft.com/office/officeart/2018/2/layout/IconVerticalSolidList"/>
    <dgm:cxn modelId="{70BFFFAC-BEEE-4667-B72F-5EA2C6084DA8}" type="presParOf" srcId="{4EACE88F-D725-44C2-838C-3ACCD2EC3174}" destId="{B3155534-9652-43F0-AC0C-634F10E589AC}" srcOrd="3" destOrd="0" presId="urn:microsoft.com/office/officeart/2018/2/layout/IconVerticalSolidList"/>
    <dgm:cxn modelId="{0557078C-C440-4AFA-8217-D5D9B9BAAAD9}" type="presParOf" srcId="{6A264092-0D92-446F-9933-215112369753}" destId="{238C6C3A-BEFA-4756-8B14-44A31150A5FE}" srcOrd="1" destOrd="0" presId="urn:microsoft.com/office/officeart/2018/2/layout/IconVerticalSolidList"/>
    <dgm:cxn modelId="{5F1550C3-D51C-473B-833A-A60FBE7A9F06}" type="presParOf" srcId="{6A264092-0D92-446F-9933-215112369753}" destId="{A24CE8AE-169D-4CFE-AFFC-8EFB371034A2}" srcOrd="2" destOrd="0" presId="urn:microsoft.com/office/officeart/2018/2/layout/IconVerticalSolidList"/>
    <dgm:cxn modelId="{F7ECF64D-D560-4EA8-9721-406419D2B2C6}" type="presParOf" srcId="{A24CE8AE-169D-4CFE-AFFC-8EFB371034A2}" destId="{81994F95-16B3-4D7B-9BEB-30DD92C9171C}" srcOrd="0" destOrd="0" presId="urn:microsoft.com/office/officeart/2018/2/layout/IconVerticalSolidList"/>
    <dgm:cxn modelId="{439751F1-A16C-445C-B032-E60315AF36C6}" type="presParOf" srcId="{A24CE8AE-169D-4CFE-AFFC-8EFB371034A2}" destId="{82D4FE4D-7354-4CFB-AFF1-46FBDD32E59E}" srcOrd="1" destOrd="0" presId="urn:microsoft.com/office/officeart/2018/2/layout/IconVerticalSolidList"/>
    <dgm:cxn modelId="{48564418-B209-4595-A8B1-834FCDF67220}" type="presParOf" srcId="{A24CE8AE-169D-4CFE-AFFC-8EFB371034A2}" destId="{06CBACB8-8079-4607-BE34-1AB7909481CA}" srcOrd="2" destOrd="0" presId="urn:microsoft.com/office/officeart/2018/2/layout/IconVerticalSolidList"/>
    <dgm:cxn modelId="{EAE32A23-3CD9-45AE-9ACE-6539B085F75B}" type="presParOf" srcId="{A24CE8AE-169D-4CFE-AFFC-8EFB371034A2}" destId="{96B89D83-7ECD-4832-93A9-32AFDE2EBB0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51B7860-A4D4-4A9B-913D-E5ACCC0652EF}"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2DDDFCF-AAC4-46E3-A6AC-AC62A1272E24}">
      <dgm:prSet/>
      <dgm:spPr/>
      <dgm:t>
        <a:bodyPr/>
        <a:lstStyle/>
        <a:p>
          <a:r>
            <a:rPr lang="en-US"/>
            <a:t>The joke goes that the “S” in vibe coding stands for security. It’s funny because, too often, it’s true.</a:t>
          </a:r>
        </a:p>
      </dgm:t>
    </dgm:pt>
    <dgm:pt modelId="{63371128-D4EE-45C4-BD4E-7F259E49B2D7}" type="parTrans" cxnId="{3571A186-23A7-4B5A-BD3D-EEA02242DAA6}">
      <dgm:prSet/>
      <dgm:spPr/>
      <dgm:t>
        <a:bodyPr/>
        <a:lstStyle/>
        <a:p>
          <a:endParaRPr lang="en-US"/>
        </a:p>
      </dgm:t>
    </dgm:pt>
    <dgm:pt modelId="{1BD0CD38-2BB7-4FEC-BE36-86FF67BC5265}" type="sibTrans" cxnId="{3571A186-23A7-4B5A-BD3D-EEA02242DAA6}">
      <dgm:prSet/>
      <dgm:spPr/>
      <dgm:t>
        <a:bodyPr/>
        <a:lstStyle/>
        <a:p>
          <a:endParaRPr lang="en-US"/>
        </a:p>
      </dgm:t>
    </dgm:pt>
    <dgm:pt modelId="{0558A25D-09C6-44AD-8571-DAB70556FDB1}">
      <dgm:prSet/>
      <dgm:spPr/>
      <dgm:t>
        <a:bodyPr/>
        <a:lstStyle/>
        <a:p>
          <a:r>
            <a:rPr lang="en-US"/>
            <a:t>The gap isn’t only in the tooling anymore. It’s in the habits. Build fast, but build like someone’s trying to break in, because they are.</a:t>
          </a:r>
        </a:p>
      </dgm:t>
    </dgm:pt>
    <dgm:pt modelId="{F59CF4E0-7FB5-44AD-AB98-2354B6C4AB0E}" type="parTrans" cxnId="{85A9CF1B-A316-4389-BF8E-829AC3E589B2}">
      <dgm:prSet/>
      <dgm:spPr/>
      <dgm:t>
        <a:bodyPr/>
        <a:lstStyle/>
        <a:p>
          <a:endParaRPr lang="en-US"/>
        </a:p>
      </dgm:t>
    </dgm:pt>
    <dgm:pt modelId="{6F65307D-818E-4B79-8E3A-1257A51809F7}" type="sibTrans" cxnId="{85A9CF1B-A316-4389-BF8E-829AC3E589B2}">
      <dgm:prSet/>
      <dgm:spPr/>
      <dgm:t>
        <a:bodyPr/>
        <a:lstStyle/>
        <a:p>
          <a:endParaRPr lang="en-US"/>
        </a:p>
      </dgm:t>
    </dgm:pt>
    <dgm:pt modelId="{9D39F794-68BC-4BE2-B729-6977A724D324}" type="pres">
      <dgm:prSet presAssocID="{551B7860-A4D4-4A9B-913D-E5ACCC0652EF}" presName="root" presStyleCnt="0">
        <dgm:presLayoutVars>
          <dgm:dir/>
          <dgm:resizeHandles val="exact"/>
        </dgm:presLayoutVars>
      </dgm:prSet>
      <dgm:spPr/>
    </dgm:pt>
    <dgm:pt modelId="{471A2DD0-4827-4C9C-B2F6-7C258D6CFE14}" type="pres">
      <dgm:prSet presAssocID="{B2DDDFCF-AAC4-46E3-A6AC-AC62A1272E24}" presName="compNode" presStyleCnt="0"/>
      <dgm:spPr/>
    </dgm:pt>
    <dgm:pt modelId="{4A38F852-4E09-41E9-B312-74F453DD6656}" type="pres">
      <dgm:prSet presAssocID="{B2DDDFCF-AAC4-46E3-A6AC-AC62A1272E24}" presName="bgRect" presStyleLbl="bgShp" presStyleIdx="0" presStyleCnt="2"/>
      <dgm:spPr/>
    </dgm:pt>
    <dgm:pt modelId="{54E33F67-8E8C-4D91-906A-6C783FC5F7AF}" type="pres">
      <dgm:prSet presAssocID="{B2DDDFCF-AAC4-46E3-A6AC-AC62A1272E2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Joker Hat"/>
        </a:ext>
      </dgm:extLst>
    </dgm:pt>
    <dgm:pt modelId="{BBB563DA-DFC5-481C-9438-8DB18F479CAF}" type="pres">
      <dgm:prSet presAssocID="{B2DDDFCF-AAC4-46E3-A6AC-AC62A1272E24}" presName="spaceRect" presStyleCnt="0"/>
      <dgm:spPr/>
    </dgm:pt>
    <dgm:pt modelId="{D1F4779F-F242-4960-8BA4-33A559631620}" type="pres">
      <dgm:prSet presAssocID="{B2DDDFCF-AAC4-46E3-A6AC-AC62A1272E24}" presName="parTx" presStyleLbl="revTx" presStyleIdx="0" presStyleCnt="2">
        <dgm:presLayoutVars>
          <dgm:chMax val="0"/>
          <dgm:chPref val="0"/>
        </dgm:presLayoutVars>
      </dgm:prSet>
      <dgm:spPr/>
    </dgm:pt>
    <dgm:pt modelId="{E4FBD555-6F4A-4702-A834-6B19BC9B3C33}" type="pres">
      <dgm:prSet presAssocID="{1BD0CD38-2BB7-4FEC-BE36-86FF67BC5265}" presName="sibTrans" presStyleCnt="0"/>
      <dgm:spPr/>
    </dgm:pt>
    <dgm:pt modelId="{14DF284B-21BD-4209-8D60-6E43B9E0AA22}" type="pres">
      <dgm:prSet presAssocID="{0558A25D-09C6-44AD-8571-DAB70556FDB1}" presName="compNode" presStyleCnt="0"/>
      <dgm:spPr/>
    </dgm:pt>
    <dgm:pt modelId="{39BCD241-7E65-4C57-A616-6FCBCC6BA10F}" type="pres">
      <dgm:prSet presAssocID="{0558A25D-09C6-44AD-8571-DAB70556FDB1}" presName="bgRect" presStyleLbl="bgShp" presStyleIdx="1" presStyleCnt="2"/>
      <dgm:spPr/>
    </dgm:pt>
    <dgm:pt modelId="{6A59800F-7948-4B10-A7AC-F8DAE4E816E4}" type="pres">
      <dgm:prSet presAssocID="{0558A25D-09C6-44AD-8571-DAB70556FDB1}"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aw blade"/>
        </a:ext>
      </dgm:extLst>
    </dgm:pt>
    <dgm:pt modelId="{37B86033-353F-4CEB-90DD-31155C12AAD5}" type="pres">
      <dgm:prSet presAssocID="{0558A25D-09C6-44AD-8571-DAB70556FDB1}" presName="spaceRect" presStyleCnt="0"/>
      <dgm:spPr/>
    </dgm:pt>
    <dgm:pt modelId="{3E2EFC5B-3194-4F93-811B-252CF011B940}" type="pres">
      <dgm:prSet presAssocID="{0558A25D-09C6-44AD-8571-DAB70556FDB1}" presName="parTx" presStyleLbl="revTx" presStyleIdx="1" presStyleCnt="2">
        <dgm:presLayoutVars>
          <dgm:chMax val="0"/>
          <dgm:chPref val="0"/>
        </dgm:presLayoutVars>
      </dgm:prSet>
      <dgm:spPr/>
    </dgm:pt>
  </dgm:ptLst>
  <dgm:cxnLst>
    <dgm:cxn modelId="{85A9CF1B-A316-4389-BF8E-829AC3E589B2}" srcId="{551B7860-A4D4-4A9B-913D-E5ACCC0652EF}" destId="{0558A25D-09C6-44AD-8571-DAB70556FDB1}" srcOrd="1" destOrd="0" parTransId="{F59CF4E0-7FB5-44AD-AB98-2354B6C4AB0E}" sibTransId="{6F65307D-818E-4B79-8E3A-1257A51809F7}"/>
    <dgm:cxn modelId="{91350D2E-A832-4EDA-9E9D-0E33B26CD7E6}" type="presOf" srcId="{B2DDDFCF-AAC4-46E3-A6AC-AC62A1272E24}" destId="{D1F4779F-F242-4960-8BA4-33A559631620}" srcOrd="0" destOrd="0" presId="urn:microsoft.com/office/officeart/2018/2/layout/IconVerticalSolidList"/>
    <dgm:cxn modelId="{B3366C54-F388-4972-9910-09ABCDE26B5A}" type="presOf" srcId="{0558A25D-09C6-44AD-8571-DAB70556FDB1}" destId="{3E2EFC5B-3194-4F93-811B-252CF011B940}" srcOrd="0" destOrd="0" presId="urn:microsoft.com/office/officeart/2018/2/layout/IconVerticalSolidList"/>
    <dgm:cxn modelId="{3571A186-23A7-4B5A-BD3D-EEA02242DAA6}" srcId="{551B7860-A4D4-4A9B-913D-E5ACCC0652EF}" destId="{B2DDDFCF-AAC4-46E3-A6AC-AC62A1272E24}" srcOrd="0" destOrd="0" parTransId="{63371128-D4EE-45C4-BD4E-7F259E49B2D7}" sibTransId="{1BD0CD38-2BB7-4FEC-BE36-86FF67BC5265}"/>
    <dgm:cxn modelId="{6F06DDA1-8235-4CA7-BFBE-9CCA5B8B20DD}" type="presOf" srcId="{551B7860-A4D4-4A9B-913D-E5ACCC0652EF}" destId="{9D39F794-68BC-4BE2-B729-6977A724D324}" srcOrd="0" destOrd="0" presId="urn:microsoft.com/office/officeart/2018/2/layout/IconVerticalSolidList"/>
    <dgm:cxn modelId="{DA741B8F-0E22-4126-BF01-C60497778182}" type="presParOf" srcId="{9D39F794-68BC-4BE2-B729-6977A724D324}" destId="{471A2DD0-4827-4C9C-B2F6-7C258D6CFE14}" srcOrd="0" destOrd="0" presId="urn:microsoft.com/office/officeart/2018/2/layout/IconVerticalSolidList"/>
    <dgm:cxn modelId="{13BEDD4F-7819-4FEF-929E-D814716DF41C}" type="presParOf" srcId="{471A2DD0-4827-4C9C-B2F6-7C258D6CFE14}" destId="{4A38F852-4E09-41E9-B312-74F453DD6656}" srcOrd="0" destOrd="0" presId="urn:microsoft.com/office/officeart/2018/2/layout/IconVerticalSolidList"/>
    <dgm:cxn modelId="{BC529C3F-7732-4EFE-A1BF-9B8E60BA7848}" type="presParOf" srcId="{471A2DD0-4827-4C9C-B2F6-7C258D6CFE14}" destId="{54E33F67-8E8C-4D91-906A-6C783FC5F7AF}" srcOrd="1" destOrd="0" presId="urn:microsoft.com/office/officeart/2018/2/layout/IconVerticalSolidList"/>
    <dgm:cxn modelId="{9FE37959-6DE6-471C-9DF0-373F3B5A6439}" type="presParOf" srcId="{471A2DD0-4827-4C9C-B2F6-7C258D6CFE14}" destId="{BBB563DA-DFC5-481C-9438-8DB18F479CAF}" srcOrd="2" destOrd="0" presId="urn:microsoft.com/office/officeart/2018/2/layout/IconVerticalSolidList"/>
    <dgm:cxn modelId="{09E2FDB9-D24E-4A56-A2F2-65379ACD09B9}" type="presParOf" srcId="{471A2DD0-4827-4C9C-B2F6-7C258D6CFE14}" destId="{D1F4779F-F242-4960-8BA4-33A559631620}" srcOrd="3" destOrd="0" presId="urn:microsoft.com/office/officeart/2018/2/layout/IconVerticalSolidList"/>
    <dgm:cxn modelId="{F138F2C0-D6F6-443A-987E-7D698628746B}" type="presParOf" srcId="{9D39F794-68BC-4BE2-B729-6977A724D324}" destId="{E4FBD555-6F4A-4702-A834-6B19BC9B3C33}" srcOrd="1" destOrd="0" presId="urn:microsoft.com/office/officeart/2018/2/layout/IconVerticalSolidList"/>
    <dgm:cxn modelId="{51E42CB6-7626-43E5-93A0-C8ECE056C35B}" type="presParOf" srcId="{9D39F794-68BC-4BE2-B729-6977A724D324}" destId="{14DF284B-21BD-4209-8D60-6E43B9E0AA22}" srcOrd="2" destOrd="0" presId="urn:microsoft.com/office/officeart/2018/2/layout/IconVerticalSolidList"/>
    <dgm:cxn modelId="{EADC5F78-D3A9-43A4-A638-C45527345E2D}" type="presParOf" srcId="{14DF284B-21BD-4209-8D60-6E43B9E0AA22}" destId="{39BCD241-7E65-4C57-A616-6FCBCC6BA10F}" srcOrd="0" destOrd="0" presId="urn:microsoft.com/office/officeart/2018/2/layout/IconVerticalSolidList"/>
    <dgm:cxn modelId="{14CB961F-1808-4BA2-B6DB-B8EF378051F7}" type="presParOf" srcId="{14DF284B-21BD-4209-8D60-6E43B9E0AA22}" destId="{6A59800F-7948-4B10-A7AC-F8DAE4E816E4}" srcOrd="1" destOrd="0" presId="urn:microsoft.com/office/officeart/2018/2/layout/IconVerticalSolidList"/>
    <dgm:cxn modelId="{02C0EFBE-2448-4AF7-B0EC-CBC8A9450534}" type="presParOf" srcId="{14DF284B-21BD-4209-8D60-6E43B9E0AA22}" destId="{37B86033-353F-4CEB-90DD-31155C12AAD5}" srcOrd="2" destOrd="0" presId="urn:microsoft.com/office/officeart/2018/2/layout/IconVerticalSolidList"/>
    <dgm:cxn modelId="{7142E8F2-4D53-4349-9C1F-3741C05160F5}" type="presParOf" srcId="{14DF284B-21BD-4209-8D60-6E43B9E0AA22}" destId="{3E2EFC5B-3194-4F93-811B-252CF011B94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8F4340-47AD-4245-8ACA-18FB7B1790C5}">
      <dsp:nvSpPr>
        <dsp:cNvPr id="0" name=""/>
        <dsp:cNvSpPr/>
      </dsp:nvSpPr>
      <dsp:spPr>
        <a:xfrm>
          <a:off x="901252" y="1003630"/>
          <a:ext cx="716623" cy="71"/>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9B530FA-FD35-4712-B9E6-17165CC4D6D2}">
      <dsp:nvSpPr>
        <dsp:cNvPr id="0" name=""/>
        <dsp:cNvSpPr/>
      </dsp:nvSpPr>
      <dsp:spPr>
        <a:xfrm>
          <a:off x="1660873" y="943410"/>
          <a:ext cx="82411" cy="154940"/>
        </a:xfrm>
        <a:prstGeom prst="chevron">
          <a:avLst>
            <a:gd name="adj" fmla="val 9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6A01A14-6A13-4B41-A216-17BCF8ABD776}">
      <dsp:nvSpPr>
        <dsp:cNvPr id="0" name=""/>
        <dsp:cNvSpPr/>
      </dsp:nvSpPr>
      <dsp:spPr>
        <a:xfrm>
          <a:off x="464080" y="656071"/>
          <a:ext cx="695188" cy="69518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977" tIns="26977" rIns="26977" bIns="26977" numCol="1" spcCol="1270" anchor="ctr" anchorCtr="0">
          <a:noAutofit/>
        </a:bodyPr>
        <a:lstStyle/>
        <a:p>
          <a:pPr marL="0" lvl="0" indent="0" algn="ctr" defTabSz="1377950">
            <a:lnSpc>
              <a:spcPct val="90000"/>
            </a:lnSpc>
            <a:spcBef>
              <a:spcPct val="0"/>
            </a:spcBef>
            <a:spcAft>
              <a:spcPct val="35000"/>
            </a:spcAft>
            <a:buNone/>
          </a:pPr>
          <a:r>
            <a:rPr lang="en-US" sz="3100" kern="1200"/>
            <a:t>1</a:t>
          </a:r>
        </a:p>
      </dsp:txBody>
      <dsp:txXfrm>
        <a:off x="565888" y="757879"/>
        <a:ext cx="491572" cy="491572"/>
      </dsp:txXfrm>
    </dsp:sp>
    <dsp:sp modelId="{D7EE4265-B935-444B-83CE-0EC289FD4211}">
      <dsp:nvSpPr>
        <dsp:cNvPr id="0" name=""/>
        <dsp:cNvSpPr/>
      </dsp:nvSpPr>
      <dsp:spPr>
        <a:xfrm>
          <a:off x="5473" y="1516859"/>
          <a:ext cx="1612402" cy="282555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7188" tIns="165100" rIns="127188" bIns="165100" numCol="1" spcCol="1270" anchor="t" anchorCtr="0">
          <a:noAutofit/>
        </a:bodyPr>
        <a:lstStyle/>
        <a:p>
          <a:pPr marL="0" lvl="0" indent="0" algn="l" defTabSz="488950">
            <a:lnSpc>
              <a:spcPct val="90000"/>
            </a:lnSpc>
            <a:spcBef>
              <a:spcPct val="0"/>
            </a:spcBef>
            <a:spcAft>
              <a:spcPct val="35000"/>
            </a:spcAft>
            <a:buNone/>
          </a:pPr>
          <a:r>
            <a:rPr lang="en-US" sz="1100" kern="1200" dirty="0"/>
            <a:t>For decades, building software required a specific skill: writing code. You needed to learn programming languages, understand data structures, memorize syntax, and spend years practicing before you could turn an idea into a working application. That barrier is now collapsing.</a:t>
          </a:r>
        </a:p>
      </dsp:txBody>
      <dsp:txXfrm>
        <a:off x="5473" y="1839339"/>
        <a:ext cx="1612402" cy="2503070"/>
      </dsp:txXfrm>
    </dsp:sp>
    <dsp:sp modelId="{DBCF780A-6713-4AC9-BE69-5E81E2D354E2}">
      <dsp:nvSpPr>
        <dsp:cNvPr id="0" name=""/>
        <dsp:cNvSpPr/>
      </dsp:nvSpPr>
      <dsp:spPr>
        <a:xfrm>
          <a:off x="1797031" y="1003629"/>
          <a:ext cx="1612402" cy="71"/>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720D765-454A-4A3C-BF42-3B269143195F}">
      <dsp:nvSpPr>
        <dsp:cNvPr id="0" name=""/>
        <dsp:cNvSpPr/>
      </dsp:nvSpPr>
      <dsp:spPr>
        <a:xfrm>
          <a:off x="3452432" y="943410"/>
          <a:ext cx="82411" cy="154941"/>
        </a:xfrm>
        <a:prstGeom prst="chevron">
          <a:avLst>
            <a:gd name="adj" fmla="val 9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1421C18-289C-42A7-8FFB-1735AD52F082}">
      <dsp:nvSpPr>
        <dsp:cNvPr id="0" name=""/>
        <dsp:cNvSpPr/>
      </dsp:nvSpPr>
      <dsp:spPr>
        <a:xfrm>
          <a:off x="2255638" y="656071"/>
          <a:ext cx="695188" cy="69518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977" tIns="26977" rIns="26977" bIns="26977" numCol="1" spcCol="1270" anchor="ctr" anchorCtr="0">
          <a:noAutofit/>
        </a:bodyPr>
        <a:lstStyle/>
        <a:p>
          <a:pPr marL="0" lvl="0" indent="0" algn="ctr" defTabSz="1377950">
            <a:lnSpc>
              <a:spcPct val="90000"/>
            </a:lnSpc>
            <a:spcBef>
              <a:spcPct val="0"/>
            </a:spcBef>
            <a:spcAft>
              <a:spcPct val="35000"/>
            </a:spcAft>
            <a:buNone/>
          </a:pPr>
          <a:r>
            <a:rPr lang="en-US" sz="3100" kern="1200"/>
            <a:t>2</a:t>
          </a:r>
        </a:p>
      </dsp:txBody>
      <dsp:txXfrm>
        <a:off x="2357446" y="757879"/>
        <a:ext cx="491572" cy="491572"/>
      </dsp:txXfrm>
    </dsp:sp>
    <dsp:sp modelId="{93814436-A04B-42B5-9FF3-C7B958BB8982}">
      <dsp:nvSpPr>
        <dsp:cNvPr id="0" name=""/>
        <dsp:cNvSpPr/>
      </dsp:nvSpPr>
      <dsp:spPr>
        <a:xfrm>
          <a:off x="1797031" y="1516859"/>
          <a:ext cx="1612402" cy="282555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7188" tIns="165100" rIns="127188" bIns="165100" numCol="1" spcCol="1270" anchor="t" anchorCtr="0">
          <a:noAutofit/>
        </a:bodyPr>
        <a:lstStyle/>
        <a:p>
          <a:pPr marL="0" lvl="0" indent="0" algn="l" defTabSz="488950">
            <a:lnSpc>
              <a:spcPct val="90000"/>
            </a:lnSpc>
            <a:spcBef>
              <a:spcPct val="0"/>
            </a:spcBef>
            <a:spcAft>
              <a:spcPct val="35000"/>
            </a:spcAft>
            <a:buNone/>
          </a:pPr>
          <a:r>
            <a:rPr lang="en-US" sz="1100" kern="1200"/>
            <a:t>A new way of building software has emerged. Instead of writing code line by line, you describe what you want in plain English, and an AI builds it for you. You iterate by talking, not typing semicolons. You focus on what you want, not how to implement it. This approach has a name: vibe coding.</a:t>
          </a:r>
        </a:p>
      </dsp:txBody>
      <dsp:txXfrm>
        <a:off x="1797031" y="1839339"/>
        <a:ext cx="1612402" cy="2503070"/>
      </dsp:txXfrm>
    </dsp:sp>
    <dsp:sp modelId="{A012F465-9AC9-452F-ADC6-2B4DECA25D2A}">
      <dsp:nvSpPr>
        <dsp:cNvPr id="0" name=""/>
        <dsp:cNvSpPr/>
      </dsp:nvSpPr>
      <dsp:spPr>
        <a:xfrm>
          <a:off x="3588590" y="1003629"/>
          <a:ext cx="1612402" cy="7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7235D39-8A9F-4FC0-9775-951C8AE394B7}">
      <dsp:nvSpPr>
        <dsp:cNvPr id="0" name=""/>
        <dsp:cNvSpPr/>
      </dsp:nvSpPr>
      <dsp:spPr>
        <a:xfrm>
          <a:off x="5243990" y="943410"/>
          <a:ext cx="82411" cy="154941"/>
        </a:xfrm>
        <a:prstGeom prst="chevron">
          <a:avLst>
            <a:gd name="adj" fmla="val 9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9E88625-2E0B-4C13-84AA-78255A7FACEB}">
      <dsp:nvSpPr>
        <dsp:cNvPr id="0" name=""/>
        <dsp:cNvSpPr/>
      </dsp:nvSpPr>
      <dsp:spPr>
        <a:xfrm>
          <a:off x="4047197" y="656071"/>
          <a:ext cx="695188" cy="69518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977" tIns="26977" rIns="26977" bIns="26977" numCol="1" spcCol="1270" anchor="ctr" anchorCtr="0">
          <a:noAutofit/>
        </a:bodyPr>
        <a:lstStyle/>
        <a:p>
          <a:pPr marL="0" lvl="0" indent="0" algn="ctr" defTabSz="1377950">
            <a:lnSpc>
              <a:spcPct val="90000"/>
            </a:lnSpc>
            <a:spcBef>
              <a:spcPct val="0"/>
            </a:spcBef>
            <a:spcAft>
              <a:spcPct val="35000"/>
            </a:spcAft>
            <a:buNone/>
          </a:pPr>
          <a:r>
            <a:rPr lang="en-US" sz="3100" kern="1200"/>
            <a:t>3</a:t>
          </a:r>
        </a:p>
      </dsp:txBody>
      <dsp:txXfrm>
        <a:off x="4149005" y="757879"/>
        <a:ext cx="491572" cy="491572"/>
      </dsp:txXfrm>
    </dsp:sp>
    <dsp:sp modelId="{93F36C96-2A82-4EE2-B3B2-12501C55F5A4}">
      <dsp:nvSpPr>
        <dsp:cNvPr id="0" name=""/>
        <dsp:cNvSpPr/>
      </dsp:nvSpPr>
      <dsp:spPr>
        <a:xfrm>
          <a:off x="3588590" y="1516859"/>
          <a:ext cx="1612402" cy="282555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7188" tIns="165100" rIns="127188" bIns="165100" numCol="1" spcCol="1270" anchor="t" anchorCtr="0">
          <a:noAutofit/>
        </a:bodyPr>
        <a:lstStyle/>
        <a:p>
          <a:pPr marL="0" lvl="0" indent="0" algn="l" defTabSz="488950">
            <a:lnSpc>
              <a:spcPct val="90000"/>
            </a:lnSpc>
            <a:spcBef>
              <a:spcPct val="0"/>
            </a:spcBef>
            <a:spcAft>
              <a:spcPct val="35000"/>
            </a:spcAft>
            <a:buNone/>
          </a:pPr>
          <a:r>
            <a:rPr lang="en-US" sz="1100" kern="1200"/>
            <a:t>The term might sound casual, but the implications are serious. Software already touches every part of modern life: how we communicate, shop, learn, work, and get healthcare. If the cost and difficulty of creating software drops by an order of magnitude, it changes who can build, what gets built, and how fast the world moves.</a:t>
          </a:r>
        </a:p>
      </dsp:txBody>
      <dsp:txXfrm>
        <a:off x="3588590" y="1839339"/>
        <a:ext cx="1612402" cy="2503070"/>
      </dsp:txXfrm>
    </dsp:sp>
    <dsp:sp modelId="{B91ABCB3-12DC-40D2-BFAC-CE5FEBA0DEE2}">
      <dsp:nvSpPr>
        <dsp:cNvPr id="0" name=""/>
        <dsp:cNvSpPr/>
      </dsp:nvSpPr>
      <dsp:spPr>
        <a:xfrm>
          <a:off x="5380149" y="1003629"/>
          <a:ext cx="1612402" cy="7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6817747-B552-46F6-9134-DE5D4B8CB960}">
      <dsp:nvSpPr>
        <dsp:cNvPr id="0" name=""/>
        <dsp:cNvSpPr/>
      </dsp:nvSpPr>
      <dsp:spPr>
        <a:xfrm>
          <a:off x="7035549" y="943410"/>
          <a:ext cx="82411" cy="154941"/>
        </a:xfrm>
        <a:prstGeom prst="chevron">
          <a:avLst>
            <a:gd name="adj" fmla="val 9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5B9AE1C-2550-44E6-8A84-0644C040D897}">
      <dsp:nvSpPr>
        <dsp:cNvPr id="0" name=""/>
        <dsp:cNvSpPr/>
      </dsp:nvSpPr>
      <dsp:spPr>
        <a:xfrm>
          <a:off x="5838756" y="656071"/>
          <a:ext cx="695188" cy="69518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977" tIns="26977" rIns="26977" bIns="26977" numCol="1" spcCol="1270" anchor="ctr" anchorCtr="0">
          <a:noAutofit/>
        </a:bodyPr>
        <a:lstStyle/>
        <a:p>
          <a:pPr marL="0" lvl="0" indent="0" algn="ctr" defTabSz="1377950">
            <a:lnSpc>
              <a:spcPct val="90000"/>
            </a:lnSpc>
            <a:spcBef>
              <a:spcPct val="0"/>
            </a:spcBef>
            <a:spcAft>
              <a:spcPct val="35000"/>
            </a:spcAft>
            <a:buNone/>
          </a:pPr>
          <a:r>
            <a:rPr lang="en-US" sz="3100" kern="1200"/>
            <a:t>4</a:t>
          </a:r>
        </a:p>
      </dsp:txBody>
      <dsp:txXfrm>
        <a:off x="5940564" y="757879"/>
        <a:ext cx="491572" cy="491572"/>
      </dsp:txXfrm>
    </dsp:sp>
    <dsp:sp modelId="{A7403252-1E4A-4955-A592-63F41D6C2446}">
      <dsp:nvSpPr>
        <dsp:cNvPr id="0" name=""/>
        <dsp:cNvSpPr/>
      </dsp:nvSpPr>
      <dsp:spPr>
        <a:xfrm>
          <a:off x="5380149" y="1516859"/>
          <a:ext cx="1612402" cy="282555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7188" tIns="165100" rIns="127188" bIns="165100" numCol="1" spcCol="1270" anchor="t" anchorCtr="0">
          <a:noAutofit/>
        </a:bodyPr>
        <a:lstStyle/>
        <a:p>
          <a:pPr marL="0" lvl="0" indent="0" algn="l" defTabSz="488950">
            <a:lnSpc>
              <a:spcPct val="90000"/>
            </a:lnSpc>
            <a:spcBef>
              <a:spcPct val="0"/>
            </a:spcBef>
            <a:spcAft>
              <a:spcPct val="35000"/>
            </a:spcAft>
            <a:buNone/>
          </a:pPr>
          <a:r>
            <a:rPr lang="en-US" sz="1100" kern="1200"/>
            <a:t>This matters whether you’re a seasoned developer, a business owner with an app idea, a student, or someone who’s never written a line of code. The tools that make vibe coding possible are available right now, and they’re getting better every month.</a:t>
          </a:r>
        </a:p>
      </dsp:txBody>
      <dsp:txXfrm>
        <a:off x="5380149" y="1839339"/>
        <a:ext cx="1612402" cy="2503070"/>
      </dsp:txXfrm>
    </dsp:sp>
    <dsp:sp modelId="{2B2814F5-EA83-47B5-BFAB-F6AEF01FC435}">
      <dsp:nvSpPr>
        <dsp:cNvPr id="0" name=""/>
        <dsp:cNvSpPr/>
      </dsp:nvSpPr>
      <dsp:spPr>
        <a:xfrm>
          <a:off x="7171708" y="1003629"/>
          <a:ext cx="806201" cy="7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F135441-5E46-4CE6-9F2C-398CA5DD1AF0}">
      <dsp:nvSpPr>
        <dsp:cNvPr id="0" name=""/>
        <dsp:cNvSpPr/>
      </dsp:nvSpPr>
      <dsp:spPr>
        <a:xfrm>
          <a:off x="7630315" y="656071"/>
          <a:ext cx="695188" cy="69518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26977" tIns="26977" rIns="26977" bIns="26977" numCol="1" spcCol="1270" anchor="ctr" anchorCtr="0">
          <a:noAutofit/>
        </a:bodyPr>
        <a:lstStyle/>
        <a:p>
          <a:pPr marL="0" lvl="0" indent="0" algn="ctr" defTabSz="1377950">
            <a:lnSpc>
              <a:spcPct val="90000"/>
            </a:lnSpc>
            <a:spcBef>
              <a:spcPct val="0"/>
            </a:spcBef>
            <a:spcAft>
              <a:spcPct val="35000"/>
            </a:spcAft>
            <a:buNone/>
          </a:pPr>
          <a:r>
            <a:rPr lang="en-US" sz="3100" kern="1200"/>
            <a:t>5</a:t>
          </a:r>
        </a:p>
      </dsp:txBody>
      <dsp:txXfrm>
        <a:off x="7732123" y="757879"/>
        <a:ext cx="491572" cy="491572"/>
      </dsp:txXfrm>
    </dsp:sp>
    <dsp:sp modelId="{8AC0CB27-6394-4E8E-B579-43B1915C66E5}">
      <dsp:nvSpPr>
        <dsp:cNvPr id="0" name=""/>
        <dsp:cNvSpPr/>
      </dsp:nvSpPr>
      <dsp:spPr>
        <a:xfrm>
          <a:off x="7171708" y="1516859"/>
          <a:ext cx="1612402" cy="282555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7188" tIns="165100" rIns="127188" bIns="165100" numCol="1" spcCol="1270" anchor="t" anchorCtr="0">
          <a:noAutofit/>
        </a:bodyPr>
        <a:lstStyle/>
        <a:p>
          <a:pPr marL="0" lvl="0" indent="0" algn="l" defTabSz="488950">
            <a:lnSpc>
              <a:spcPct val="90000"/>
            </a:lnSpc>
            <a:spcBef>
              <a:spcPct val="0"/>
            </a:spcBef>
            <a:spcAft>
              <a:spcPct val="35000"/>
            </a:spcAft>
            <a:buNone/>
          </a:pPr>
          <a:r>
            <a:rPr lang="en-US" sz="1100" kern="1200"/>
            <a:t>This chapter tells the story of how we got here, what it costs, how it changes the way software is made, and what real people have already accomplished with these tools.</a:t>
          </a:r>
        </a:p>
      </dsp:txBody>
      <dsp:txXfrm>
        <a:off x="7171708" y="1839339"/>
        <a:ext cx="1612402" cy="25030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B6FF9-BAE2-4963-8004-2C8A26021831}">
      <dsp:nvSpPr>
        <dsp:cNvPr id="0" name=""/>
        <dsp:cNvSpPr/>
      </dsp:nvSpPr>
      <dsp:spPr>
        <a:xfrm>
          <a:off x="0" y="414"/>
          <a:ext cx="8229600" cy="9696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0B641A-A470-447F-8667-821330647A46}">
      <dsp:nvSpPr>
        <dsp:cNvPr id="0" name=""/>
        <dsp:cNvSpPr/>
      </dsp:nvSpPr>
      <dsp:spPr>
        <a:xfrm>
          <a:off x="293307" y="218577"/>
          <a:ext cx="533286" cy="5332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68E9888-7E1B-4534-BAE4-235AC7584D42}">
      <dsp:nvSpPr>
        <dsp:cNvPr id="0" name=""/>
        <dsp:cNvSpPr/>
      </dsp:nvSpPr>
      <dsp:spPr>
        <a:xfrm>
          <a:off x="1119902" y="414"/>
          <a:ext cx="3703320" cy="96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617" tIns="102617" rIns="102617" bIns="102617" numCol="1" spcCol="1270" anchor="ctr" anchorCtr="0">
          <a:noAutofit/>
        </a:bodyPr>
        <a:lstStyle/>
        <a:p>
          <a:pPr marL="0" lvl="0" indent="0" algn="l" defTabSz="711200">
            <a:lnSpc>
              <a:spcPct val="90000"/>
            </a:lnSpc>
            <a:spcBef>
              <a:spcPct val="0"/>
            </a:spcBef>
            <a:spcAft>
              <a:spcPct val="35000"/>
            </a:spcAft>
            <a:buNone/>
          </a:pPr>
          <a:r>
            <a:rPr lang="en-US" sz="1600" kern="1200"/>
            <a:t>A vibe coder spending $200 per month who saves just 4 hours per week would get:</a:t>
          </a:r>
        </a:p>
      </dsp:txBody>
      <dsp:txXfrm>
        <a:off x="1119902" y="414"/>
        <a:ext cx="3703320" cy="969612"/>
      </dsp:txXfrm>
    </dsp:sp>
    <dsp:sp modelId="{377A66B9-1EAF-4062-8648-EF7E8BEFF22D}">
      <dsp:nvSpPr>
        <dsp:cNvPr id="0" name=""/>
        <dsp:cNvSpPr/>
      </dsp:nvSpPr>
      <dsp:spPr>
        <a:xfrm>
          <a:off x="4823222" y="414"/>
          <a:ext cx="3406377" cy="96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617" tIns="102617" rIns="102617" bIns="102617" numCol="1" spcCol="1270" anchor="ctr" anchorCtr="0">
          <a:noAutofit/>
        </a:bodyPr>
        <a:lstStyle/>
        <a:p>
          <a:pPr marL="0" lvl="0" indent="0" algn="l" defTabSz="533400">
            <a:lnSpc>
              <a:spcPct val="90000"/>
            </a:lnSpc>
            <a:spcBef>
              <a:spcPct val="0"/>
            </a:spcBef>
            <a:spcAft>
              <a:spcPct val="35000"/>
            </a:spcAft>
            <a:buNone/>
          </a:pPr>
          <a:r>
            <a:rPr lang="en-US" sz="1200" kern="1200"/>
            <a:t>16 hours saved per month</a:t>
          </a:r>
        </a:p>
        <a:p>
          <a:pPr marL="0" lvl="0" indent="0" algn="l" defTabSz="533400">
            <a:lnSpc>
              <a:spcPct val="90000"/>
            </a:lnSpc>
            <a:spcBef>
              <a:spcPct val="0"/>
            </a:spcBef>
            <a:spcAft>
              <a:spcPct val="35000"/>
            </a:spcAft>
            <a:buNone/>
          </a:pPr>
          <a:r>
            <a:rPr lang="en-US" sz="1200" kern="1200"/>
            <a:t>$1,600 in value at $100 per hour</a:t>
          </a:r>
        </a:p>
        <a:p>
          <a:pPr marL="0" lvl="0" indent="0" algn="l" defTabSz="533400">
            <a:lnSpc>
              <a:spcPct val="90000"/>
            </a:lnSpc>
            <a:spcBef>
              <a:spcPct val="0"/>
            </a:spcBef>
            <a:spcAft>
              <a:spcPct val="35000"/>
            </a:spcAft>
            <a:buNone/>
          </a:pPr>
          <a:r>
            <a:rPr lang="en-US" sz="1200" kern="1200"/>
            <a:t>An 8:1 return on investment</a:t>
          </a:r>
        </a:p>
      </dsp:txBody>
      <dsp:txXfrm>
        <a:off x="4823222" y="414"/>
        <a:ext cx="3406377" cy="969612"/>
      </dsp:txXfrm>
    </dsp:sp>
    <dsp:sp modelId="{5247E338-9197-4E2A-8AFF-7FF4125D70EC}">
      <dsp:nvSpPr>
        <dsp:cNvPr id="0" name=""/>
        <dsp:cNvSpPr/>
      </dsp:nvSpPr>
      <dsp:spPr>
        <a:xfrm>
          <a:off x="0" y="1212429"/>
          <a:ext cx="8229600" cy="9696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5EA3BF-2D2D-4B86-B424-123BD030B872}">
      <dsp:nvSpPr>
        <dsp:cNvPr id="0" name=""/>
        <dsp:cNvSpPr/>
      </dsp:nvSpPr>
      <dsp:spPr>
        <a:xfrm>
          <a:off x="293307" y="1430592"/>
          <a:ext cx="533286" cy="5332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295E61-F483-45A2-82B6-75E5C3CF31F1}">
      <dsp:nvSpPr>
        <dsp:cNvPr id="0" name=""/>
        <dsp:cNvSpPr/>
      </dsp:nvSpPr>
      <dsp:spPr>
        <a:xfrm>
          <a:off x="1119902" y="1212429"/>
          <a:ext cx="7109697" cy="96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617" tIns="102617" rIns="102617" bIns="102617" numCol="1" spcCol="1270" anchor="ctr" anchorCtr="0">
          <a:noAutofit/>
        </a:bodyPr>
        <a:lstStyle/>
        <a:p>
          <a:pPr marL="0" lvl="0" indent="0" algn="l" defTabSz="711200">
            <a:lnSpc>
              <a:spcPct val="90000"/>
            </a:lnSpc>
            <a:spcBef>
              <a:spcPct val="0"/>
            </a:spcBef>
            <a:spcAft>
              <a:spcPct val="35000"/>
            </a:spcAft>
            <a:buNone/>
          </a:pPr>
          <a:r>
            <a:rPr lang="en-US" sz="1600" kern="1200"/>
            <a:t>Even at the high end of monthly spend, the math works out decisively. And for non-developers who would otherwise need to hire a developer at $10,000 or more per month, paying a few hundred dollars in tool costs is transformative.</a:t>
          </a:r>
        </a:p>
      </dsp:txBody>
      <dsp:txXfrm>
        <a:off x="1119902" y="1212429"/>
        <a:ext cx="7109697" cy="969612"/>
      </dsp:txXfrm>
    </dsp:sp>
    <dsp:sp modelId="{CEE2EF2B-50F6-4D9A-A18D-C9FBFAFD101A}">
      <dsp:nvSpPr>
        <dsp:cNvPr id="0" name=""/>
        <dsp:cNvSpPr/>
      </dsp:nvSpPr>
      <dsp:spPr>
        <a:xfrm>
          <a:off x="0" y="2424445"/>
          <a:ext cx="8229600" cy="96961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EBE017-D34A-43FD-8E1C-429A554070E2}">
      <dsp:nvSpPr>
        <dsp:cNvPr id="0" name=""/>
        <dsp:cNvSpPr/>
      </dsp:nvSpPr>
      <dsp:spPr>
        <a:xfrm>
          <a:off x="293307" y="2642608"/>
          <a:ext cx="533286" cy="5332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9A40C54-250E-4B50-8F2F-C3EFA73C4BAD}">
      <dsp:nvSpPr>
        <dsp:cNvPr id="0" name=""/>
        <dsp:cNvSpPr/>
      </dsp:nvSpPr>
      <dsp:spPr>
        <a:xfrm>
          <a:off x="1119902" y="2424445"/>
          <a:ext cx="7109697" cy="96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617" tIns="102617" rIns="102617" bIns="102617" numCol="1" spcCol="1270" anchor="ctr" anchorCtr="0">
          <a:noAutofit/>
        </a:bodyPr>
        <a:lstStyle/>
        <a:p>
          <a:pPr marL="0" lvl="0" indent="0" algn="l" defTabSz="711200">
            <a:lnSpc>
              <a:spcPct val="90000"/>
            </a:lnSpc>
            <a:spcBef>
              <a:spcPct val="0"/>
            </a:spcBef>
            <a:spcAft>
              <a:spcPct val="35000"/>
            </a:spcAft>
            <a:buNone/>
          </a:pPr>
          <a:r>
            <a:rPr lang="en-US" sz="1600" kern="1200"/>
            <a:t>The tokens aren’t cheap in absolute terms. But compared to the alternative, they’re a bargain.</a:t>
          </a:r>
        </a:p>
      </dsp:txBody>
      <dsp:txXfrm>
        <a:off x="1119902" y="2424445"/>
        <a:ext cx="7109697" cy="9696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4EA9E0-2DC9-4E47-8FDD-DBF613DBBD4F}">
      <dsp:nvSpPr>
        <dsp:cNvPr id="0" name=""/>
        <dsp:cNvSpPr/>
      </dsp:nvSpPr>
      <dsp:spPr>
        <a:xfrm>
          <a:off x="0" y="551601"/>
          <a:ext cx="8229600" cy="10183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D43A4-86AC-47CB-8C95-DAFCA8FE61CC}">
      <dsp:nvSpPr>
        <dsp:cNvPr id="0" name=""/>
        <dsp:cNvSpPr/>
      </dsp:nvSpPr>
      <dsp:spPr>
        <a:xfrm>
          <a:off x="308048" y="780728"/>
          <a:ext cx="560087" cy="5600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6D0031-A7EF-4348-99A2-16F9EBD0E65D}">
      <dsp:nvSpPr>
        <dsp:cNvPr id="0" name=""/>
        <dsp:cNvSpPr/>
      </dsp:nvSpPr>
      <dsp:spPr>
        <a:xfrm>
          <a:off x="1176184" y="551601"/>
          <a:ext cx="7053415" cy="1018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774" tIns="107774" rIns="107774" bIns="107774" numCol="1" spcCol="1270" anchor="ctr" anchorCtr="0">
          <a:noAutofit/>
        </a:bodyPr>
        <a:lstStyle/>
        <a:p>
          <a:pPr marL="0" lvl="0" indent="0" algn="l" defTabSz="755650">
            <a:lnSpc>
              <a:spcPct val="100000"/>
            </a:lnSpc>
            <a:spcBef>
              <a:spcPct val="0"/>
            </a:spcBef>
            <a:spcAft>
              <a:spcPct val="35000"/>
            </a:spcAft>
            <a:buNone/>
          </a:pPr>
          <a:r>
            <a:rPr lang="en-US" sz="1700" kern="1200"/>
            <a:t>The ecosystem is moving fast. By the time you read this, some of these tools will have merged, pivoted, or been replaced by something better. That’s the point: the barrier to building software keeps dropping.</a:t>
          </a:r>
        </a:p>
      </dsp:txBody>
      <dsp:txXfrm>
        <a:off x="1176184" y="551601"/>
        <a:ext cx="7053415" cy="1018341"/>
      </dsp:txXfrm>
    </dsp:sp>
    <dsp:sp modelId="{4B7DEB9D-60FF-48B2-B7E6-513AA87E5A08}">
      <dsp:nvSpPr>
        <dsp:cNvPr id="0" name=""/>
        <dsp:cNvSpPr/>
      </dsp:nvSpPr>
      <dsp:spPr>
        <a:xfrm>
          <a:off x="0" y="1824528"/>
          <a:ext cx="8229600" cy="10183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F1B8C3-3F5B-4E57-B534-D3B06F5DB9EB}">
      <dsp:nvSpPr>
        <dsp:cNvPr id="0" name=""/>
        <dsp:cNvSpPr/>
      </dsp:nvSpPr>
      <dsp:spPr>
        <a:xfrm>
          <a:off x="308048" y="2053655"/>
          <a:ext cx="560087" cy="5600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CBF112-A46C-45E5-9F63-F6A6B7FFC2BC}">
      <dsp:nvSpPr>
        <dsp:cNvPr id="0" name=""/>
        <dsp:cNvSpPr/>
      </dsp:nvSpPr>
      <dsp:spPr>
        <a:xfrm>
          <a:off x="1176184" y="1824528"/>
          <a:ext cx="7053415" cy="1018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774" tIns="107774" rIns="107774" bIns="107774" numCol="1" spcCol="1270" anchor="ctr" anchorCtr="0">
          <a:noAutofit/>
        </a:bodyPr>
        <a:lstStyle/>
        <a:p>
          <a:pPr marL="0" lvl="0" indent="0" algn="l" defTabSz="755650">
            <a:lnSpc>
              <a:spcPct val="100000"/>
            </a:lnSpc>
            <a:spcBef>
              <a:spcPct val="0"/>
            </a:spcBef>
            <a:spcAft>
              <a:spcPct val="35000"/>
            </a:spcAft>
            <a:buNone/>
          </a:pPr>
          <a:r>
            <a:rPr lang="en-US" sz="1700" kern="1200"/>
            <a:t>The best tool is the one that gets you from idea to working product fastest.</a:t>
          </a:r>
        </a:p>
      </dsp:txBody>
      <dsp:txXfrm>
        <a:off x="1176184" y="1824528"/>
        <a:ext cx="7053415" cy="10183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DD613F-918A-4319-B3DE-C1B06DB26B97}">
      <dsp:nvSpPr>
        <dsp:cNvPr id="0" name=""/>
        <dsp:cNvSpPr/>
      </dsp:nvSpPr>
      <dsp:spPr>
        <a:xfrm>
          <a:off x="0" y="551601"/>
          <a:ext cx="8229600" cy="10183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F56796-E9A5-4864-A45B-8172F034CFFD}">
      <dsp:nvSpPr>
        <dsp:cNvPr id="0" name=""/>
        <dsp:cNvSpPr/>
      </dsp:nvSpPr>
      <dsp:spPr>
        <a:xfrm>
          <a:off x="308048" y="780728"/>
          <a:ext cx="560087" cy="5600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155534-9652-43F0-AC0C-634F10E589AC}">
      <dsp:nvSpPr>
        <dsp:cNvPr id="0" name=""/>
        <dsp:cNvSpPr/>
      </dsp:nvSpPr>
      <dsp:spPr>
        <a:xfrm>
          <a:off x="1176184" y="551601"/>
          <a:ext cx="7053415" cy="1018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774" tIns="107774" rIns="107774" bIns="107774" numCol="1" spcCol="1270" anchor="ctr" anchorCtr="0">
          <a:noAutofit/>
        </a:bodyPr>
        <a:lstStyle/>
        <a:p>
          <a:pPr marL="0" lvl="0" indent="0" algn="l" defTabSz="844550">
            <a:lnSpc>
              <a:spcPct val="90000"/>
            </a:lnSpc>
            <a:spcBef>
              <a:spcPct val="0"/>
            </a:spcBef>
            <a:spcAft>
              <a:spcPct val="35000"/>
            </a:spcAft>
            <a:buNone/>
          </a:pPr>
          <a:r>
            <a:rPr lang="en-US" sz="1900" kern="1200"/>
            <a:t>AI is both the problem and part of the solution. It introduces vulnerabilities faster than humans, but AI-powered scanners can also review code at machine speed and catch bugs people miss.</a:t>
          </a:r>
        </a:p>
      </dsp:txBody>
      <dsp:txXfrm>
        <a:off x="1176184" y="551601"/>
        <a:ext cx="7053415" cy="1018341"/>
      </dsp:txXfrm>
    </dsp:sp>
    <dsp:sp modelId="{81994F95-16B3-4D7B-9BEB-30DD92C9171C}">
      <dsp:nvSpPr>
        <dsp:cNvPr id="0" name=""/>
        <dsp:cNvSpPr/>
      </dsp:nvSpPr>
      <dsp:spPr>
        <a:xfrm>
          <a:off x="0" y="1824528"/>
          <a:ext cx="8229600" cy="10183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D4FE4D-7354-4CFB-AFF1-46FBDD32E59E}">
      <dsp:nvSpPr>
        <dsp:cNvPr id="0" name=""/>
        <dsp:cNvSpPr/>
      </dsp:nvSpPr>
      <dsp:spPr>
        <a:xfrm>
          <a:off x="308048" y="2053655"/>
          <a:ext cx="560087" cy="5600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B89D83-7ECD-4832-93A9-32AFDE2EBB06}">
      <dsp:nvSpPr>
        <dsp:cNvPr id="0" name=""/>
        <dsp:cNvSpPr/>
      </dsp:nvSpPr>
      <dsp:spPr>
        <a:xfrm>
          <a:off x="1176184" y="1824528"/>
          <a:ext cx="7053415" cy="1018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774" tIns="107774" rIns="107774" bIns="107774" numCol="1" spcCol="1270" anchor="ctr" anchorCtr="0">
          <a:noAutofit/>
        </a:bodyPr>
        <a:lstStyle/>
        <a:p>
          <a:pPr marL="0" lvl="0" indent="0" algn="l" defTabSz="844550">
            <a:lnSpc>
              <a:spcPct val="90000"/>
            </a:lnSpc>
            <a:spcBef>
              <a:spcPct val="0"/>
            </a:spcBef>
            <a:spcAft>
              <a:spcPct val="35000"/>
            </a:spcAft>
            <a:buNone/>
          </a:pPr>
          <a:r>
            <a:rPr lang="en-US" sz="1900" kern="1200"/>
            <a:t>The future of secure vibe coding is not human or AI. It’s both layers working together.</a:t>
          </a:r>
        </a:p>
      </dsp:txBody>
      <dsp:txXfrm>
        <a:off x="1176184" y="1824528"/>
        <a:ext cx="7053415" cy="10183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38F852-4E09-41E9-B312-74F453DD6656}">
      <dsp:nvSpPr>
        <dsp:cNvPr id="0" name=""/>
        <dsp:cNvSpPr/>
      </dsp:nvSpPr>
      <dsp:spPr>
        <a:xfrm>
          <a:off x="0" y="551601"/>
          <a:ext cx="8229600" cy="10183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E33F67-8E8C-4D91-906A-6C783FC5F7AF}">
      <dsp:nvSpPr>
        <dsp:cNvPr id="0" name=""/>
        <dsp:cNvSpPr/>
      </dsp:nvSpPr>
      <dsp:spPr>
        <a:xfrm>
          <a:off x="308048" y="780728"/>
          <a:ext cx="560087" cy="5600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F4779F-F242-4960-8BA4-33A559631620}">
      <dsp:nvSpPr>
        <dsp:cNvPr id="0" name=""/>
        <dsp:cNvSpPr/>
      </dsp:nvSpPr>
      <dsp:spPr>
        <a:xfrm>
          <a:off x="1176184" y="551601"/>
          <a:ext cx="7053415" cy="1018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774" tIns="107774" rIns="107774" bIns="107774" numCol="1" spcCol="1270" anchor="ctr" anchorCtr="0">
          <a:noAutofit/>
        </a:bodyPr>
        <a:lstStyle/>
        <a:p>
          <a:pPr marL="0" lvl="0" indent="0" algn="l" defTabSz="889000">
            <a:lnSpc>
              <a:spcPct val="90000"/>
            </a:lnSpc>
            <a:spcBef>
              <a:spcPct val="0"/>
            </a:spcBef>
            <a:spcAft>
              <a:spcPct val="35000"/>
            </a:spcAft>
            <a:buNone/>
          </a:pPr>
          <a:r>
            <a:rPr lang="en-US" sz="2000" kern="1200"/>
            <a:t>The joke goes that the “S” in vibe coding stands for security. It’s funny because, too often, it’s true.</a:t>
          </a:r>
        </a:p>
      </dsp:txBody>
      <dsp:txXfrm>
        <a:off x="1176184" y="551601"/>
        <a:ext cx="7053415" cy="1018341"/>
      </dsp:txXfrm>
    </dsp:sp>
    <dsp:sp modelId="{39BCD241-7E65-4C57-A616-6FCBCC6BA10F}">
      <dsp:nvSpPr>
        <dsp:cNvPr id="0" name=""/>
        <dsp:cNvSpPr/>
      </dsp:nvSpPr>
      <dsp:spPr>
        <a:xfrm>
          <a:off x="0" y="1824528"/>
          <a:ext cx="8229600" cy="10183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59800F-7948-4B10-A7AC-F8DAE4E816E4}">
      <dsp:nvSpPr>
        <dsp:cNvPr id="0" name=""/>
        <dsp:cNvSpPr/>
      </dsp:nvSpPr>
      <dsp:spPr>
        <a:xfrm>
          <a:off x="308048" y="2053655"/>
          <a:ext cx="560087" cy="5600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E2EFC5B-3194-4F93-811B-252CF011B940}">
      <dsp:nvSpPr>
        <dsp:cNvPr id="0" name=""/>
        <dsp:cNvSpPr/>
      </dsp:nvSpPr>
      <dsp:spPr>
        <a:xfrm>
          <a:off x="1176184" y="1824528"/>
          <a:ext cx="7053415" cy="1018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774" tIns="107774" rIns="107774" bIns="107774" numCol="1" spcCol="1270" anchor="ctr" anchorCtr="0">
          <a:noAutofit/>
        </a:bodyPr>
        <a:lstStyle/>
        <a:p>
          <a:pPr marL="0" lvl="0" indent="0" algn="l" defTabSz="889000">
            <a:lnSpc>
              <a:spcPct val="90000"/>
            </a:lnSpc>
            <a:spcBef>
              <a:spcPct val="0"/>
            </a:spcBef>
            <a:spcAft>
              <a:spcPct val="35000"/>
            </a:spcAft>
            <a:buNone/>
          </a:pPr>
          <a:r>
            <a:rPr lang="en-US" sz="2000" kern="1200"/>
            <a:t>The gap isn’t only in the tooling anymore. It’s in the habits. Build fast, but build like someone’s trying to break in, because they are.</a:t>
          </a:r>
        </a:p>
      </dsp:txBody>
      <dsp:txXfrm>
        <a:off x="1176184" y="1824528"/>
        <a:ext cx="7053415" cy="1018341"/>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350B977A-A80B-C0B9-7F5F-B5673F224135}"/>
              </a:ext>
            </a:extLst>
          </p:cNvPr>
          <p:cNvPicPr>
            <a:picLocks noChangeAspect="1"/>
          </p:cNvPicPr>
          <p:nvPr userDrawn="1"/>
        </p:nvPicPr>
        <p:blipFill rotWithShape="1">
          <a:blip r:embed="rId2"/>
          <a:srcRect b="12199"/>
          <a:stretch/>
        </p:blipFill>
        <p:spPr>
          <a:xfrm>
            <a:off x="0" y="0"/>
            <a:ext cx="9174364" cy="4688104"/>
          </a:xfrm>
          <a:prstGeom prst="rect">
            <a:avLst/>
          </a:prstGeom>
        </p:spPr>
      </p:pic>
      <p:sp>
        <p:nvSpPr>
          <p:cNvPr id="2" name="Title 1"/>
          <p:cNvSpPr>
            <a:spLocks noGrp="1"/>
          </p:cNvSpPr>
          <p:nvPr>
            <p:ph type="ctrTitle" hasCustomPrompt="1"/>
          </p:nvPr>
        </p:nvSpPr>
        <p:spPr>
          <a:xfrm>
            <a:off x="685800" y="2069123"/>
            <a:ext cx="7772400" cy="63121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685800" y="2914650"/>
            <a:ext cx="7772400" cy="672612"/>
          </a:xfrm>
        </p:spPr>
        <p:txBody>
          <a:bodyPr/>
          <a:lstStyle>
            <a:lvl1pPr marL="0" indent="0" algn="l">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58616" y="4803897"/>
            <a:ext cx="754184" cy="273844"/>
          </a:xfrm>
        </p:spPr>
        <p:txBody>
          <a:bodyPr/>
          <a:lstStyle/>
          <a:p>
            <a:fld id="{C5EF2332-01BF-834F-8236-50238282D533}" type="slidenum">
              <a:rPr lang="en-US" smtClean="0"/>
              <a:t>‹Nr.›</a:t>
            </a:fld>
            <a:endParaRPr lang="en-US"/>
          </a:p>
        </p:txBody>
      </p:sp>
      <p:pic>
        <p:nvPicPr>
          <p:cNvPr id="8" name="Grafik 7" descr="Ein Bild, das Text, Grafiken, Schrift, Logo enthält.&#10;&#10;Automatisch generierte Beschreibung">
            <a:extLst>
              <a:ext uri="{FF2B5EF4-FFF2-40B4-BE49-F238E27FC236}">
                <a16:creationId xmlns:a16="http://schemas.microsoft.com/office/drawing/2014/main" id="{532E072D-851A-5AC8-2804-32511988FFCA}"/>
              </a:ext>
            </a:extLst>
          </p:cNvPr>
          <p:cNvPicPr>
            <a:picLocks noChangeAspect="1"/>
          </p:cNvPicPr>
          <p:nvPr userDrawn="1"/>
        </p:nvPicPr>
        <p:blipFill>
          <a:blip r:embed="rId3"/>
          <a:stretch>
            <a:fillRect/>
          </a:stretch>
        </p:blipFill>
        <p:spPr>
          <a:xfrm>
            <a:off x="6393918" y="150628"/>
            <a:ext cx="2780446" cy="1174263"/>
          </a:xfrm>
          <a:prstGeom prst="rect">
            <a:avLst/>
          </a:prstGeom>
        </p:spPr>
      </p:pic>
      <p:pic>
        <p:nvPicPr>
          <p:cNvPr id="9" name="Grafik 8" descr="PPT_Logo.png">
            <a:extLst>
              <a:ext uri="{FF2B5EF4-FFF2-40B4-BE49-F238E27FC236}">
                <a16:creationId xmlns:a16="http://schemas.microsoft.com/office/drawing/2014/main" id="{6CAC03CE-1652-F668-77D5-DA33E460EC15}"/>
              </a:ext>
            </a:extLst>
          </p:cNvPr>
          <p:cNvPicPr>
            <a:picLocks noChangeAspect="1"/>
          </p:cNvPicPr>
          <p:nvPr userDrawn="1"/>
        </p:nvPicPr>
        <p:blipFill>
          <a:blip r:embed="rId4" cstate="print"/>
          <a:stretch>
            <a:fillRect/>
          </a:stretch>
        </p:blipFill>
        <p:spPr bwMode="gray">
          <a:xfrm>
            <a:off x="6421919" y="4707597"/>
            <a:ext cx="2700961" cy="38963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cxnSp>
        <p:nvCxnSpPr>
          <p:cNvPr id="11" name="Gerader Verbinder 10">
            <a:extLst>
              <a:ext uri="{FF2B5EF4-FFF2-40B4-BE49-F238E27FC236}">
                <a16:creationId xmlns:a16="http://schemas.microsoft.com/office/drawing/2014/main" id="{A2F91ABC-03EE-7634-395D-5B4AB36C1D80}"/>
              </a:ext>
            </a:extLst>
          </p:cNvPr>
          <p:cNvCxnSpPr>
            <a:cxnSpLocks/>
          </p:cNvCxnSpPr>
          <p:nvPr userDrawn="1"/>
        </p:nvCxnSpPr>
        <p:spPr>
          <a:xfrm>
            <a:off x="457200" y="1131802"/>
            <a:ext cx="8229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Grafik 11">
            <a:extLst>
              <a:ext uri="{FF2B5EF4-FFF2-40B4-BE49-F238E27FC236}">
                <a16:creationId xmlns:a16="http://schemas.microsoft.com/office/drawing/2014/main" id="{4C815C70-52EE-D3CF-6C7A-888D26A54749}"/>
              </a:ext>
              <a:ext uri="{C183D7F6-B498-43B3-948B-1728B52AA6E4}">
                <adec:decorative xmlns:adec="http://schemas.microsoft.com/office/drawing/2017/decorative" val="1"/>
              </a:ext>
            </a:extLst>
          </p:cNvPr>
          <p:cNvPicPr>
            <a:picLocks noChangeAspect="1"/>
          </p:cNvPicPr>
          <p:nvPr userDrawn="1"/>
        </p:nvPicPr>
        <p:blipFill>
          <a:blip r:embed="rId2">
            <a:duotone>
              <a:prstClr val="black"/>
              <a:schemeClr val="bg2">
                <a:lumMod val="10000"/>
                <a:tint val="45000"/>
                <a:satMod val="400000"/>
              </a:schemeClr>
            </a:duotone>
          </a:blip>
          <a:stretch>
            <a:fillRect/>
          </a:stretch>
        </p:blipFill>
        <p:spPr>
          <a:xfrm>
            <a:off x="7722372" y="4427294"/>
            <a:ext cx="1527135" cy="644953"/>
          </a:xfrm>
          <a:prstGeom prst="rect">
            <a:avLst/>
          </a:prstGeom>
        </p:spPr>
      </p:pic>
      <p:cxnSp>
        <p:nvCxnSpPr>
          <p:cNvPr id="17" name="Gerader Verbinder 16">
            <a:extLst>
              <a:ext uri="{FF2B5EF4-FFF2-40B4-BE49-F238E27FC236}">
                <a16:creationId xmlns:a16="http://schemas.microsoft.com/office/drawing/2014/main" id="{90C444EA-C8F1-4373-A16A-F2ADA3F2C2AA}"/>
              </a:ext>
            </a:extLst>
          </p:cNvPr>
          <p:cNvCxnSpPr>
            <a:cxnSpLocks/>
          </p:cNvCxnSpPr>
          <p:nvPr userDrawn="1"/>
        </p:nvCxnSpPr>
        <p:spPr>
          <a:xfrm>
            <a:off x="457200" y="4689756"/>
            <a:ext cx="718038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‹Nr.›</a:t>
            </a:fld>
            <a:endParaRPr lang="en-US"/>
          </a:p>
        </p:txBody>
      </p:sp>
      <p:cxnSp>
        <p:nvCxnSpPr>
          <p:cNvPr id="5" name="Gerader Verbinder 4">
            <a:extLst>
              <a:ext uri="{FF2B5EF4-FFF2-40B4-BE49-F238E27FC236}">
                <a16:creationId xmlns:a16="http://schemas.microsoft.com/office/drawing/2014/main" id="{1FCE81DC-7128-F0CD-0FEB-62BE31F9C244}"/>
              </a:ext>
            </a:extLst>
          </p:cNvPr>
          <p:cNvCxnSpPr>
            <a:cxnSpLocks/>
          </p:cNvCxnSpPr>
          <p:nvPr userDrawn="1"/>
        </p:nvCxnSpPr>
        <p:spPr>
          <a:xfrm>
            <a:off x="457200" y="1131802"/>
            <a:ext cx="8229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Grafik 7">
            <a:extLst>
              <a:ext uri="{FF2B5EF4-FFF2-40B4-BE49-F238E27FC236}">
                <a16:creationId xmlns:a16="http://schemas.microsoft.com/office/drawing/2014/main" id="{6694D8D0-605F-172B-38DB-F08503659E0B}"/>
              </a:ext>
              <a:ext uri="{C183D7F6-B498-43B3-948B-1728B52AA6E4}">
                <adec:decorative xmlns:adec="http://schemas.microsoft.com/office/drawing/2017/decorative" val="1"/>
              </a:ext>
            </a:extLst>
          </p:cNvPr>
          <p:cNvPicPr>
            <a:picLocks noChangeAspect="1"/>
          </p:cNvPicPr>
          <p:nvPr userDrawn="1"/>
        </p:nvPicPr>
        <p:blipFill>
          <a:blip r:embed="rId2">
            <a:duotone>
              <a:prstClr val="black"/>
              <a:schemeClr val="bg2">
                <a:lumMod val="10000"/>
                <a:tint val="45000"/>
                <a:satMod val="400000"/>
              </a:schemeClr>
            </a:duotone>
          </a:blip>
          <a:stretch>
            <a:fillRect/>
          </a:stretch>
        </p:blipFill>
        <p:spPr>
          <a:xfrm>
            <a:off x="7722372" y="4427294"/>
            <a:ext cx="1527135" cy="644953"/>
          </a:xfrm>
          <a:prstGeom prst="rect">
            <a:avLst/>
          </a:prstGeom>
        </p:spPr>
      </p:pic>
      <p:cxnSp>
        <p:nvCxnSpPr>
          <p:cNvPr id="9" name="Gerader Verbinder 8">
            <a:extLst>
              <a:ext uri="{FF2B5EF4-FFF2-40B4-BE49-F238E27FC236}">
                <a16:creationId xmlns:a16="http://schemas.microsoft.com/office/drawing/2014/main" id="{534CC367-9821-2C2A-4FAB-14D0AA4E4FF0}"/>
              </a:ext>
            </a:extLst>
          </p:cNvPr>
          <p:cNvCxnSpPr>
            <a:cxnSpLocks/>
          </p:cNvCxnSpPr>
          <p:nvPr userDrawn="1"/>
        </p:nvCxnSpPr>
        <p:spPr>
          <a:xfrm>
            <a:off x="457200" y="4689756"/>
            <a:ext cx="718038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‹Nr.›</a:t>
            </a:fld>
            <a:endParaRPr lang="en-US"/>
          </a:p>
        </p:txBody>
      </p:sp>
      <p:cxnSp>
        <p:nvCxnSpPr>
          <p:cNvPr id="7" name="Gerader Verbinder 6">
            <a:extLst>
              <a:ext uri="{FF2B5EF4-FFF2-40B4-BE49-F238E27FC236}">
                <a16:creationId xmlns:a16="http://schemas.microsoft.com/office/drawing/2014/main" id="{F881896F-AC7C-D747-1114-8CBAB9DA4908}"/>
              </a:ext>
            </a:extLst>
          </p:cNvPr>
          <p:cNvCxnSpPr>
            <a:cxnSpLocks/>
          </p:cNvCxnSpPr>
          <p:nvPr userDrawn="1"/>
        </p:nvCxnSpPr>
        <p:spPr>
          <a:xfrm>
            <a:off x="457200" y="1131802"/>
            <a:ext cx="8229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Grafik 9">
            <a:extLst>
              <a:ext uri="{FF2B5EF4-FFF2-40B4-BE49-F238E27FC236}">
                <a16:creationId xmlns:a16="http://schemas.microsoft.com/office/drawing/2014/main" id="{94B29CB2-0D4A-F6D1-B540-DB3C0B6465FD}"/>
              </a:ext>
              <a:ext uri="{C183D7F6-B498-43B3-948B-1728B52AA6E4}">
                <adec:decorative xmlns:adec="http://schemas.microsoft.com/office/drawing/2017/decorative" val="1"/>
              </a:ext>
            </a:extLst>
          </p:cNvPr>
          <p:cNvPicPr>
            <a:picLocks noChangeAspect="1"/>
          </p:cNvPicPr>
          <p:nvPr userDrawn="1"/>
        </p:nvPicPr>
        <p:blipFill>
          <a:blip r:embed="rId2">
            <a:duotone>
              <a:prstClr val="black"/>
              <a:schemeClr val="bg2">
                <a:lumMod val="10000"/>
                <a:tint val="45000"/>
                <a:satMod val="400000"/>
              </a:schemeClr>
            </a:duotone>
          </a:blip>
          <a:stretch>
            <a:fillRect/>
          </a:stretch>
        </p:blipFill>
        <p:spPr>
          <a:xfrm>
            <a:off x="7722372" y="4427294"/>
            <a:ext cx="1527135" cy="644953"/>
          </a:xfrm>
          <a:prstGeom prst="rect">
            <a:avLst/>
          </a:prstGeom>
        </p:spPr>
      </p:pic>
      <p:cxnSp>
        <p:nvCxnSpPr>
          <p:cNvPr id="11" name="Gerader Verbinder 10">
            <a:extLst>
              <a:ext uri="{FF2B5EF4-FFF2-40B4-BE49-F238E27FC236}">
                <a16:creationId xmlns:a16="http://schemas.microsoft.com/office/drawing/2014/main" id="{2A318119-8BA5-3E0D-8BA6-B16DB98C03F5}"/>
              </a:ext>
            </a:extLst>
          </p:cNvPr>
          <p:cNvCxnSpPr>
            <a:cxnSpLocks/>
          </p:cNvCxnSpPr>
          <p:nvPr userDrawn="1"/>
        </p:nvCxnSpPr>
        <p:spPr>
          <a:xfrm>
            <a:off x="457200" y="4689756"/>
            <a:ext cx="718038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890CA72E-625D-717B-722D-7F75D2558676}"/>
              </a:ext>
            </a:extLst>
          </p:cNvPr>
          <p:cNvPicPr>
            <a:picLocks noChangeAspect="1"/>
          </p:cNvPicPr>
          <p:nvPr userDrawn="1"/>
        </p:nvPicPr>
        <p:blipFill rotWithShape="1">
          <a:blip r:embed="rId2"/>
          <a:srcRect b="-4"/>
          <a:stretch/>
        </p:blipFill>
        <p:spPr>
          <a:xfrm>
            <a:off x="-18757" y="-10706"/>
            <a:ext cx="9162757" cy="5154205"/>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‹Nr.›</a:t>
            </a:fld>
            <a:endParaRPr lang="en-US"/>
          </a:p>
        </p:txBody>
      </p:sp>
      <p:cxnSp>
        <p:nvCxnSpPr>
          <p:cNvPr id="3" name="Gerader Verbinder 2">
            <a:extLst>
              <a:ext uri="{FF2B5EF4-FFF2-40B4-BE49-F238E27FC236}">
                <a16:creationId xmlns:a16="http://schemas.microsoft.com/office/drawing/2014/main" id="{E858C5CD-61B5-6551-2BF4-5819990B0A1E}"/>
              </a:ext>
            </a:extLst>
          </p:cNvPr>
          <p:cNvCxnSpPr>
            <a:cxnSpLocks/>
          </p:cNvCxnSpPr>
          <p:nvPr userDrawn="1"/>
        </p:nvCxnSpPr>
        <p:spPr>
          <a:xfrm>
            <a:off x="457200" y="1131802"/>
            <a:ext cx="8229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259D0CD7-7FB6-75FE-4B21-0B2745B9996A}"/>
              </a:ext>
              <a:ext uri="{C183D7F6-B498-43B3-948B-1728B52AA6E4}">
                <adec:decorative xmlns:adec="http://schemas.microsoft.com/office/drawing/2017/decorative" val="1"/>
              </a:ext>
            </a:extLst>
          </p:cNvPr>
          <p:cNvPicPr>
            <a:picLocks noChangeAspect="1"/>
          </p:cNvPicPr>
          <p:nvPr userDrawn="1"/>
        </p:nvPicPr>
        <p:blipFill>
          <a:blip r:embed="rId3">
            <a:duotone>
              <a:prstClr val="black"/>
              <a:schemeClr val="bg2">
                <a:lumMod val="10000"/>
                <a:tint val="45000"/>
                <a:satMod val="400000"/>
              </a:schemeClr>
            </a:duotone>
          </a:blip>
          <a:stretch>
            <a:fillRect/>
          </a:stretch>
        </p:blipFill>
        <p:spPr>
          <a:xfrm>
            <a:off x="7722372" y="4427294"/>
            <a:ext cx="1527135" cy="644953"/>
          </a:xfrm>
          <a:prstGeom prst="rect">
            <a:avLst/>
          </a:prstGeom>
        </p:spPr>
      </p:pic>
      <p:cxnSp>
        <p:nvCxnSpPr>
          <p:cNvPr id="8" name="Gerader Verbinder 7">
            <a:extLst>
              <a:ext uri="{FF2B5EF4-FFF2-40B4-BE49-F238E27FC236}">
                <a16:creationId xmlns:a16="http://schemas.microsoft.com/office/drawing/2014/main" id="{544DD8D1-693C-A787-7682-0DB198EC14E1}"/>
              </a:ext>
            </a:extLst>
          </p:cNvPr>
          <p:cNvCxnSpPr>
            <a:cxnSpLocks/>
          </p:cNvCxnSpPr>
          <p:nvPr userDrawn="1"/>
        </p:nvCxnSpPr>
        <p:spPr>
          <a:xfrm>
            <a:off x="457200" y="4689756"/>
            <a:ext cx="718038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‹Nr.›</a:t>
            </a:fld>
            <a:endParaRPr lang="en-US"/>
          </a:p>
        </p:txBody>
      </p:sp>
      <p:pic>
        <p:nvPicPr>
          <p:cNvPr id="8" name="Grafik 7">
            <a:extLst>
              <a:ext uri="{FF2B5EF4-FFF2-40B4-BE49-F238E27FC236}">
                <a16:creationId xmlns:a16="http://schemas.microsoft.com/office/drawing/2014/main" id="{EB4F0B2C-C9BC-6894-1EB8-0554FE1BC2C4}"/>
              </a:ext>
              <a:ext uri="{C183D7F6-B498-43B3-948B-1728B52AA6E4}">
                <adec:decorative xmlns:adec="http://schemas.microsoft.com/office/drawing/2017/decorative" val="1"/>
              </a:ext>
            </a:extLst>
          </p:cNvPr>
          <p:cNvPicPr>
            <a:picLocks noChangeAspect="1"/>
          </p:cNvPicPr>
          <p:nvPr userDrawn="1"/>
        </p:nvPicPr>
        <p:blipFill>
          <a:blip r:embed="rId2">
            <a:duotone>
              <a:prstClr val="black"/>
              <a:schemeClr val="bg2">
                <a:lumMod val="10000"/>
                <a:tint val="45000"/>
                <a:satMod val="400000"/>
              </a:schemeClr>
            </a:duotone>
          </a:blip>
          <a:stretch>
            <a:fillRect/>
          </a:stretch>
        </p:blipFill>
        <p:spPr>
          <a:xfrm>
            <a:off x="7722372" y="4427294"/>
            <a:ext cx="1527135" cy="644953"/>
          </a:xfrm>
          <a:prstGeom prst="rect">
            <a:avLst/>
          </a:prstGeom>
        </p:spPr>
      </p:pic>
      <p:cxnSp>
        <p:nvCxnSpPr>
          <p:cNvPr id="9" name="Gerader Verbinder 8">
            <a:extLst>
              <a:ext uri="{FF2B5EF4-FFF2-40B4-BE49-F238E27FC236}">
                <a16:creationId xmlns:a16="http://schemas.microsoft.com/office/drawing/2014/main" id="{1345CFE6-3FDB-DF48-167C-5DF0243B42CB}"/>
              </a:ext>
            </a:extLst>
          </p:cNvPr>
          <p:cNvCxnSpPr>
            <a:cxnSpLocks/>
          </p:cNvCxnSpPr>
          <p:nvPr userDrawn="1"/>
        </p:nvCxnSpPr>
        <p:spPr>
          <a:xfrm>
            <a:off x="457200" y="4689756"/>
            <a:ext cx="718038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Gerader Verbinder 3">
            <a:extLst>
              <a:ext uri="{FF2B5EF4-FFF2-40B4-BE49-F238E27FC236}">
                <a16:creationId xmlns:a16="http://schemas.microsoft.com/office/drawing/2014/main" id="{7CB609D5-F584-B528-B96E-43DAC8579225}"/>
              </a:ext>
            </a:extLst>
          </p:cNvPr>
          <p:cNvCxnSpPr>
            <a:cxnSpLocks/>
          </p:cNvCxnSpPr>
          <p:nvPr userDrawn="1"/>
        </p:nvCxnSpPr>
        <p:spPr>
          <a:xfrm>
            <a:off x="457200" y="1131802"/>
            <a:ext cx="82296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7ED8CFA2-11FD-1AE7-E2BB-C618B5BDFDF0}"/>
              </a:ext>
              <a:ext uri="{C183D7F6-B498-43B3-948B-1728B52AA6E4}">
                <adec:decorative xmlns:adec="http://schemas.microsoft.com/office/drawing/2017/decorative" val="1"/>
              </a:ext>
            </a:extLst>
          </p:cNvPr>
          <p:cNvPicPr>
            <a:picLocks noChangeAspect="1"/>
          </p:cNvPicPr>
          <p:nvPr userDrawn="1"/>
        </p:nvPicPr>
        <p:blipFill>
          <a:blip r:embed="rId2">
            <a:duotone>
              <a:prstClr val="black"/>
              <a:schemeClr val="bg2">
                <a:lumMod val="10000"/>
                <a:tint val="45000"/>
                <a:satMod val="400000"/>
              </a:schemeClr>
            </a:duotone>
          </a:blip>
          <a:stretch>
            <a:fillRect/>
          </a:stretch>
        </p:blipFill>
        <p:spPr>
          <a:xfrm rot="5400000">
            <a:off x="-212104" y="4272146"/>
            <a:ext cx="1527135" cy="644953"/>
          </a:xfrm>
          <a:prstGeom prst="rect">
            <a:avLst/>
          </a:prstGeom>
        </p:spPr>
      </p:pic>
      <p:cxnSp>
        <p:nvCxnSpPr>
          <p:cNvPr id="8" name="Gerader Verbinder 7">
            <a:extLst>
              <a:ext uri="{FF2B5EF4-FFF2-40B4-BE49-F238E27FC236}">
                <a16:creationId xmlns:a16="http://schemas.microsoft.com/office/drawing/2014/main" id="{322A4312-9D94-88AC-FB0B-2F46231E768B}"/>
              </a:ext>
            </a:extLst>
          </p:cNvPr>
          <p:cNvCxnSpPr>
            <a:cxnSpLocks/>
          </p:cNvCxnSpPr>
          <p:nvPr userDrawn="1"/>
        </p:nvCxnSpPr>
        <p:spPr>
          <a:xfrm>
            <a:off x="1107924" y="4749770"/>
            <a:ext cx="757887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Gerader Verbinder 8">
            <a:extLst>
              <a:ext uri="{FF2B5EF4-FFF2-40B4-BE49-F238E27FC236}">
                <a16:creationId xmlns:a16="http://schemas.microsoft.com/office/drawing/2014/main" id="{E7ECE472-5400-ACC2-E75D-B7110AF87E28}"/>
              </a:ext>
            </a:extLst>
          </p:cNvPr>
          <p:cNvCxnSpPr>
            <a:cxnSpLocks/>
          </p:cNvCxnSpPr>
          <p:nvPr userDrawn="1"/>
        </p:nvCxnSpPr>
        <p:spPr>
          <a:xfrm flipV="1">
            <a:off x="6560457" y="205979"/>
            <a:ext cx="0" cy="438864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Grafik 9">
            <a:extLst>
              <a:ext uri="{FF2B5EF4-FFF2-40B4-BE49-F238E27FC236}">
                <a16:creationId xmlns:a16="http://schemas.microsoft.com/office/drawing/2014/main" id="{0942913C-E960-9C4C-D1A2-77A19DF16734}"/>
              </a:ext>
              <a:ext uri="{C183D7F6-B498-43B3-948B-1728B52AA6E4}">
                <adec:decorative xmlns:adec="http://schemas.microsoft.com/office/drawing/2017/decorative" val="1"/>
              </a:ext>
            </a:extLst>
          </p:cNvPr>
          <p:cNvPicPr>
            <a:picLocks noChangeAspect="1"/>
          </p:cNvPicPr>
          <p:nvPr userDrawn="1"/>
        </p:nvPicPr>
        <p:blipFill>
          <a:blip r:embed="rId2">
            <a:duotone>
              <a:prstClr val="black"/>
              <a:schemeClr val="bg2">
                <a:lumMod val="10000"/>
                <a:tint val="45000"/>
                <a:satMod val="400000"/>
              </a:schemeClr>
            </a:duotone>
          </a:blip>
          <a:stretch>
            <a:fillRect/>
          </a:stretch>
        </p:blipFill>
        <p:spPr>
          <a:xfrm rot="5400000">
            <a:off x="-212104" y="4272146"/>
            <a:ext cx="1527135" cy="644953"/>
          </a:xfrm>
          <a:prstGeom prst="rect">
            <a:avLst/>
          </a:prstGeom>
        </p:spPr>
      </p:pic>
      <p:cxnSp>
        <p:nvCxnSpPr>
          <p:cNvPr id="11" name="Gerader Verbinder 10">
            <a:extLst>
              <a:ext uri="{FF2B5EF4-FFF2-40B4-BE49-F238E27FC236}">
                <a16:creationId xmlns:a16="http://schemas.microsoft.com/office/drawing/2014/main" id="{DD9BD1ED-A668-EA6B-AB3D-B6EFE65C6FD8}"/>
              </a:ext>
            </a:extLst>
          </p:cNvPr>
          <p:cNvCxnSpPr>
            <a:cxnSpLocks/>
          </p:cNvCxnSpPr>
          <p:nvPr userDrawn="1"/>
        </p:nvCxnSpPr>
        <p:spPr>
          <a:xfrm flipV="1">
            <a:off x="319314" y="205979"/>
            <a:ext cx="0" cy="36250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wrap="square" lIns="0" tIns="0" rIns="0" bIns="0" rtlCol="0" anchor="b">
            <a:normAutofit/>
          </a:bodyPr>
          <a:lstStyle/>
          <a:p>
            <a:pPr lvl="0" algn="l" defTabSz="1320759">
              <a:lnSpc>
                <a:spcPct val="90000"/>
              </a:lnSpc>
            </a:pPr>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480647" y="4800599"/>
            <a:ext cx="1055076"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algn="l"/>
            <a:fld id="{C5EF2332-01BF-834F-8236-50238282D533}" type="slidenum">
              <a:rPr lang="en-US" smtClean="0"/>
              <a:pPr/>
              <a:t>‹Nr.›</a:t>
            </a:fld>
            <a:endParaRPr lang="en-US"/>
          </a:p>
        </p:txBody>
      </p:sp>
      <p:cxnSp>
        <p:nvCxnSpPr>
          <p:cNvPr id="10" name="Gerader Verbinder 9">
            <a:extLst>
              <a:ext uri="{FF2B5EF4-FFF2-40B4-BE49-F238E27FC236}">
                <a16:creationId xmlns:a16="http://schemas.microsoft.com/office/drawing/2014/main" id="{D417B2DC-A4EA-D2DA-4BF5-D2067B5A92BF}"/>
              </a:ext>
            </a:extLst>
          </p:cNvPr>
          <p:cNvCxnSpPr>
            <a:cxnSpLocks/>
          </p:cNvCxnSpPr>
          <p:nvPr userDrawn="1"/>
        </p:nvCxnSpPr>
        <p:spPr>
          <a:xfrm>
            <a:off x="-7748954" y="-3771634"/>
            <a:ext cx="166424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lang="en-US" sz="3178" b="1"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18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18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4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2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2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rPr dirty="0"/>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87441"/>
          </a:xfrm>
        </p:spPr>
        <p:txBody>
          <a:bodyPr wrap="square" anchor="b">
            <a:normAutofit/>
          </a:bodyPr>
          <a:lstStyle/>
          <a:p>
            <a:pPr marL="0" lvl="0" indent="0">
              <a:buNone/>
            </a:pPr>
            <a:r>
              <a:rPr dirty="0"/>
              <a:t>1.1 Motivation - Why Vibe Coding Matters</a:t>
            </a:r>
          </a:p>
        </p:txBody>
      </p:sp>
      <p:graphicFrame>
        <p:nvGraphicFramePr>
          <p:cNvPr id="5" name="Content Placeholder 2">
            <a:extLst>
              <a:ext uri="{FF2B5EF4-FFF2-40B4-BE49-F238E27FC236}">
                <a16:creationId xmlns:a16="http://schemas.microsoft.com/office/drawing/2014/main" id="{802F8AB6-33BC-FE85-FBE8-D76099C42C5E}"/>
              </a:ext>
            </a:extLst>
          </p:cNvPr>
          <p:cNvGraphicFramePr>
            <a:graphicFrameLocks noGrp="1"/>
          </p:cNvGraphicFramePr>
          <p:nvPr>
            <p:ph idx="1"/>
            <p:extLst>
              <p:ext uri="{D42A27DB-BD31-4B8C-83A1-F6EECF244321}">
                <p14:modId xmlns:p14="http://schemas.microsoft.com/office/powerpoint/2010/main" val="1538299692"/>
              </p:ext>
            </p:extLst>
          </p:nvPr>
        </p:nvGraphicFramePr>
        <p:xfrm>
          <a:off x="175260" y="205979"/>
          <a:ext cx="8968740" cy="4998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1.2 The Story - How We Got Here</a:t>
            </a:r>
          </a:p>
        </p:txBody>
      </p:sp>
      <p:sp>
        <p:nvSpPr>
          <p:cNvPr id="3" name="Content Placeholder 2"/>
          <p:cNvSpPr>
            <a:spLocks noGrp="1"/>
          </p:cNvSpPr>
          <p:nvPr>
            <p:ph idx="1"/>
          </p:nvPr>
        </p:nvSpPr>
        <p:spPr/>
        <p:txBody>
          <a:bodyPr>
            <a:normAutofit fontScale="92500" lnSpcReduction="10000"/>
          </a:bodyPr>
          <a:lstStyle/>
          <a:p>
            <a:pPr marL="0" lvl="0" indent="0">
              <a:spcBef>
                <a:spcPts val="3000"/>
              </a:spcBef>
              <a:buNone/>
            </a:pPr>
            <a:r>
              <a:rPr sz="800" b="1" dirty="0"/>
              <a:t>2021: The First Taste</a:t>
            </a:r>
          </a:p>
          <a:p>
            <a:pPr marL="0" lvl="0" indent="0">
              <a:buNone/>
            </a:pPr>
            <a:r>
              <a:rPr sz="800" dirty="0"/>
              <a:t>In June 2021, GitHub launched Copilot, the first mainstream AI coding assistant. Powered by OpenAI’s Codex model, it worked like an unusually smart autocomplete. You’d start typing a function, and it would suggest the rest. It wasn’t perfect, but it was startlingly useful. Developers described it as having a junior programmer looking over your shoulder, occasionally finishing your sentences.</a:t>
            </a:r>
            <a:endParaRPr lang="en-US" sz="800" dirty="0"/>
          </a:p>
          <a:p>
            <a:pPr marL="0" lvl="0" indent="0">
              <a:buNone/>
            </a:pPr>
            <a:r>
              <a:rPr sz="800" b="1" dirty="0"/>
              <a:t>2022: The Conversation Begins</a:t>
            </a:r>
          </a:p>
          <a:p>
            <a:pPr marL="0" lvl="0" indent="0">
              <a:buNone/>
            </a:pPr>
            <a:r>
              <a:rPr sz="800" dirty="0"/>
              <a:t>Then came ChatGPT in November 2022. While not designed specifically for coding, developers immediately started using it to generate functions, debug errors, and explain confusing code. The key shift: instead of getting autocomplete suggestions, you could have a conversation about what you wanted to build.</a:t>
            </a:r>
          </a:p>
          <a:p>
            <a:pPr marL="0" lvl="0" indent="0">
              <a:buNone/>
            </a:pPr>
            <a:r>
              <a:rPr sz="800" dirty="0"/>
              <a:t>You could say, “write me a Python script that renames all the files in a folder based on their creation date,” and get working code back.</a:t>
            </a:r>
            <a:endParaRPr lang="en-US" sz="800" dirty="0"/>
          </a:p>
          <a:p>
            <a:pPr marL="0" lvl="0" indent="0">
              <a:buNone/>
            </a:pPr>
            <a:r>
              <a:rPr sz="800" b="1" dirty="0"/>
              <a:t>2023: Crossing the Threshold</a:t>
            </a:r>
          </a:p>
          <a:p>
            <a:pPr marL="0" lvl="0" indent="0">
              <a:buNone/>
            </a:pPr>
            <a:r>
              <a:rPr sz="800" dirty="0"/>
              <a:t>Two models changed the game in 2023: OpenAI’s GPT-4 and </a:t>
            </a:r>
            <a:r>
              <a:rPr sz="800" dirty="0" err="1"/>
              <a:t>Anthropic’s</a:t>
            </a:r>
            <a:r>
              <a:rPr sz="800" dirty="0"/>
              <a:t> Claude. They showed dramatic improvements in code quality, reasoning, and the ability to handle complex multi-file projects. For many common tasks, including building web apps, writing scripts, and creating APIs, the AI-generated code was correct on the first try or within one or two iterations.</a:t>
            </a:r>
          </a:p>
          <a:p>
            <a:pPr marL="0" lvl="0" indent="0">
              <a:buNone/>
            </a:pPr>
            <a:r>
              <a:rPr sz="800" dirty="0"/>
              <a:t>This was the year AI coding crossed the “good enough” threshold. Not perfect, but good enough to be genuinely useful for real work.</a:t>
            </a:r>
            <a:endParaRPr lang="en-US" sz="800" dirty="0"/>
          </a:p>
          <a:p>
            <a:pPr marL="0" lvl="0" indent="0">
              <a:buNone/>
            </a:pPr>
            <a:r>
              <a:rPr sz="800" b="1" dirty="0"/>
              <a:t>2024: The Tools Mature</a:t>
            </a:r>
          </a:p>
          <a:p>
            <a:pPr marL="0" lvl="0" indent="0">
              <a:buNone/>
            </a:pPr>
            <a:r>
              <a:rPr sz="800" dirty="0"/>
              <a:t>If 2023 proved AI could write code, 2024 was about building the right tools around it. Cursor and Windsurf emerged as AI-native code editors, not just text editors with AI bolted on, but environments designed from the ground up for human-AI collaboration. You could highlight a block of code, describe what you wanted changed, and watch the AI rewrite it in place.</a:t>
            </a:r>
          </a:p>
          <a:p>
            <a:pPr marL="0" lvl="0" indent="0">
              <a:buNone/>
            </a:pPr>
            <a:r>
              <a:rPr sz="800" dirty="0"/>
              <a:t>The concept of agentic coding also took shape. Tools like Devin, Claude Code, and </a:t>
            </a:r>
            <a:r>
              <a:rPr sz="800" dirty="0" err="1"/>
              <a:t>Replit</a:t>
            </a:r>
            <a:r>
              <a:rPr sz="800" dirty="0"/>
              <a:t> Agent didn’t just suggest code. They could autonomously plan a task, write code, run it, read the error messages, fix the bugs, and iterate until it worked. The AI wasn’t just an assistant anymore; it was becoming a collaborator.</a:t>
            </a:r>
            <a:endParaRPr lang="en-US" sz="800" dirty="0"/>
          </a:p>
          <a:p>
            <a:pPr marL="0" lvl="0" indent="0">
              <a:buNone/>
            </a:pPr>
            <a:r>
              <a:rPr sz="800" b="1" dirty="0"/>
              <a:t>February 2, 2025: The Movement Gets a Name</a:t>
            </a:r>
          </a:p>
          <a:p>
            <a:pPr marL="0" lvl="0" indent="0">
              <a:buNone/>
            </a:pPr>
            <a:r>
              <a:rPr sz="800" dirty="0"/>
              <a:t>Andrej </a:t>
            </a:r>
            <a:r>
              <a:rPr sz="800" dirty="0" err="1"/>
              <a:t>Karpathy</a:t>
            </a:r>
            <a:r>
              <a:rPr sz="800" dirty="0"/>
              <a:t>, former co-founder of OpenAI and head of AI at Tesla, posted a message on X that went viral:</a:t>
            </a:r>
          </a:p>
          <a:p>
            <a:pPr marL="1270000" lvl="0" indent="0">
              <a:buNone/>
            </a:pPr>
            <a:r>
              <a:rPr sz="900" dirty="0"/>
              <a:t>“There’s a new kind of coding I call ‘vibe coding,’ where you fully give in to the vibes, embrace exponentials, and forget that the code even exists. […] I just see things, say things, run things, and copy-paste things, and it mostly works.”</a:t>
            </a:r>
          </a:p>
          <a:p>
            <a:pPr marL="0" lvl="0" indent="0">
              <a:buNone/>
            </a:pPr>
            <a:r>
              <a:rPr sz="800" dirty="0"/>
              <a:t>He described using Claude in Cursor with voice-to-text, barely touching the keyboard. The post hit over 4.5 million views. Within weeks, “vibe coding” entered the mainstream vocabulary and was even added to dictionaries.</a:t>
            </a:r>
          </a:p>
          <a:p>
            <a:pPr marL="0" lvl="0" indent="0">
              <a:buNone/>
            </a:pPr>
            <a:r>
              <a:rPr sz="800" dirty="0"/>
              <a:t>The term resonated because it captured something real: a fundamental shift in the relationship between humans and code. The code was becoming an implementation detail. What mattered was the intent.</a:t>
            </a:r>
            <a:endParaRPr lang="en-US" sz="800" dirty="0"/>
          </a:p>
          <a:p>
            <a:pPr marL="0" lvl="0" indent="0">
              <a:buNone/>
            </a:pPr>
            <a:r>
              <a:rPr sz="800" b="1" dirty="0"/>
              <a:t>2025 and Beyond: The Explosion</a:t>
            </a:r>
          </a:p>
          <a:p>
            <a:pPr marL="0" lvl="0" indent="0">
              <a:buNone/>
            </a:pPr>
            <a:r>
              <a:rPr sz="800" dirty="0"/>
              <a:t>The floodgates opened. Y Combinator reported that 25% of its Winter 2025 startup batch had codebases that were 95% AI-generated. Platforms like Lovable, </a:t>
            </a:r>
            <a:r>
              <a:rPr sz="800" dirty="0" err="1"/>
              <a:t>Bolt.new</a:t>
            </a:r>
            <a:r>
              <a:rPr sz="800" dirty="0"/>
              <a:t>, and v0 by </a:t>
            </a:r>
            <a:r>
              <a:rPr sz="800" dirty="0" err="1"/>
              <a:t>Vercel</a:t>
            </a:r>
            <a:r>
              <a:rPr sz="800" dirty="0"/>
              <a:t> made it possible to build entire web applications from a text prompt with no IDE required.</a:t>
            </a:r>
          </a:p>
          <a:p>
            <a:pPr marL="0" lvl="0" indent="0">
              <a:buNone/>
            </a:pPr>
            <a:r>
              <a:rPr sz="800" dirty="0"/>
              <a:t>Lovable became the fastest-growing software startup in history, reaching $400M in annual recurring revenue in just eight months.</a:t>
            </a:r>
          </a:p>
          <a:p>
            <a:pPr marL="0" lvl="0" indent="0">
              <a:buNone/>
            </a:pPr>
            <a:r>
              <a:rPr sz="800" dirty="0"/>
              <a:t>The age of vibe coding had arrived.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wrap="square" anchor="b">
            <a:normAutofit/>
          </a:bodyPr>
          <a:lstStyle/>
          <a:p>
            <a:pPr marL="0" lvl="0" indent="0">
              <a:lnSpc>
                <a:spcPct val="90000"/>
              </a:lnSpc>
              <a:buNone/>
            </a:pPr>
            <a:r>
              <a:rPr lang="en-US" sz="2900" dirty="0"/>
              <a:t>1.3 The Economics - Token Costs and the ROI-Revolution</a:t>
            </a:r>
          </a:p>
        </p:txBody>
      </p:sp>
      <p:sp>
        <p:nvSpPr>
          <p:cNvPr id="4" name="Text Placeholder 3"/>
          <p:cNvSpPr>
            <a:spLocks noGrp="1"/>
          </p:cNvSpPr>
          <p:nvPr>
            <p:ph sz="half" idx="1"/>
          </p:nvPr>
        </p:nvSpPr>
        <p:spPr>
          <a:xfrm>
            <a:off x="457200" y="1200151"/>
            <a:ext cx="4038600" cy="3394472"/>
          </a:xfrm>
        </p:spPr>
        <p:txBody>
          <a:bodyPr>
            <a:normAutofit/>
          </a:bodyPr>
          <a:lstStyle/>
          <a:p>
            <a:pPr marL="0" lvl="0" indent="0">
              <a:lnSpc>
                <a:spcPct val="90000"/>
              </a:lnSpc>
              <a:buNone/>
            </a:pPr>
            <a:r>
              <a:rPr sz="1800"/>
              <a:t>AI models process text in units called tokens, roughly three quarters of a word. Every time you send a prompt and receive a response, you’re consuming tokens. Understanding the economics of tokens is key to understanding why vibe coding exploded when it did.</a:t>
            </a:r>
          </a:p>
          <a:p>
            <a:pPr marL="0" lvl="0" indent="0">
              <a:lnSpc>
                <a:spcPct val="90000"/>
              </a:lnSpc>
              <a:spcBef>
                <a:spcPts val="3000"/>
              </a:spcBef>
              <a:buNone/>
            </a:pPr>
            <a:r>
              <a:rPr sz="1800" b="1"/>
              <a:t>The Price Collapse</a:t>
            </a:r>
          </a:p>
          <a:p>
            <a:pPr marL="0" lvl="0" indent="0">
              <a:lnSpc>
                <a:spcPct val="90000"/>
              </a:lnSpc>
              <a:buNone/>
            </a:pPr>
            <a:r>
              <a:rPr sz="1800"/>
              <a:t>The cost of AI tokens has fallen at a staggering rate:</a:t>
            </a:r>
          </a:p>
        </p:txBody>
      </p:sp>
      <p:graphicFrame>
        <p:nvGraphicFramePr>
          <p:cNvPr id="6" name="Content Placeholder 5"/>
          <p:cNvGraphicFramePr>
            <a:graphicFrameLocks noGrp="1"/>
          </p:cNvGraphicFramePr>
          <p:nvPr>
            <p:ph sz="half" idx="2"/>
            <p:extLst>
              <p:ext uri="{D42A27DB-BD31-4B8C-83A1-F6EECF244321}">
                <p14:modId xmlns:p14="http://schemas.microsoft.com/office/powerpoint/2010/main" val="2025071439"/>
              </p:ext>
            </p:extLst>
          </p:nvPr>
        </p:nvGraphicFramePr>
        <p:xfrm>
          <a:off x="4706581" y="1200151"/>
          <a:ext cx="3921841" cy="3394481"/>
        </p:xfrm>
        <a:graphic>
          <a:graphicData uri="http://schemas.openxmlformats.org/drawingml/2006/table">
            <a:tbl>
              <a:tblPr firstRow="1" bandRow="1">
                <a:noFill/>
                <a:tableStyleId>{5C22544A-7EE6-4342-B048-85BDC9FD1C3A}</a:tableStyleId>
              </a:tblPr>
              <a:tblGrid>
                <a:gridCol w="677576">
                  <a:extLst>
                    <a:ext uri="{9D8B030D-6E8A-4147-A177-3AD203B41FA5}">
                      <a16:colId xmlns:a16="http://schemas.microsoft.com/office/drawing/2014/main" val="20000"/>
                    </a:ext>
                  </a:extLst>
                </a:gridCol>
                <a:gridCol w="1100750">
                  <a:extLst>
                    <a:ext uri="{9D8B030D-6E8A-4147-A177-3AD203B41FA5}">
                      <a16:colId xmlns:a16="http://schemas.microsoft.com/office/drawing/2014/main" val="20001"/>
                    </a:ext>
                  </a:extLst>
                </a:gridCol>
                <a:gridCol w="1113287">
                  <a:extLst>
                    <a:ext uri="{9D8B030D-6E8A-4147-A177-3AD203B41FA5}">
                      <a16:colId xmlns:a16="http://schemas.microsoft.com/office/drawing/2014/main" val="20002"/>
                    </a:ext>
                  </a:extLst>
                </a:gridCol>
                <a:gridCol w="1030228">
                  <a:extLst>
                    <a:ext uri="{9D8B030D-6E8A-4147-A177-3AD203B41FA5}">
                      <a16:colId xmlns:a16="http://schemas.microsoft.com/office/drawing/2014/main" val="20003"/>
                    </a:ext>
                  </a:extLst>
                </a:gridCol>
              </a:tblGrid>
              <a:tr h="364253">
                <a:tc>
                  <a:txBody>
                    <a:bodyPr/>
                    <a:lstStyle/>
                    <a:p>
                      <a:pPr marL="0" lvl="0" indent="0">
                        <a:buNone/>
                      </a:pPr>
                      <a:r>
                        <a:rPr sz="700" b="1" cap="none" spc="0">
                          <a:solidFill>
                            <a:schemeClr val="tx1"/>
                          </a:solidFill>
                        </a:rPr>
                        <a:t>Year</a:t>
                      </a:r>
                    </a:p>
                  </a:txBody>
                  <a:tcPr marL="0" marR="33520" marT="13408" marB="100560">
                    <a:lnL w="12700" cmpd="sng">
                      <a:noFill/>
                    </a:lnL>
                    <a:lnR w="12700" cmpd="sng">
                      <a:noFill/>
                    </a:lnR>
                    <a:lnT w="28575" cap="flat" cmpd="sng" algn="ctr">
                      <a:solidFill>
                        <a:schemeClr val="tx1"/>
                      </a:solidFill>
                      <a:prstDash val="solid"/>
                    </a:lnT>
                    <a:lnB w="38100" cmpd="sng">
                      <a:noFill/>
                    </a:lnB>
                    <a:noFill/>
                  </a:tcPr>
                </a:tc>
                <a:tc>
                  <a:txBody>
                    <a:bodyPr/>
                    <a:lstStyle/>
                    <a:p>
                      <a:pPr marL="0" lvl="0" indent="0">
                        <a:buNone/>
                      </a:pPr>
                      <a:r>
                        <a:rPr sz="700" b="1" cap="none" spc="0">
                          <a:solidFill>
                            <a:schemeClr val="tx1"/>
                          </a:solidFill>
                        </a:rPr>
                        <a:t>Model</a:t>
                      </a:r>
                    </a:p>
                  </a:txBody>
                  <a:tcPr marL="0" marR="33520" marT="13408" marB="100560">
                    <a:lnL w="12700" cmpd="sng">
                      <a:noFill/>
                    </a:lnL>
                    <a:lnR w="12700" cmpd="sng">
                      <a:noFill/>
                    </a:lnR>
                    <a:lnT w="28575" cap="flat" cmpd="sng" algn="ctr">
                      <a:solidFill>
                        <a:schemeClr val="tx1"/>
                      </a:solidFill>
                      <a:prstDash val="solid"/>
                    </a:lnT>
                    <a:lnB w="38100" cmpd="sng">
                      <a:noFill/>
                    </a:lnB>
                    <a:noFill/>
                  </a:tcPr>
                </a:tc>
                <a:tc>
                  <a:txBody>
                    <a:bodyPr/>
                    <a:lstStyle/>
                    <a:p>
                      <a:pPr marL="0" lvl="0" indent="0" algn="r">
                        <a:buNone/>
                      </a:pPr>
                      <a:r>
                        <a:rPr sz="700" b="1" cap="none" spc="0">
                          <a:solidFill>
                            <a:schemeClr val="tx1"/>
                          </a:solidFill>
                        </a:rPr>
                        <a:t>Cost per 1M Input Tokens</a:t>
                      </a:r>
                    </a:p>
                  </a:txBody>
                  <a:tcPr marL="0" marR="33520" marT="13408" marB="100560">
                    <a:lnL w="12700" cmpd="sng">
                      <a:noFill/>
                    </a:lnL>
                    <a:lnR w="12700" cmpd="sng">
                      <a:noFill/>
                    </a:lnR>
                    <a:lnT w="28575" cap="flat" cmpd="sng" algn="ctr">
                      <a:solidFill>
                        <a:schemeClr val="tx1"/>
                      </a:solidFill>
                      <a:prstDash val="solid"/>
                    </a:lnT>
                    <a:lnB w="38100" cmpd="sng">
                      <a:noFill/>
                    </a:lnB>
                    <a:noFill/>
                  </a:tcPr>
                </a:tc>
                <a:tc>
                  <a:txBody>
                    <a:bodyPr/>
                    <a:lstStyle/>
                    <a:p>
                      <a:pPr marL="0" lvl="0" indent="0" algn="r">
                        <a:buNone/>
                      </a:pPr>
                      <a:r>
                        <a:rPr sz="700" b="1" cap="none" spc="0">
                          <a:solidFill>
                            <a:schemeClr val="tx1"/>
                          </a:solidFill>
                        </a:rPr>
                        <a:t>Relative Cost</a:t>
                      </a:r>
                    </a:p>
                  </a:txBody>
                  <a:tcPr marL="0" marR="33520" marT="13408" marB="100560">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10000"/>
                  </a:ext>
                </a:extLst>
              </a:tr>
              <a:tr h="252519">
                <a:tc>
                  <a:txBody>
                    <a:bodyPr/>
                    <a:lstStyle/>
                    <a:p>
                      <a:pPr marL="0" lvl="0" indent="0">
                        <a:buNone/>
                      </a:pPr>
                      <a:r>
                        <a:rPr sz="700" cap="none" spc="0">
                          <a:solidFill>
                            <a:schemeClr val="tx1"/>
                          </a:solidFill>
                        </a:rPr>
                        <a:t>2020</a:t>
                      </a:r>
                    </a:p>
                  </a:txBody>
                  <a:tcPr marL="0" marR="33520" marT="13408" marB="100560">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marL="0" lvl="0" indent="0">
                        <a:buNone/>
                      </a:pPr>
                      <a:r>
                        <a:rPr sz="700" cap="none" spc="0">
                          <a:solidFill>
                            <a:schemeClr val="tx1"/>
                          </a:solidFill>
                        </a:rPr>
                        <a:t>GPT-3 (davinci)</a:t>
                      </a:r>
                    </a:p>
                  </a:txBody>
                  <a:tcPr marL="0" marR="33520" marT="13408" marB="100560">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marL="0" lvl="0" indent="0" algn="r">
                        <a:buNone/>
                      </a:pPr>
                      <a:r>
                        <a:rPr sz="700" cap="none" spc="0">
                          <a:solidFill>
                            <a:schemeClr val="tx1"/>
                          </a:solidFill>
                        </a:rPr>
                        <a:t>$60.00</a:t>
                      </a:r>
                    </a:p>
                  </a:txBody>
                  <a:tcPr marL="0" marR="33520" marT="13408" marB="100560">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marL="0" lvl="0" indent="0" algn="r">
                        <a:buNone/>
                      </a:pPr>
                      <a:r>
                        <a:rPr sz="700" cap="none" spc="0">
                          <a:solidFill>
                            <a:schemeClr val="tx1"/>
                          </a:solidFill>
                        </a:rPr>
                        <a:t>600x</a:t>
                      </a:r>
                    </a:p>
                  </a:txBody>
                  <a:tcPr marL="0" marR="33520" marT="13408" marB="100560">
                    <a:lnL w="12700" cmpd="sng">
                      <a:noFill/>
                      <a:prstDash val="solid"/>
                    </a:lnL>
                    <a:lnR w="12700" cmpd="sng">
                      <a:noFill/>
                      <a:prstDash val="solid"/>
                    </a:lnR>
                    <a:lnT w="38100" cmpd="sng">
                      <a:noFill/>
                    </a:lnT>
                    <a:lnB w="6350" cap="flat" cmpd="sng" algn="ctr">
                      <a:solidFill>
                        <a:schemeClr val="tx1"/>
                      </a:solidFill>
                      <a:prstDash val="solid"/>
                    </a:lnB>
                    <a:noFill/>
                  </a:tcPr>
                </a:tc>
                <a:extLst>
                  <a:ext uri="{0D108BD9-81ED-4DB2-BD59-A6C34878D82A}">
                    <a16:rowId xmlns:a16="http://schemas.microsoft.com/office/drawing/2014/main" val="10001"/>
                  </a:ext>
                </a:extLst>
              </a:tr>
              <a:tr h="252519">
                <a:tc>
                  <a:txBody>
                    <a:bodyPr/>
                    <a:lstStyle/>
                    <a:p>
                      <a:pPr marL="0" lvl="0" indent="0">
                        <a:buNone/>
                      </a:pPr>
                      <a:r>
                        <a:rPr sz="700" cap="none" spc="0">
                          <a:solidFill>
                            <a:schemeClr val="tx1"/>
                          </a:solidFill>
                        </a:rPr>
                        <a:t>2023</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buNone/>
                      </a:pPr>
                      <a:r>
                        <a:rPr sz="700" cap="none" spc="0">
                          <a:solidFill>
                            <a:schemeClr val="tx1"/>
                          </a:solidFill>
                        </a:rPr>
                        <a:t>GPT-4</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$30.00</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300x</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252519">
                <a:tc>
                  <a:txBody>
                    <a:bodyPr/>
                    <a:lstStyle/>
                    <a:p>
                      <a:pPr marL="0" lvl="0" indent="0">
                        <a:buNone/>
                      </a:pPr>
                      <a:r>
                        <a:rPr sz="700" cap="none" spc="0">
                          <a:solidFill>
                            <a:schemeClr val="tx1"/>
                          </a:solidFill>
                        </a:rPr>
                        <a:t>2024</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buNone/>
                      </a:pPr>
                      <a:r>
                        <a:rPr sz="700" cap="none" spc="0">
                          <a:solidFill>
                            <a:schemeClr val="tx1"/>
                          </a:solidFill>
                        </a:rPr>
                        <a:t>GPT-4o</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$2.50</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25x</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0003"/>
                  </a:ext>
                </a:extLst>
              </a:tr>
              <a:tr h="252519">
                <a:tc>
                  <a:txBody>
                    <a:bodyPr/>
                    <a:lstStyle/>
                    <a:p>
                      <a:pPr marL="0" lvl="0" indent="0">
                        <a:buNone/>
                      </a:pPr>
                      <a:r>
                        <a:rPr sz="700" cap="none" spc="0">
                          <a:solidFill>
                            <a:schemeClr val="tx1"/>
                          </a:solidFill>
                        </a:rPr>
                        <a:t>2024</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buNone/>
                      </a:pPr>
                      <a:r>
                        <a:rPr sz="700" cap="none" spc="0">
                          <a:solidFill>
                            <a:schemeClr val="tx1"/>
                          </a:solidFill>
                        </a:rPr>
                        <a:t>GPT-4o-mini</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$0.15</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1.5x</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252519">
                <a:tc>
                  <a:txBody>
                    <a:bodyPr/>
                    <a:lstStyle/>
                    <a:p>
                      <a:pPr marL="0" lvl="0" indent="0">
                        <a:buNone/>
                      </a:pPr>
                      <a:r>
                        <a:rPr sz="700" cap="none" spc="0">
                          <a:solidFill>
                            <a:schemeClr val="tx1"/>
                          </a:solidFill>
                        </a:rPr>
                        <a:t>2024</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buNone/>
                      </a:pPr>
                      <a:r>
                        <a:rPr sz="700" cap="none" spc="0">
                          <a:solidFill>
                            <a:schemeClr val="tx1"/>
                          </a:solidFill>
                        </a:rPr>
                        <a:t>Claude 3.5 Sonnet</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$3.00</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30x</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0005"/>
                  </a:ext>
                </a:extLst>
              </a:tr>
              <a:tr h="252519">
                <a:tc>
                  <a:txBody>
                    <a:bodyPr/>
                    <a:lstStyle/>
                    <a:p>
                      <a:pPr marL="0" lvl="0" indent="0">
                        <a:buNone/>
                      </a:pPr>
                      <a:r>
                        <a:rPr sz="700" cap="none" spc="0">
                          <a:solidFill>
                            <a:schemeClr val="tx1"/>
                          </a:solidFill>
                        </a:rPr>
                        <a:t>2025</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buNone/>
                      </a:pPr>
                      <a:r>
                        <a:rPr sz="700" cap="none" spc="0">
                          <a:solidFill>
                            <a:schemeClr val="tx1"/>
                          </a:solidFill>
                        </a:rPr>
                        <a:t>GPT-4.1</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$2.00</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20x</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6"/>
                  </a:ext>
                </a:extLst>
              </a:tr>
              <a:tr h="252519">
                <a:tc>
                  <a:txBody>
                    <a:bodyPr/>
                    <a:lstStyle/>
                    <a:p>
                      <a:pPr marL="0" lvl="0" indent="0">
                        <a:buNone/>
                      </a:pPr>
                      <a:r>
                        <a:rPr sz="700" cap="none" spc="0">
                          <a:solidFill>
                            <a:schemeClr val="tx1"/>
                          </a:solidFill>
                        </a:rPr>
                        <a:t>2025</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buNone/>
                      </a:pPr>
                      <a:r>
                        <a:rPr sz="700" cap="none" spc="0">
                          <a:solidFill>
                            <a:schemeClr val="tx1"/>
                          </a:solidFill>
                        </a:rPr>
                        <a:t>GPT-4.1-nano</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$0.10</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1x</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0007"/>
                  </a:ext>
                </a:extLst>
              </a:tr>
              <a:tr h="252519">
                <a:tc>
                  <a:txBody>
                    <a:bodyPr/>
                    <a:lstStyle/>
                    <a:p>
                      <a:pPr marL="0" lvl="0" indent="0">
                        <a:buNone/>
                      </a:pPr>
                      <a:r>
                        <a:rPr sz="700" cap="none" spc="0">
                          <a:solidFill>
                            <a:schemeClr val="tx1"/>
                          </a:solidFill>
                        </a:rPr>
                        <a:t>2025</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buNone/>
                      </a:pPr>
                      <a:r>
                        <a:rPr sz="700" cap="none" spc="0">
                          <a:solidFill>
                            <a:schemeClr val="tx1"/>
                          </a:solidFill>
                        </a:rPr>
                        <a:t>o3 / o4-mini</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$1.10-$2.00</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11-20x</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8"/>
                  </a:ext>
                </a:extLst>
              </a:tr>
              <a:tr h="252519">
                <a:tc>
                  <a:txBody>
                    <a:bodyPr/>
                    <a:lstStyle/>
                    <a:p>
                      <a:pPr marL="0" lvl="0" indent="0">
                        <a:buNone/>
                      </a:pPr>
                      <a:r>
                        <a:rPr sz="700" cap="none" spc="0">
                          <a:solidFill>
                            <a:schemeClr val="tx1"/>
                          </a:solidFill>
                        </a:rPr>
                        <a:t>2025</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buNone/>
                      </a:pPr>
                      <a:r>
                        <a:rPr sz="700" cap="none" spc="0">
                          <a:solidFill>
                            <a:schemeClr val="tx1"/>
                          </a:solidFill>
                        </a:rPr>
                        <a:t>Claude Sonnet 4.6</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$3.00</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30x</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0009"/>
                  </a:ext>
                </a:extLst>
              </a:tr>
              <a:tr h="252519">
                <a:tc>
                  <a:txBody>
                    <a:bodyPr/>
                    <a:lstStyle/>
                    <a:p>
                      <a:pPr marL="0" lvl="0" indent="0">
                        <a:buNone/>
                      </a:pPr>
                      <a:r>
                        <a:rPr sz="700" cap="none" spc="0">
                          <a:solidFill>
                            <a:schemeClr val="tx1"/>
                          </a:solidFill>
                        </a:rPr>
                        <a:t>2025</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buNone/>
                      </a:pPr>
                      <a:r>
                        <a:rPr sz="700" cap="none" spc="0">
                          <a:solidFill>
                            <a:schemeClr val="tx1"/>
                          </a:solidFill>
                        </a:rPr>
                        <a:t>Claude Opus 4.6</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$5.00</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50x</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10"/>
                  </a:ext>
                </a:extLst>
              </a:tr>
              <a:tr h="252519">
                <a:tc>
                  <a:txBody>
                    <a:bodyPr/>
                    <a:lstStyle/>
                    <a:p>
                      <a:pPr marL="0" lvl="0" indent="0">
                        <a:buNone/>
                      </a:pPr>
                      <a:r>
                        <a:rPr sz="700" cap="none" spc="0">
                          <a:solidFill>
                            <a:schemeClr val="tx1"/>
                          </a:solidFill>
                        </a:rPr>
                        <a:t>2025</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buNone/>
                      </a:pPr>
                      <a:r>
                        <a:rPr sz="700" cap="none" spc="0">
                          <a:solidFill>
                            <a:schemeClr val="tx1"/>
                          </a:solidFill>
                        </a:rPr>
                        <a:t>Gemini 2.5 Flash</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$0.30</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marL="0" lvl="0" indent="0" algn="r">
                        <a:buNone/>
                      </a:pPr>
                      <a:r>
                        <a:rPr sz="700" cap="none" spc="0">
                          <a:solidFill>
                            <a:schemeClr val="tx1"/>
                          </a:solidFill>
                        </a:rPr>
                        <a:t>3x</a:t>
                      </a:r>
                    </a:p>
                  </a:txBody>
                  <a:tcPr marL="0" marR="33520" marT="13408" marB="100560">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0011"/>
                  </a:ext>
                </a:extLst>
              </a:tr>
              <a:tr h="252519">
                <a:tc>
                  <a:txBody>
                    <a:bodyPr/>
                    <a:lstStyle/>
                    <a:p>
                      <a:pPr marL="0" lvl="0" indent="0">
                        <a:buNone/>
                      </a:pPr>
                      <a:r>
                        <a:rPr sz="700" cap="none" spc="0">
                          <a:solidFill>
                            <a:schemeClr val="tx1"/>
                          </a:solidFill>
                        </a:rPr>
                        <a:t>2025</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buNone/>
                      </a:pPr>
                      <a:r>
                        <a:rPr sz="700" cap="none" spc="0">
                          <a:solidFill>
                            <a:schemeClr val="tx1"/>
                          </a:solidFill>
                        </a:rPr>
                        <a:t>Gemini 2.5 Pro</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$1.25</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lvl="0" indent="0" algn="r">
                        <a:buNone/>
                      </a:pPr>
                      <a:r>
                        <a:rPr sz="700" cap="none" spc="0">
                          <a:solidFill>
                            <a:schemeClr val="tx1"/>
                          </a:solidFill>
                        </a:rPr>
                        <a:t>12.5x</a:t>
                      </a:r>
                    </a:p>
                  </a:txBody>
                  <a:tcPr marL="0" marR="33520" marT="13408" marB="100560">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40DC1E-85E2-C8F4-C781-5DBA3B24B32B}"/>
              </a:ext>
            </a:extLst>
          </p:cNvPr>
          <p:cNvSpPr>
            <a:spLocks noGrp="1"/>
          </p:cNvSpPr>
          <p:nvPr>
            <p:ph type="title"/>
          </p:nvPr>
        </p:nvSpPr>
        <p:spPr>
          <a:xfrm>
            <a:off x="457201" y="204787"/>
            <a:ext cx="3008313" cy="871538"/>
          </a:xfrm>
        </p:spPr>
        <p:txBody>
          <a:bodyPr/>
          <a:lstStyle/>
          <a:p>
            <a:endParaRPr lang="en-US"/>
          </a:p>
        </p:txBody>
      </p:sp>
      <p:sp>
        <p:nvSpPr>
          <p:cNvPr id="4" name="Text Placeholder 3"/>
          <p:cNvSpPr>
            <a:spLocks noGrp="1"/>
          </p:cNvSpPr>
          <p:nvPr>
            <p:ph type="body" sz="half" idx="2"/>
          </p:nvPr>
        </p:nvSpPr>
        <p:spPr>
          <a:xfrm>
            <a:off x="457201" y="1076326"/>
            <a:ext cx="3008313" cy="3518297"/>
          </a:xfrm>
        </p:spPr>
        <p:txBody>
          <a:bodyPr>
            <a:normAutofit/>
          </a:bodyPr>
          <a:lstStyle/>
          <a:p>
            <a:pPr marL="0" lvl="0" indent="0">
              <a:lnSpc>
                <a:spcPct val="90000"/>
              </a:lnSpc>
              <a:buNone/>
            </a:pPr>
            <a:r>
              <a:rPr lang="en-US" sz="1000"/>
              <a:t>From the most expensive model in 2020 to the cheapest capable model in 2025, costs fell 600x while quality improved dramatically. Today’s $0.10 per million-token model is far more capable than the $60 per million-token model from five years ago. Even frontier models like Claude Opus 4.6 or Gemini 2.5 Pro cost a fraction of what GPT-4 did at launch.</a:t>
            </a:r>
          </a:p>
          <a:p>
            <a:pPr marL="0" lvl="0" indent="0">
              <a:lnSpc>
                <a:spcPct val="90000"/>
              </a:lnSpc>
              <a:spcBef>
                <a:spcPts val="3000"/>
              </a:spcBef>
              <a:buNone/>
            </a:pPr>
            <a:r>
              <a:rPr lang="en-US" sz="1000" b="1"/>
              <a:t>What It Actually Costs</a:t>
            </a:r>
          </a:p>
          <a:p>
            <a:pPr marL="0" lvl="0" indent="0">
              <a:lnSpc>
                <a:spcPct val="90000"/>
              </a:lnSpc>
              <a:buNone/>
            </a:pPr>
            <a:r>
              <a:rPr lang="en-US" sz="1000"/>
              <a:t>The cheap per-token numbers hide an important reality: a serious vibe coder burns through a lot of tokens. Agentic coding tools don’t just send your prompt and get a response. They run loops. They read your files, generate code, run it, read the error, fix it, and repeat. Each cycle resends the growing conversation context. A single complex task can consume hundreds of thousands of tokens. A full day of heavy vibe coding can easily hit 5 to 20 million tokens.</a:t>
            </a:r>
          </a:p>
          <a:p>
            <a:pPr marL="0" lvl="0" indent="0">
              <a:lnSpc>
                <a:spcPct val="90000"/>
              </a:lnSpc>
              <a:buNone/>
            </a:pPr>
            <a:r>
              <a:rPr lang="en-US" sz="1000"/>
              <a:t>The result: a dedicated vibe coder realistically spends $100 to $300 per month on AI tools.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557544543"/>
              </p:ext>
            </p:extLst>
          </p:nvPr>
        </p:nvGraphicFramePr>
        <p:xfrm>
          <a:off x="3575050" y="411471"/>
          <a:ext cx="5111751" cy="3976471"/>
        </p:xfrm>
        <a:graphic>
          <a:graphicData uri="http://schemas.openxmlformats.org/drawingml/2006/table">
            <a:tbl>
              <a:tblPr firstRow="1" bandRow="1">
                <a:solidFill>
                  <a:schemeClr val="bg1">
                    <a:lumMod val="95000"/>
                  </a:schemeClr>
                </a:solidFill>
                <a:tableStyleId>{5C22544A-7EE6-4342-B048-85BDC9FD1C3A}</a:tableStyleId>
              </a:tblPr>
              <a:tblGrid>
                <a:gridCol w="1726422">
                  <a:extLst>
                    <a:ext uri="{9D8B030D-6E8A-4147-A177-3AD203B41FA5}">
                      <a16:colId xmlns:a16="http://schemas.microsoft.com/office/drawing/2014/main" val="20000"/>
                    </a:ext>
                  </a:extLst>
                </a:gridCol>
                <a:gridCol w="1855978">
                  <a:extLst>
                    <a:ext uri="{9D8B030D-6E8A-4147-A177-3AD203B41FA5}">
                      <a16:colId xmlns:a16="http://schemas.microsoft.com/office/drawing/2014/main" val="20001"/>
                    </a:ext>
                  </a:extLst>
                </a:gridCol>
                <a:gridCol w="1529351">
                  <a:extLst>
                    <a:ext uri="{9D8B030D-6E8A-4147-A177-3AD203B41FA5}">
                      <a16:colId xmlns:a16="http://schemas.microsoft.com/office/drawing/2014/main" val="20002"/>
                    </a:ext>
                  </a:extLst>
                </a:gridCol>
              </a:tblGrid>
              <a:tr h="781280">
                <a:tc>
                  <a:txBody>
                    <a:bodyPr/>
                    <a:lstStyle/>
                    <a:p>
                      <a:pPr marL="0" lvl="0" indent="0">
                        <a:buNone/>
                      </a:pPr>
                      <a:r>
                        <a:rPr sz="1800" b="1" cap="none" spc="0">
                          <a:solidFill>
                            <a:schemeClr val="tx1"/>
                          </a:solidFill>
                        </a:rPr>
                        <a:t>Usage Level</a:t>
                      </a:r>
                    </a:p>
                  </a:txBody>
                  <a:tcPr marL="73573" marR="105105" marT="21021" marB="157657"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marL="0" lvl="0" indent="0">
                        <a:buNone/>
                      </a:pPr>
                      <a:r>
                        <a:rPr sz="1800" b="1" cap="none" spc="0">
                          <a:solidFill>
                            <a:schemeClr val="tx1"/>
                          </a:solidFill>
                        </a:rPr>
                        <a:t>What It Looks Like</a:t>
                      </a:r>
                    </a:p>
                  </a:txBody>
                  <a:tcPr marL="73573" marR="105105" marT="21021" marB="157657"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marL="0" lvl="0" indent="0">
                        <a:buNone/>
                      </a:pPr>
                      <a:r>
                        <a:rPr sz="1800" b="1" cap="none" spc="0">
                          <a:solidFill>
                            <a:schemeClr val="tx1"/>
                          </a:solidFill>
                        </a:rPr>
                        <a:t>Monthly Cost</a:t>
                      </a:r>
                    </a:p>
                  </a:txBody>
                  <a:tcPr marL="73573" marR="105105" marT="21021" marB="157657"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10000"/>
                  </a:ext>
                </a:extLst>
              </a:tr>
              <a:tr h="851350">
                <a:tc>
                  <a:txBody>
                    <a:bodyPr/>
                    <a:lstStyle/>
                    <a:p>
                      <a:pPr marL="0" lvl="0" indent="0">
                        <a:buNone/>
                      </a:pPr>
                      <a:r>
                        <a:rPr sz="1400" cap="none" spc="0">
                          <a:solidFill>
                            <a:schemeClr val="tx1"/>
                          </a:solidFill>
                        </a:rPr>
                        <a:t>Casual</a:t>
                      </a:r>
                    </a:p>
                  </a:txBody>
                  <a:tcPr marL="73573" marR="105105" marT="21021" marB="157657">
                    <a:lnL w="12700" cap="flat" cmpd="sng" algn="ctr">
                      <a:solidFill>
                        <a:schemeClr val="accent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0" lvl="0" indent="0">
                        <a:buNone/>
                      </a:pPr>
                      <a:r>
                        <a:rPr sz="1400" cap="none" spc="0">
                          <a:solidFill>
                            <a:schemeClr val="tx1"/>
                          </a:solidFill>
                        </a:rPr>
                        <a:t>Occasional questions, quick snippets</a:t>
                      </a:r>
                    </a:p>
                  </a:txBody>
                  <a:tcPr marL="73573" marR="105105" marT="21021" marB="157657">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0" lvl="0" indent="0">
                        <a:buNone/>
                      </a:pPr>
                      <a:r>
                        <a:rPr sz="1400" cap="none" spc="0">
                          <a:solidFill>
                            <a:schemeClr val="tx1"/>
                          </a:solidFill>
                        </a:rPr>
                        <a:t>Free-$20 / mo</a:t>
                      </a:r>
                    </a:p>
                  </a:txBody>
                  <a:tcPr marL="73573" marR="105105" marT="21021" marB="157657">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10001"/>
                  </a:ext>
                </a:extLst>
              </a:tr>
              <a:tr h="641141">
                <a:tc>
                  <a:txBody>
                    <a:bodyPr/>
                    <a:lstStyle/>
                    <a:p>
                      <a:pPr marL="0" lvl="0" indent="0">
                        <a:buNone/>
                      </a:pPr>
                      <a:r>
                        <a:rPr sz="1400" cap="none" spc="0">
                          <a:solidFill>
                            <a:schemeClr val="tx1"/>
                          </a:solidFill>
                        </a:rPr>
                        <a:t>Daily driver</a:t>
                      </a:r>
                    </a:p>
                  </a:txBody>
                  <a:tcPr marL="73573" marR="105105" marT="21021" marB="157657">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lvl="0" indent="0">
                        <a:buNone/>
                      </a:pPr>
                      <a:r>
                        <a:rPr sz="1400" cap="none" spc="0">
                          <a:solidFill>
                            <a:schemeClr val="tx1"/>
                          </a:solidFill>
                        </a:rPr>
                        <a:t>AI pair programming throughout the day</a:t>
                      </a:r>
                    </a:p>
                  </a:txBody>
                  <a:tcPr marL="73573" marR="105105" marT="21021" marB="157657">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lvl="0" indent="0">
                        <a:buNone/>
                      </a:pPr>
                      <a:r>
                        <a:rPr sz="1400" cap="none" spc="0">
                          <a:solidFill>
                            <a:schemeClr val="tx1"/>
                          </a:solidFill>
                        </a:rPr>
                        <a:t>$20-$100 / mo</a:t>
                      </a:r>
                    </a:p>
                  </a:txBody>
                  <a:tcPr marL="73573" marR="105105" marT="21021" marB="157657">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0002"/>
                  </a:ext>
                </a:extLst>
              </a:tr>
              <a:tr h="851350">
                <a:tc>
                  <a:txBody>
                    <a:bodyPr/>
                    <a:lstStyle/>
                    <a:p>
                      <a:pPr marL="0" lvl="0" indent="0">
                        <a:buNone/>
                      </a:pPr>
                      <a:r>
                        <a:rPr sz="1400" cap="none" spc="0">
                          <a:solidFill>
                            <a:schemeClr val="tx1"/>
                          </a:solidFill>
                        </a:rPr>
                        <a:t>Full vibe coder</a:t>
                      </a:r>
                    </a:p>
                  </a:txBody>
                  <a:tcPr marL="73573" marR="105105" marT="21021" marB="157657">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0" lvl="0" indent="0">
                        <a:buNone/>
                      </a:pPr>
                      <a:r>
                        <a:rPr sz="1400" cap="none" spc="0">
                          <a:solidFill>
                            <a:schemeClr val="tx1"/>
                          </a:solidFill>
                        </a:rPr>
                        <a:t>Agentic workflows, building entire features via prompt</a:t>
                      </a:r>
                    </a:p>
                  </a:txBody>
                  <a:tcPr marL="73573" marR="105105" marT="21021" marB="157657">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0" lvl="0" indent="0">
                        <a:buNone/>
                      </a:pPr>
                      <a:r>
                        <a:rPr sz="1400" cap="none" spc="0">
                          <a:solidFill>
                            <a:schemeClr val="tx1"/>
                          </a:solidFill>
                        </a:rPr>
                        <a:t>$100-$300 / mo</a:t>
                      </a:r>
                    </a:p>
                  </a:txBody>
                  <a:tcPr marL="73573" marR="105105" marT="21021" marB="157657">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0003"/>
                  </a:ext>
                </a:extLst>
              </a:tr>
              <a:tr h="851350">
                <a:tc>
                  <a:txBody>
                    <a:bodyPr/>
                    <a:lstStyle/>
                    <a:p>
                      <a:pPr marL="0" lvl="0" indent="0">
                        <a:buNone/>
                      </a:pPr>
                      <a:r>
                        <a:rPr sz="1400" cap="none" spc="0">
                          <a:solidFill>
                            <a:schemeClr val="tx1"/>
                          </a:solidFill>
                        </a:rPr>
                        <a:t>Power user / team</a:t>
                      </a:r>
                    </a:p>
                  </a:txBody>
                  <a:tcPr marL="73573" marR="105105" marT="21021" marB="157657">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lvl="0" indent="0">
                        <a:buNone/>
                      </a:pPr>
                      <a:r>
                        <a:rPr sz="1400" cap="none" spc="0">
                          <a:solidFill>
                            <a:schemeClr val="tx1"/>
                          </a:solidFill>
                        </a:rPr>
                        <a:t>Multiple tools, heavy API usage, custom pipelines</a:t>
                      </a:r>
                    </a:p>
                  </a:txBody>
                  <a:tcPr marL="73573" marR="105105" marT="21021" marB="157657">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lvl="0" indent="0">
                        <a:buNone/>
                      </a:pPr>
                      <a:r>
                        <a:rPr sz="1400" cap="none" spc="0">
                          <a:solidFill>
                            <a:schemeClr val="tx1"/>
                          </a:solidFill>
                        </a:rPr>
                        <a:t>$300-$1,000+ / mo</a:t>
                      </a:r>
                    </a:p>
                  </a:txBody>
                  <a:tcPr marL="73573" marR="105105" marT="21021" marB="157657">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49D48AD-8460-2FAD-0A18-CE22BCEDAA23}"/>
              </a:ext>
            </a:extLst>
          </p:cNvPr>
          <p:cNvSpPr>
            <a:spLocks noGrp="1"/>
          </p:cNvSpPr>
          <p:nvPr>
            <p:ph type="title"/>
          </p:nvPr>
        </p:nvSpPr>
        <p:spPr>
          <a:xfrm>
            <a:off x="457200" y="205979"/>
            <a:ext cx="8229600" cy="857250"/>
          </a:xfrm>
        </p:spPr>
        <p:txBody>
          <a:bodyPr/>
          <a:lstStyle/>
          <a:p>
            <a:endParaRPr lang="en-US"/>
          </a:p>
        </p:txBody>
      </p:sp>
      <p:sp>
        <p:nvSpPr>
          <p:cNvPr id="4" name="Text Placeholder 3"/>
          <p:cNvSpPr>
            <a:spLocks noGrp="1"/>
          </p:cNvSpPr>
          <p:nvPr>
            <p:ph sz="half" idx="1"/>
          </p:nvPr>
        </p:nvSpPr>
        <p:spPr>
          <a:xfrm>
            <a:off x="457200" y="1200151"/>
            <a:ext cx="4038600" cy="3394472"/>
          </a:xfrm>
        </p:spPr>
        <p:txBody>
          <a:bodyPr>
            <a:normAutofit/>
          </a:bodyPr>
          <a:lstStyle/>
          <a:p>
            <a:pPr marL="0" lvl="0" indent="0">
              <a:buNone/>
            </a:pPr>
            <a:r>
              <a:rPr sz="1900"/>
              <a:t>Typical stacks include Cursor Pro plus Claude Pro or Max, or multiple subscriptions when different tools excel at different tasks. Many vibe coders report spending $150 to $250 per month once they go all in.</a:t>
            </a:r>
          </a:p>
          <a:p>
            <a:pPr marL="0" lvl="0" indent="0">
              <a:spcBef>
                <a:spcPts val="3000"/>
              </a:spcBef>
              <a:buNone/>
            </a:pPr>
            <a:r>
              <a:rPr sz="1900" b="1"/>
              <a:t>The ROI Math</a:t>
            </a:r>
          </a:p>
          <a:p>
            <a:pPr marL="0" lvl="0" indent="0">
              <a:buNone/>
            </a:pPr>
            <a:r>
              <a:rPr sz="1900"/>
              <a:t>Those numbers sound high until you compare them with developer time:</a:t>
            </a:r>
          </a:p>
        </p:txBody>
      </p:sp>
      <p:graphicFrame>
        <p:nvGraphicFramePr>
          <p:cNvPr id="6" name="Content Placeholder 5"/>
          <p:cNvGraphicFramePr>
            <a:graphicFrameLocks noGrp="1"/>
          </p:cNvGraphicFramePr>
          <p:nvPr>
            <p:ph sz="half" idx="2"/>
            <p:extLst>
              <p:ext uri="{D42A27DB-BD31-4B8C-83A1-F6EECF244321}">
                <p14:modId xmlns:p14="http://schemas.microsoft.com/office/powerpoint/2010/main" val="1866475163"/>
              </p:ext>
            </p:extLst>
          </p:nvPr>
        </p:nvGraphicFramePr>
        <p:xfrm>
          <a:off x="4711601" y="1200151"/>
          <a:ext cx="3911798" cy="3394472"/>
        </p:xfrm>
        <a:graphic>
          <a:graphicData uri="http://schemas.openxmlformats.org/drawingml/2006/table">
            <a:tbl>
              <a:tblPr firstRow="1" bandRow="1">
                <a:tableStyleId>{5C22544A-7EE6-4342-B048-85BDC9FD1C3A}</a:tableStyleId>
              </a:tblPr>
              <a:tblGrid>
                <a:gridCol w="1653276">
                  <a:extLst>
                    <a:ext uri="{9D8B030D-6E8A-4147-A177-3AD203B41FA5}">
                      <a16:colId xmlns:a16="http://schemas.microsoft.com/office/drawing/2014/main" val="20000"/>
                    </a:ext>
                  </a:extLst>
                </a:gridCol>
                <a:gridCol w="2258522">
                  <a:extLst>
                    <a:ext uri="{9D8B030D-6E8A-4147-A177-3AD203B41FA5}">
                      <a16:colId xmlns:a16="http://schemas.microsoft.com/office/drawing/2014/main" val="20001"/>
                    </a:ext>
                  </a:extLst>
                </a:gridCol>
              </a:tblGrid>
              <a:tr h="848618">
                <a:tc>
                  <a:txBody>
                    <a:bodyPr/>
                    <a:lstStyle/>
                    <a:p>
                      <a:pPr marL="0" lvl="0" indent="0">
                        <a:buNone/>
                      </a:pPr>
                      <a:r>
                        <a:rPr sz="1700"/>
                        <a:t>Role</a:t>
                      </a:r>
                    </a:p>
                  </a:txBody>
                  <a:tcPr marL="114678" marR="114678" marT="57339" marB="57339"/>
                </a:tc>
                <a:tc>
                  <a:txBody>
                    <a:bodyPr/>
                    <a:lstStyle/>
                    <a:p>
                      <a:pPr marL="0" lvl="0" indent="0">
                        <a:buNone/>
                      </a:pPr>
                      <a:r>
                        <a:rPr sz="1700"/>
                        <a:t>Hourly Cost (Fully Loaded)</a:t>
                      </a:r>
                    </a:p>
                  </a:txBody>
                  <a:tcPr marL="114678" marR="114678" marT="57339" marB="57339"/>
                </a:tc>
                <a:extLst>
                  <a:ext uri="{0D108BD9-81ED-4DB2-BD59-A6C34878D82A}">
                    <a16:rowId xmlns:a16="http://schemas.microsoft.com/office/drawing/2014/main" val="10000"/>
                  </a:ext>
                </a:extLst>
              </a:tr>
              <a:tr h="848618">
                <a:tc>
                  <a:txBody>
                    <a:bodyPr/>
                    <a:lstStyle/>
                    <a:p>
                      <a:pPr marL="0" lvl="0" indent="0">
                        <a:buNone/>
                      </a:pPr>
                      <a:r>
                        <a:rPr sz="1700"/>
                        <a:t>Junior developer</a:t>
                      </a:r>
                    </a:p>
                  </a:txBody>
                  <a:tcPr marL="114678" marR="114678" marT="57339" marB="57339"/>
                </a:tc>
                <a:tc>
                  <a:txBody>
                    <a:bodyPr/>
                    <a:lstStyle/>
                    <a:p>
                      <a:pPr marL="0" lvl="0" indent="0">
                        <a:buNone/>
                      </a:pPr>
                      <a:r>
                        <a:rPr sz="1700"/>
                        <a:t>$35-$60 / hr</a:t>
                      </a:r>
                    </a:p>
                  </a:txBody>
                  <a:tcPr marL="114678" marR="114678" marT="57339" marB="57339"/>
                </a:tc>
                <a:extLst>
                  <a:ext uri="{0D108BD9-81ED-4DB2-BD59-A6C34878D82A}">
                    <a16:rowId xmlns:a16="http://schemas.microsoft.com/office/drawing/2014/main" val="10001"/>
                  </a:ext>
                </a:extLst>
              </a:tr>
              <a:tr h="848618">
                <a:tc>
                  <a:txBody>
                    <a:bodyPr/>
                    <a:lstStyle/>
                    <a:p>
                      <a:pPr marL="0" lvl="0" indent="0">
                        <a:buNone/>
                      </a:pPr>
                      <a:r>
                        <a:rPr sz="1700"/>
                        <a:t>Mid-level developer</a:t>
                      </a:r>
                    </a:p>
                  </a:txBody>
                  <a:tcPr marL="114678" marR="114678" marT="57339" marB="57339"/>
                </a:tc>
                <a:tc>
                  <a:txBody>
                    <a:bodyPr/>
                    <a:lstStyle/>
                    <a:p>
                      <a:pPr marL="0" lvl="0" indent="0">
                        <a:buNone/>
                      </a:pPr>
                      <a:r>
                        <a:rPr sz="1700"/>
                        <a:t>$60-$100 / hr</a:t>
                      </a:r>
                    </a:p>
                  </a:txBody>
                  <a:tcPr marL="114678" marR="114678" marT="57339" marB="57339"/>
                </a:tc>
                <a:extLst>
                  <a:ext uri="{0D108BD9-81ED-4DB2-BD59-A6C34878D82A}">
                    <a16:rowId xmlns:a16="http://schemas.microsoft.com/office/drawing/2014/main" val="10002"/>
                  </a:ext>
                </a:extLst>
              </a:tr>
              <a:tr h="848618">
                <a:tc>
                  <a:txBody>
                    <a:bodyPr/>
                    <a:lstStyle/>
                    <a:p>
                      <a:pPr marL="0" lvl="0" indent="0">
                        <a:buNone/>
                      </a:pPr>
                      <a:r>
                        <a:rPr sz="1700"/>
                        <a:t>Senior developer</a:t>
                      </a:r>
                    </a:p>
                  </a:txBody>
                  <a:tcPr marL="114678" marR="114678" marT="57339" marB="57339"/>
                </a:tc>
                <a:tc>
                  <a:txBody>
                    <a:bodyPr/>
                    <a:lstStyle/>
                    <a:p>
                      <a:pPr marL="0" lvl="0" indent="0">
                        <a:buNone/>
                      </a:pPr>
                      <a:r>
                        <a:rPr sz="1700"/>
                        <a:t>$100-$175 / hr</a:t>
                      </a:r>
                    </a:p>
                  </a:txBody>
                  <a:tcPr marL="114678" marR="114678" marT="57339" marB="57339"/>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80CC266-CC22-6230-38F9-9C62A9153C5C}"/>
              </a:ext>
            </a:extLst>
          </p:cNvPr>
          <p:cNvSpPr>
            <a:spLocks noGrp="1"/>
          </p:cNvSpPr>
          <p:nvPr>
            <p:ph type="title"/>
          </p:nvPr>
        </p:nvSpPr>
        <p:spPr>
          <a:xfrm>
            <a:off x="457200" y="205979"/>
            <a:ext cx="8229600" cy="857250"/>
          </a:xfrm>
        </p:spPr>
        <p:txBody>
          <a:bodyPr/>
          <a:lstStyle/>
          <a:p>
            <a:endParaRPr lang="en-US"/>
          </a:p>
        </p:txBody>
      </p:sp>
      <p:graphicFrame>
        <p:nvGraphicFramePr>
          <p:cNvPr id="5" name="Content Placeholder 2">
            <a:extLst>
              <a:ext uri="{FF2B5EF4-FFF2-40B4-BE49-F238E27FC236}">
                <a16:creationId xmlns:a16="http://schemas.microsoft.com/office/drawing/2014/main" id="{73E3FB1C-76B6-8883-B908-C171C75196B6}"/>
              </a:ext>
            </a:extLst>
          </p:cNvPr>
          <p:cNvGraphicFramePr>
            <a:graphicFrameLocks noGrp="1"/>
          </p:cNvGraphicFramePr>
          <p:nvPr>
            <p:ph idx="1"/>
            <p:extLst>
              <p:ext uri="{D42A27DB-BD31-4B8C-83A1-F6EECF244321}">
                <p14:modId xmlns:p14="http://schemas.microsoft.com/office/powerpoint/2010/main" val="535574040"/>
              </p:ext>
            </p:extLst>
          </p:nvPr>
        </p:nvGraphicFramePr>
        <p:xfrm>
          <a:off x="457200" y="1200151"/>
          <a:ext cx="8229600" cy="3394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1.4 How the Software Workflow Is Being Disrupted</a:t>
            </a:r>
          </a:p>
        </p:txBody>
      </p:sp>
      <p:sp>
        <p:nvSpPr>
          <p:cNvPr id="3" name="Content Placeholder 2"/>
          <p:cNvSpPr>
            <a:spLocks noGrp="1"/>
          </p:cNvSpPr>
          <p:nvPr>
            <p:ph sz="half" idx="1"/>
          </p:nvPr>
        </p:nvSpPr>
        <p:spPr/>
        <p:txBody>
          <a:bodyPr>
            <a:normAutofit fontScale="47500" lnSpcReduction="20000"/>
          </a:bodyPr>
          <a:lstStyle/>
          <a:p>
            <a:pPr marL="0" lvl="0" indent="0">
              <a:spcBef>
                <a:spcPts val="3000"/>
              </a:spcBef>
              <a:buNone/>
            </a:pPr>
            <a:r>
              <a:rPr b="1" dirty="0"/>
              <a:t>The Traditional Way</a:t>
            </a:r>
          </a:p>
          <a:p>
            <a:pPr marL="0" lvl="0" indent="0">
              <a:buNone/>
            </a:pPr>
            <a:r>
              <a:rPr dirty="0"/>
              <a:t>For decades, software development followed a structured process:</a:t>
            </a:r>
          </a:p>
          <a:p>
            <a:pPr marL="0" lvl="0" indent="0">
              <a:buNone/>
            </a:pPr>
            <a:r>
              <a:rPr dirty="0">
                <a:latin typeface="Courier"/>
              </a:rPr>
              <a:t>Requirements -&gt; Design -&gt; Implementation -&gt; Testing -&gt; Review -&gt; Deployment -&gt; Maintenance</a:t>
            </a:r>
          </a:p>
          <a:p>
            <a:pPr marL="0" lvl="0" indent="0">
              <a:buNone/>
            </a:pPr>
            <a:r>
              <a:rPr dirty="0"/>
              <a:t>Each phase had specialized roles. Business analysts wrote requirements. Architects created designs. Developers wrote code. QA engineers tested it. Each handoff introduced delays, miscommunication, and overhead.</a:t>
            </a:r>
            <a:endParaRPr lang="en-US" dirty="0"/>
          </a:p>
          <a:p>
            <a:pPr marL="0" lvl="0" indent="0">
              <a:buNone/>
            </a:pPr>
            <a:endParaRPr lang="en-US" dirty="0"/>
          </a:p>
          <a:p>
            <a:pPr marL="0" lvl="0" indent="0">
              <a:buNone/>
            </a:pPr>
            <a:r>
              <a:rPr b="1" dirty="0"/>
              <a:t>The New Way</a:t>
            </a:r>
          </a:p>
          <a:p>
            <a:pPr marL="0" lvl="0" indent="0">
              <a:buNone/>
            </a:pPr>
            <a:r>
              <a:rPr dirty="0"/>
              <a:t>Vibe coding compresses this into a tight loop:</a:t>
            </a:r>
          </a:p>
          <a:p>
            <a:pPr marL="0" lvl="0" indent="0">
              <a:buNone/>
            </a:pPr>
            <a:r>
              <a:rPr dirty="0">
                <a:latin typeface="Courier"/>
              </a:rPr>
              <a:t>Intent -&gt; Prompt -&gt; Iterate -&gt; Ship</a:t>
            </a:r>
          </a:p>
          <a:p>
            <a:pPr marL="0" lvl="0" indent="0">
              <a:buNone/>
            </a:pPr>
            <a:r>
              <a:rPr dirty="0"/>
              <a:t>You describe what you want. The AI builds it. You look at the result, describe what to change, and the AI adjusts. You repeat until it’s right. What used to take weeks can now take hours.</a:t>
            </a:r>
            <a:endParaRPr lang="en-US" dirty="0"/>
          </a:p>
        </p:txBody>
      </p:sp>
      <p:sp>
        <p:nvSpPr>
          <p:cNvPr id="4" name="Inhaltsplatzhalter 3">
            <a:extLst>
              <a:ext uri="{FF2B5EF4-FFF2-40B4-BE49-F238E27FC236}">
                <a16:creationId xmlns:a16="http://schemas.microsoft.com/office/drawing/2014/main" id="{90DD49C7-083B-AB8F-0C5E-F2F5D5AD0365}"/>
              </a:ext>
            </a:extLst>
          </p:cNvPr>
          <p:cNvSpPr>
            <a:spLocks noGrp="1"/>
          </p:cNvSpPr>
          <p:nvPr>
            <p:ph sz="half" idx="2"/>
          </p:nvPr>
        </p:nvSpPr>
        <p:spPr/>
        <p:txBody>
          <a:bodyPr>
            <a:normAutofit fontScale="47500" lnSpcReduction="20000"/>
          </a:bodyPr>
          <a:lstStyle/>
          <a:p>
            <a:pPr marL="0" lvl="0" indent="0">
              <a:buNone/>
            </a:pPr>
            <a:r>
              <a:rPr lang="en-US" b="1" dirty="0"/>
              <a:t>The Developer as Conductor</a:t>
            </a:r>
          </a:p>
          <a:p>
            <a:pPr marL="0" lvl="0" indent="0">
              <a:buNone/>
            </a:pPr>
            <a:r>
              <a:rPr lang="en-US" dirty="0"/>
              <a:t>This doesn’t eliminate the need for human judgment. It elevates it. The developer’s role shifts from writing every line of code to orchestrating the AI: defining the problem clearly, evaluating the output, catching mistakes, and making architectural decisions.</a:t>
            </a:r>
          </a:p>
          <a:p>
            <a:pPr marL="0" lvl="0" indent="0">
              <a:buNone/>
            </a:pPr>
            <a:r>
              <a:rPr lang="en-US" dirty="0"/>
              <a:t>Think of it like the difference between playing every instrument in an orchestra and being the conductor. The conductor doesn’t need to play the violin, but they need to know what good violin playing sounds like. Similarly, the vibe coder doesn’t need to write every function, but they need to recognize when something is wrong.</a:t>
            </a:r>
          </a:p>
          <a:p>
            <a:pPr marL="0" lvl="0" indent="0">
              <a:buNone/>
            </a:pPr>
            <a:r>
              <a:rPr lang="en-US" dirty="0"/>
              <a:t>Paradoxically, this requires stronger fundamentals than junior-level coding. You need to understand systems well enough to catch the AI’s mistakes, which can be subtle, systemic, and well hidden.</a:t>
            </a:r>
          </a:p>
          <a:p>
            <a:pPr marL="0" lvl="0" indent="0">
              <a:buNone/>
            </a:pPr>
            <a:endParaRPr lang="en-US" dirty="0"/>
          </a:p>
          <a:p>
            <a:pPr marL="0" lvl="0" indent="0">
              <a:buNone/>
            </a:pPr>
            <a:r>
              <a:rPr lang="en-US" b="1" dirty="0"/>
              <a:t>The Important Distinction</a:t>
            </a:r>
          </a:p>
          <a:p>
            <a:pPr marL="0" lvl="0" indent="0">
              <a:buNone/>
            </a:pPr>
            <a:r>
              <a:rPr lang="en-US" dirty="0"/>
              <a:t>Not all AI-assisted development is the same. Simon Willison makes a useful distinction:</a:t>
            </a:r>
          </a:p>
          <a:p>
            <a:pPr lvl="0"/>
            <a:r>
              <a:rPr lang="en-US" dirty="0"/>
              <a:t>Pure vibe coding: accept everything the AI generates without reviewing it. Great for throwaway projects, prototypes, and personal tools where bugs don’t matter.</a:t>
            </a:r>
          </a:p>
          <a:p>
            <a:pPr lvl="0"/>
            <a:r>
              <a:rPr lang="en-US" dirty="0"/>
              <a:t>Professional AI-assisted development: use AI to generate code, but review it thoroughly, test it, and understand it before shipping. This is still software engineering, just faster.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98C73D1-EC82-2B87-5AF9-5AE080B10E05}"/>
              </a:ext>
            </a:extLst>
          </p:cNvPr>
          <p:cNvPicPr>
            <a:picLocks noChangeAspect="1"/>
          </p:cNvPicPr>
          <p:nvPr/>
        </p:nvPicPr>
        <p:blipFill>
          <a:blip r:embed="rId2"/>
          <a:srcRect l="2667" r="-1" b="-1"/>
          <a:stretch>
            <a:fillRect/>
          </a:stretch>
        </p:blipFill>
        <p:spPr>
          <a:xfrm>
            <a:off x="20" y="10"/>
            <a:ext cx="9143980" cy="5143490"/>
          </a:xfrm>
          <a:prstGeom prst="rect">
            <a:avLst/>
          </a:prstGeom>
          <a:noFill/>
        </p:spPr>
      </p:pic>
    </p:spTree>
    <p:extLst>
      <p:ext uri="{BB962C8B-B14F-4D97-AF65-F5344CB8AC3E}">
        <p14:creationId xmlns:p14="http://schemas.microsoft.com/office/powerpoint/2010/main" val="1709804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1.5 Nothing Great Was Built Alone</a:t>
            </a:r>
          </a:p>
        </p:txBody>
      </p:sp>
      <p:sp>
        <p:nvSpPr>
          <p:cNvPr id="3" name="Content Placeholder 2"/>
          <p:cNvSpPr>
            <a:spLocks noGrp="1"/>
          </p:cNvSpPr>
          <p:nvPr>
            <p:ph sz="half" idx="1"/>
          </p:nvPr>
        </p:nvSpPr>
        <p:spPr/>
        <p:txBody>
          <a:bodyPr>
            <a:noAutofit/>
          </a:bodyPr>
          <a:lstStyle/>
          <a:p>
            <a:pPr marL="0" lvl="0" indent="0">
              <a:spcBef>
                <a:spcPts val="3000"/>
              </a:spcBef>
              <a:buNone/>
            </a:pPr>
            <a:r>
              <a:rPr sz="900" b="1" dirty="0"/>
              <a:t>The Productivity Paradox</a:t>
            </a:r>
          </a:p>
          <a:p>
            <a:pPr marL="0" lvl="0" indent="0">
              <a:buNone/>
            </a:pPr>
            <a:r>
              <a:rPr sz="900" dirty="0"/>
              <a:t>The productivity numbers tell a nuanced story:</a:t>
            </a:r>
          </a:p>
          <a:p>
            <a:pPr lvl="0"/>
            <a:r>
              <a:rPr sz="900" dirty="0"/>
              <a:t>Individual tasks: studies show developers complete bounded tasks 30% to 55% faster with AI assistance.</a:t>
            </a:r>
          </a:p>
          <a:p>
            <a:pPr lvl="0"/>
            <a:r>
              <a:rPr sz="900" dirty="0"/>
              <a:t>Complex existing codebases: the METR study found experienced open-source developers were actually 19% slower with AI on complex, real-world code.</a:t>
            </a:r>
          </a:p>
          <a:p>
            <a:pPr lvl="0"/>
            <a:r>
              <a:rPr sz="900" dirty="0"/>
              <a:t>Code quality: AI co-authored code shows roughly 1.7x more major issues and 2.7x more security vulnerabilities than human-written code.</a:t>
            </a:r>
          </a:p>
          <a:p>
            <a:pPr marL="0" lvl="0" indent="0">
              <a:buNone/>
            </a:pPr>
            <a:r>
              <a:rPr sz="900" dirty="0"/>
              <a:t>The takeaway is clear. AI dramatically accelerates greenfield development, but the gains are less clear-cut for complex maintenance work. Regardless of the speed gains, code review becomes more important, not less, when AI is writing the code.</a:t>
            </a:r>
            <a:endParaRPr lang="en-US" sz="900" dirty="0"/>
          </a:p>
          <a:p>
            <a:pPr marL="0" lvl="0" indent="0">
              <a:buNone/>
            </a:pPr>
            <a:r>
              <a:rPr sz="900" b="1" dirty="0"/>
              <a:t>Case Study: Pieter Levels</a:t>
            </a:r>
          </a:p>
          <a:p>
            <a:pPr marL="0" lvl="0" indent="0">
              <a:buNone/>
            </a:pPr>
            <a:r>
              <a:rPr sz="900" dirty="0"/>
              <a:t>Pieter Levels, a well-known indie hacker, decided in early 2025 to build a browser-based multiplayer flight simulator despite having zero game development experience. Using Cursor AI, he started with a simple prompt: “make a 3D flying game in browser with skyscrapers.” Three hours later, the game was live. Within days, it had 89,000 players and generated significant ad revenue.</a:t>
            </a:r>
            <a:endParaRPr lang="en-US" sz="900" dirty="0"/>
          </a:p>
          <a:p>
            <a:pPr marL="0" lvl="0" indent="0">
              <a:buNone/>
            </a:pPr>
            <a:r>
              <a:rPr sz="900" b="1" dirty="0"/>
              <a:t>Case Study: Base44</a:t>
            </a:r>
          </a:p>
          <a:p>
            <a:pPr marL="0" lvl="0" indent="0">
              <a:buNone/>
            </a:pPr>
            <a:r>
              <a:rPr sz="900" dirty="0"/>
              <a:t>In February 2025, Maor Shlomo launched Base44, a platform that let anyone build applications through a chatbot interface. Built largely with AI coding tools, it reached 250,000 users and was acquired by Wix for $80 million in cash within six months.</a:t>
            </a:r>
            <a:endParaRPr lang="en-US" sz="900" dirty="0"/>
          </a:p>
        </p:txBody>
      </p:sp>
      <p:sp>
        <p:nvSpPr>
          <p:cNvPr id="4" name="Inhaltsplatzhalter 3">
            <a:extLst>
              <a:ext uri="{FF2B5EF4-FFF2-40B4-BE49-F238E27FC236}">
                <a16:creationId xmlns:a16="http://schemas.microsoft.com/office/drawing/2014/main" id="{0CB6BC1D-0A8B-880D-6ED1-D7C82B2D3825}"/>
              </a:ext>
            </a:extLst>
          </p:cNvPr>
          <p:cNvSpPr>
            <a:spLocks noGrp="1"/>
          </p:cNvSpPr>
          <p:nvPr>
            <p:ph sz="half" idx="2"/>
          </p:nvPr>
        </p:nvSpPr>
        <p:spPr/>
        <p:txBody>
          <a:bodyPr>
            <a:noAutofit/>
          </a:bodyPr>
          <a:lstStyle/>
          <a:p>
            <a:pPr marL="0" lvl="0" indent="0">
              <a:buNone/>
            </a:pPr>
            <a:r>
              <a:rPr lang="en-US" sz="1050" b="1" dirty="0"/>
              <a:t>Y Combinator’s AI-Native Batch</a:t>
            </a:r>
          </a:p>
          <a:p>
            <a:pPr marL="0" lvl="0" indent="0">
              <a:buNone/>
            </a:pPr>
            <a:r>
              <a:rPr lang="en-US" sz="1050" dirty="0"/>
              <a:t>Y Combinator reported that 25% of its Winter 2025 batch had codebases that were almost entirely AI-generated. These were not amateurs fumbling with prompts. They were experienced, highly technical founders who chose to let AI write the code.</a:t>
            </a:r>
          </a:p>
          <a:p>
            <a:pPr marL="0" lvl="0" indent="0">
              <a:buNone/>
            </a:pPr>
            <a:r>
              <a:rPr lang="en-US" sz="1050" dirty="0"/>
              <a:t>As YC partner Jared Friedman put it:</a:t>
            </a:r>
          </a:p>
          <a:p>
            <a:pPr marL="1270000" lvl="0" indent="0">
              <a:buNone/>
            </a:pPr>
            <a:r>
              <a:rPr lang="en-US" sz="1050" dirty="0"/>
              <a:t>“Every one of these people is highly technical, completely capable of building their own products from scratch. A year ago, they would have, but now 95% of it is built by an AI.”</a:t>
            </a:r>
          </a:p>
          <a:p>
            <a:pPr marL="1270000" lvl="0" indent="0">
              <a:buNone/>
            </a:pPr>
            <a:endParaRPr lang="en-US" sz="1050" dirty="0"/>
          </a:p>
          <a:p>
            <a:pPr marL="0" indent="0">
              <a:buNone/>
            </a:pPr>
            <a:r>
              <a:rPr lang="en-US" sz="1050" b="1" dirty="0"/>
              <a:t>The Common Thread</a:t>
            </a:r>
          </a:p>
          <a:p>
            <a:pPr marL="0" indent="0">
              <a:buNone/>
            </a:pPr>
            <a:r>
              <a:rPr lang="en-US" sz="1050" dirty="0"/>
              <a:t>Across all these examples, the same pattern emerges. The AI didn’t provide the vision, taste, or judgment about what was worth building. Humans still supplied that. What AI provided was execution at unprecedented speed.</a:t>
            </a:r>
          </a:p>
          <a:p>
            <a:pPr marL="0" lvl="0" indent="0">
              <a:buNone/>
            </a:pPr>
            <a:r>
              <a:rPr lang="en-US" sz="1050" dirty="0"/>
              <a:t>It turned the gap between “I have an idea” and “it’s live” from months into hours.</a:t>
            </a:r>
          </a:p>
          <a:p>
            <a:pPr marL="0" lvl="0" indent="0">
              <a:buNone/>
            </a:pPr>
            <a:r>
              <a:rPr lang="en-US" sz="1050" dirty="0"/>
              <a:t>The old saying goes: “Nothing great was built alone.” That’s still true now. The only difference is that your collaborator might be an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AC3F36-7D53-ACFF-C63C-53A6BD39F882}"/>
              </a:ext>
            </a:extLst>
          </p:cNvPr>
          <p:cNvSpPr>
            <a:spLocks noGrp="1"/>
          </p:cNvSpPr>
          <p:nvPr>
            <p:ph type="title"/>
          </p:nvPr>
        </p:nvSpPr>
        <p:spPr/>
        <p:txBody>
          <a:bodyPr/>
          <a:lstStyle/>
          <a:p>
            <a:pPr algn="l"/>
            <a:r>
              <a:rPr lang="de-DE" dirty="0"/>
              <a:t>Chapter 2: The Ecosystem</a:t>
            </a:r>
          </a:p>
        </p:txBody>
      </p:sp>
      <p:sp>
        <p:nvSpPr>
          <p:cNvPr id="3" name="Content Placeholder 2"/>
          <p:cNvSpPr>
            <a:spLocks noGrp="1"/>
          </p:cNvSpPr>
          <p:nvPr>
            <p:ph idx="1"/>
          </p:nvPr>
        </p:nvSpPr>
        <p:spPr/>
        <p:txBody>
          <a:bodyPr/>
          <a:lstStyle/>
          <a:p>
            <a:pPr marL="0" lvl="0" indent="0">
              <a:buNone/>
            </a:pPr>
            <a:r>
              <a:t>The vibe coding revolution didn’t happen because of one tool. It happened because an entire ecosystem matured at the same time: AI models, smart editors, browser-based builders, and one-click deployment platforms all reached “good enough” within the same 18-month window.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AI-Native IDEs</a:t>
            </a:r>
          </a:p>
        </p:txBody>
      </p:sp>
      <p:sp>
        <p:nvSpPr>
          <p:cNvPr id="3" name="Content Placeholder 2"/>
          <p:cNvSpPr>
            <a:spLocks noGrp="1"/>
          </p:cNvSpPr>
          <p:nvPr>
            <p:ph idx="1"/>
          </p:nvPr>
        </p:nvSpPr>
        <p:spPr/>
        <p:txBody>
          <a:bodyPr>
            <a:normAutofit fontScale="70000" lnSpcReduction="20000"/>
          </a:bodyPr>
          <a:lstStyle/>
          <a:p>
            <a:pPr marL="0" lvl="0" indent="0">
              <a:buNone/>
            </a:pPr>
            <a:r>
              <a:rPr dirty="0"/>
              <a:t>These aren’t plugins bolted onto text editors. They’re full development environments rebuilt around AI.</a:t>
            </a:r>
            <a:endParaRPr lang="en-US" dirty="0"/>
          </a:p>
          <a:p>
            <a:pPr marL="0" lvl="0" indent="0">
              <a:buNone/>
            </a:pPr>
            <a:r>
              <a:rPr b="1" dirty="0"/>
              <a:t>Cursor</a:t>
            </a:r>
          </a:p>
          <a:p>
            <a:pPr marL="0" lvl="0" indent="0">
              <a:buNone/>
            </a:pPr>
            <a:r>
              <a:rPr dirty="0"/>
              <a:t>Cursor is the market leader: a VS Code fork with deep codebase-aware AI, multi-file editing through Composer, and autonomous background agents that can work on tasks while you do something else.</a:t>
            </a:r>
          </a:p>
          <a:p>
            <a:pPr lvl="0"/>
            <a:r>
              <a:rPr dirty="0"/>
              <a:t>Pricing: starts at $20 / </a:t>
            </a:r>
            <a:r>
              <a:rPr dirty="0" err="1"/>
              <a:t>mo</a:t>
            </a:r>
            <a:endParaRPr dirty="0"/>
          </a:p>
          <a:p>
            <a:pPr lvl="0"/>
            <a:r>
              <a:rPr dirty="0"/>
              <a:t>Tradeoff: credit-based pricing can be unpredictable</a:t>
            </a:r>
          </a:p>
          <a:p>
            <a:pPr lvl="0"/>
            <a:r>
              <a:rPr dirty="0"/>
              <a:t>Best for: professional developers who want the most powerful all-in-one experience</a:t>
            </a:r>
            <a:endParaRPr lang="en-US" dirty="0"/>
          </a:p>
          <a:p>
            <a:pPr marL="0" lvl="0" indent="0">
              <a:buNone/>
            </a:pPr>
            <a:r>
              <a:rPr b="1" dirty="0"/>
              <a:t>Windsurf</a:t>
            </a:r>
          </a:p>
          <a:p>
            <a:pPr marL="0" lvl="0" indent="0">
              <a:buNone/>
            </a:pPr>
            <a:r>
              <a:rPr dirty="0"/>
              <a:t>Windsurf, formerly </a:t>
            </a:r>
            <a:r>
              <a:rPr dirty="0" err="1"/>
              <a:t>Codeium</a:t>
            </a:r>
            <a:r>
              <a:rPr dirty="0"/>
              <a:t>, offers similar agentic capabilities through its Cascade system at a lower price point.</a:t>
            </a:r>
          </a:p>
          <a:p>
            <a:pPr lvl="0"/>
            <a:r>
              <a:rPr dirty="0"/>
              <a:t>Pricing: $15 / </a:t>
            </a:r>
            <a:r>
              <a:rPr dirty="0" err="1"/>
              <a:t>mo</a:t>
            </a:r>
            <a:r>
              <a:rPr dirty="0"/>
              <a:t> for Pro</a:t>
            </a:r>
          </a:p>
          <a:p>
            <a:pPr lvl="0"/>
            <a:r>
              <a:rPr dirty="0"/>
              <a:t>Positioning: strong value pick</a:t>
            </a:r>
          </a:p>
          <a:p>
            <a:pPr lvl="0"/>
            <a:r>
              <a:rPr dirty="0"/>
              <a:t>Notable: ranked #1 in </a:t>
            </a:r>
            <a:r>
              <a:rPr dirty="0" err="1"/>
              <a:t>LogRocket’s</a:t>
            </a:r>
            <a:r>
              <a:rPr dirty="0"/>
              <a:t> AI Dev Tool Power Rankings</a:t>
            </a:r>
            <a:endParaRPr lang="en-US" dirty="0"/>
          </a:p>
          <a:p>
            <a:pPr marL="0" lvl="0" indent="0">
              <a:buNone/>
            </a:pPr>
            <a:r>
              <a:rPr b="1" dirty="0"/>
              <a:t>Void</a:t>
            </a:r>
          </a:p>
          <a:p>
            <a:pPr marL="0" lvl="0" indent="0">
              <a:buNone/>
            </a:pPr>
            <a:r>
              <a:rPr dirty="0"/>
              <a:t>Void takes a different approach: fully open-source, privacy-first, and model-agnostic. You bring your own LLM, cloud or local, and pay nothing for the editor itself.</a:t>
            </a:r>
          </a:p>
          <a:p>
            <a:pPr lvl="0"/>
            <a:r>
              <a:rPr dirty="0"/>
              <a:t>Best for: developers who want transparency and no vendor lock-in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CLI and Agentic Tools</a:t>
            </a:r>
            <a:br>
              <a:rPr dirty="0"/>
            </a:br>
            <a:r>
              <a:rPr lang="en-US" sz="2000" dirty="0"/>
              <a:t>For developers who live in the terminal.</a:t>
            </a:r>
            <a:endParaRPr sz="2000" dirty="0"/>
          </a:p>
        </p:txBody>
      </p:sp>
      <p:sp>
        <p:nvSpPr>
          <p:cNvPr id="3" name="Content Placeholder 2"/>
          <p:cNvSpPr>
            <a:spLocks noGrp="1"/>
          </p:cNvSpPr>
          <p:nvPr>
            <p:ph idx="1"/>
          </p:nvPr>
        </p:nvSpPr>
        <p:spPr/>
        <p:txBody>
          <a:bodyPr>
            <a:normAutofit fontScale="70000" lnSpcReduction="20000"/>
          </a:bodyPr>
          <a:lstStyle/>
          <a:p>
            <a:pPr marL="0" lvl="0" indent="0">
              <a:buNone/>
            </a:pPr>
            <a:r>
              <a:rPr b="1" dirty="0"/>
              <a:t>Claude Code</a:t>
            </a:r>
          </a:p>
          <a:p>
            <a:pPr marL="0" lvl="0" indent="0">
              <a:buNone/>
            </a:pPr>
            <a:r>
              <a:rPr dirty="0"/>
              <a:t>Claude Code is </a:t>
            </a:r>
            <a:r>
              <a:rPr dirty="0" err="1"/>
              <a:t>Anthropic’s</a:t>
            </a:r>
            <a:r>
              <a:rPr dirty="0"/>
              <a:t> CLI agent. It reads your files, writes code, runs commands, and iterates autonomously.</a:t>
            </a:r>
          </a:p>
          <a:p>
            <a:pPr lvl="0"/>
            <a:r>
              <a:rPr dirty="0"/>
              <a:t>Strength: exceptionally capable for complex multi-file tasks</a:t>
            </a:r>
          </a:p>
          <a:p>
            <a:pPr lvl="0"/>
            <a:r>
              <a:rPr dirty="0"/>
              <a:t>Model access: Claude Opus 4.6 with 1M context</a:t>
            </a:r>
          </a:p>
          <a:p>
            <a:pPr lvl="0"/>
            <a:r>
              <a:rPr dirty="0"/>
              <a:t>Pricing: included with Claude Pro through Max plans</a:t>
            </a:r>
            <a:endParaRPr lang="en-US" dirty="0"/>
          </a:p>
          <a:p>
            <a:pPr marL="0" lvl="0" indent="0">
              <a:buNone/>
            </a:pPr>
            <a:endParaRPr lang="de-DE" b="1" dirty="0"/>
          </a:p>
          <a:p>
            <a:pPr marL="0" lvl="0" indent="0">
              <a:buNone/>
            </a:pPr>
            <a:r>
              <a:rPr b="1" dirty="0"/>
              <a:t>GitHub Copilot CLI</a:t>
            </a:r>
          </a:p>
          <a:p>
            <a:pPr marL="0" lvl="0" indent="0">
              <a:buNone/>
            </a:pPr>
            <a:r>
              <a:rPr dirty="0"/>
              <a:t>GitHub Copilot CLI reached general availability in early 2026 with multi-model support, parallel subagents via </a:t>
            </a:r>
            <a:r>
              <a:rPr dirty="0">
                <a:latin typeface="Courier"/>
              </a:rPr>
              <a:t>/fleet</a:t>
            </a:r>
            <a:r>
              <a:rPr dirty="0"/>
              <a:t>, and deep GitHub integration.</a:t>
            </a:r>
          </a:p>
          <a:p>
            <a:pPr lvl="0"/>
            <a:r>
              <a:rPr dirty="0"/>
              <a:t>Supported models: Claude, GPT, Gemini</a:t>
            </a:r>
          </a:p>
          <a:p>
            <a:pPr lvl="0"/>
            <a:r>
              <a:rPr dirty="0"/>
              <a:t>Pricing: included with Copilot Pro at $10 / </a:t>
            </a:r>
            <a:r>
              <a:rPr dirty="0" err="1"/>
              <a:t>mo</a:t>
            </a:r>
            <a:endParaRPr lang="en-US" dirty="0"/>
          </a:p>
          <a:p>
            <a:pPr marL="0" lvl="0" indent="0">
              <a:buNone/>
            </a:pPr>
            <a:endParaRPr lang="de-DE" b="1" dirty="0"/>
          </a:p>
          <a:p>
            <a:pPr marL="0" lvl="0" indent="0">
              <a:buNone/>
            </a:pPr>
            <a:r>
              <a:rPr b="1" dirty="0"/>
              <a:t>Aider</a:t>
            </a:r>
          </a:p>
          <a:p>
            <a:pPr marL="0" lvl="0" indent="0">
              <a:buNone/>
            </a:pPr>
            <a:r>
              <a:rPr dirty="0"/>
              <a:t>Aider is the open-source alternative: a terminal-based pair programmer that works directly with Git and creates tracked commits for every AI change.</a:t>
            </a:r>
          </a:p>
          <a:p>
            <a:pPr lvl="0"/>
            <a:r>
              <a:rPr dirty="0"/>
              <a:t>Pricing: free</a:t>
            </a:r>
          </a:p>
          <a:p>
            <a:pPr lvl="0"/>
            <a:r>
              <a:rPr dirty="0"/>
              <a:t>Compatibility: works with any LLM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Browser-Based Builders</a:t>
            </a:r>
            <a:br>
              <a:rPr dirty="0"/>
            </a:br>
            <a:r>
              <a:rPr lang="en-US" sz="2000" dirty="0"/>
              <a:t>No IDE, no terminal, no local setup. Describe what you want and get a working app.</a:t>
            </a:r>
            <a:endParaRPr sz="2000" dirty="0"/>
          </a:p>
        </p:txBody>
      </p:sp>
      <p:sp>
        <p:nvSpPr>
          <p:cNvPr id="3" name="Content Placeholder 2"/>
          <p:cNvSpPr>
            <a:spLocks noGrp="1"/>
          </p:cNvSpPr>
          <p:nvPr>
            <p:ph idx="1"/>
          </p:nvPr>
        </p:nvSpPr>
        <p:spPr/>
        <p:txBody>
          <a:bodyPr>
            <a:normAutofit fontScale="55000" lnSpcReduction="20000"/>
          </a:bodyPr>
          <a:lstStyle/>
          <a:p>
            <a:pPr marL="0" lvl="0" indent="0">
              <a:spcBef>
                <a:spcPts val="3000"/>
              </a:spcBef>
              <a:buNone/>
            </a:pPr>
            <a:r>
              <a:rPr b="1" dirty="0" err="1"/>
              <a:t>Bolt.new</a:t>
            </a:r>
            <a:endParaRPr b="1" dirty="0"/>
          </a:p>
          <a:p>
            <a:pPr marL="0" lvl="0" indent="0">
              <a:buNone/>
            </a:pPr>
            <a:r>
              <a:rPr dirty="0" err="1"/>
              <a:t>Bolt.new</a:t>
            </a:r>
            <a:r>
              <a:rPr dirty="0"/>
              <a:t>, from </a:t>
            </a:r>
            <a:r>
              <a:rPr dirty="0" err="1"/>
              <a:t>StackBlitz</a:t>
            </a:r>
            <a:r>
              <a:rPr dirty="0"/>
              <a:t>, generates complete full-stack apps in your browser via </a:t>
            </a:r>
            <a:r>
              <a:rPr dirty="0" err="1"/>
              <a:t>WebContainers</a:t>
            </a:r>
            <a:r>
              <a:rPr dirty="0"/>
              <a:t>.</a:t>
            </a:r>
          </a:p>
          <a:p>
            <a:pPr lvl="0"/>
            <a:r>
              <a:rPr dirty="0"/>
              <a:t>Features: Figma import, built-in databases, hosting</a:t>
            </a:r>
          </a:p>
          <a:p>
            <a:pPr lvl="0"/>
            <a:r>
              <a:rPr dirty="0"/>
              <a:t>Pricing: from $20 / </a:t>
            </a:r>
            <a:r>
              <a:rPr dirty="0" err="1"/>
              <a:t>mo</a:t>
            </a:r>
            <a:endParaRPr dirty="0"/>
          </a:p>
          <a:p>
            <a:pPr lvl="0"/>
            <a:r>
              <a:rPr dirty="0"/>
              <a:t>Best for: rapid prototyping with everything in one place</a:t>
            </a:r>
            <a:endParaRPr lang="en-US" dirty="0"/>
          </a:p>
          <a:p>
            <a:pPr marL="0" lvl="0" indent="0">
              <a:buNone/>
            </a:pPr>
            <a:endParaRPr lang="en-US" b="1" dirty="0"/>
          </a:p>
          <a:p>
            <a:pPr marL="0" lvl="0" indent="0">
              <a:buNone/>
            </a:pPr>
            <a:r>
              <a:rPr b="1" dirty="0"/>
              <a:t>Lovable</a:t>
            </a:r>
          </a:p>
          <a:p>
            <a:pPr marL="0" lvl="0" indent="0">
              <a:buNone/>
            </a:pPr>
            <a:r>
              <a:rPr dirty="0"/>
              <a:t>Lovable made app creation feel like a conversation and became one of the fastest-growing software startups in history.</a:t>
            </a:r>
          </a:p>
          <a:p>
            <a:pPr lvl="0"/>
            <a:r>
              <a:rPr dirty="0"/>
              <a:t>Pricing: from $25 / </a:t>
            </a:r>
            <a:r>
              <a:rPr dirty="0" err="1"/>
              <a:t>mo</a:t>
            </a:r>
            <a:endParaRPr dirty="0"/>
          </a:p>
          <a:p>
            <a:pPr lvl="0"/>
            <a:r>
              <a:rPr dirty="0"/>
              <a:t>Strength: predictable message-based pricing and deep </a:t>
            </a:r>
            <a:r>
              <a:rPr dirty="0" err="1"/>
              <a:t>Supabase</a:t>
            </a:r>
            <a:r>
              <a:rPr dirty="0"/>
              <a:t> integration</a:t>
            </a:r>
          </a:p>
          <a:p>
            <a:pPr lvl="0"/>
            <a:r>
              <a:rPr dirty="0"/>
              <a:t>Best for: non-technical founders</a:t>
            </a:r>
            <a:endParaRPr lang="en-US" dirty="0"/>
          </a:p>
          <a:p>
            <a:pPr marL="0" lvl="0" indent="0">
              <a:buNone/>
            </a:pPr>
            <a:endParaRPr lang="de-DE" b="1" dirty="0"/>
          </a:p>
          <a:p>
            <a:pPr marL="0" lvl="0" indent="0">
              <a:buNone/>
            </a:pPr>
            <a:r>
              <a:rPr b="1" dirty="0"/>
              <a:t>v0 by </a:t>
            </a:r>
            <a:r>
              <a:rPr b="1" dirty="0" err="1"/>
              <a:t>Vercel</a:t>
            </a:r>
            <a:endParaRPr b="1" dirty="0"/>
          </a:p>
          <a:p>
            <a:pPr marL="0" lvl="0" indent="0">
              <a:buNone/>
            </a:pPr>
            <a:r>
              <a:rPr dirty="0"/>
              <a:t>v0 specializes in frontend and produces especially clean React, Next.js, and Tailwind code.</a:t>
            </a:r>
          </a:p>
          <a:p>
            <a:pPr lvl="0"/>
            <a:r>
              <a:rPr dirty="0"/>
              <a:t>Pricing: from $20 / </a:t>
            </a:r>
            <a:r>
              <a:rPr dirty="0" err="1"/>
              <a:t>mo</a:t>
            </a:r>
            <a:endParaRPr dirty="0"/>
          </a:p>
          <a:p>
            <a:pPr lvl="0"/>
            <a:r>
              <a:rPr dirty="0"/>
              <a:t>Strength: one-click </a:t>
            </a:r>
            <a:r>
              <a:rPr dirty="0" err="1"/>
              <a:t>Vercel</a:t>
            </a:r>
            <a:r>
              <a:rPr dirty="0"/>
              <a:t> deployment</a:t>
            </a:r>
          </a:p>
          <a:p>
            <a:pPr lvl="0"/>
            <a:r>
              <a:rPr dirty="0"/>
              <a:t>Best for: production-quality UI components</a:t>
            </a:r>
            <a:endParaRPr lang="en-US" dirty="0"/>
          </a:p>
          <a:p>
            <a:pPr marL="0" lvl="0" indent="0">
              <a:buNone/>
            </a:pPr>
            <a:endParaRPr lang="en-US" b="1" dirty="0"/>
          </a:p>
          <a:p>
            <a:pPr marL="0" lvl="0" indent="0">
              <a:buNone/>
            </a:pPr>
            <a:r>
              <a:rPr b="1" dirty="0" err="1"/>
              <a:t>Replit</a:t>
            </a:r>
            <a:r>
              <a:rPr b="1" dirty="0"/>
              <a:t> Agent</a:t>
            </a:r>
          </a:p>
          <a:p>
            <a:pPr marL="0" lvl="0" indent="0">
              <a:buNone/>
            </a:pPr>
            <a:r>
              <a:rPr dirty="0" err="1"/>
              <a:t>Replit</a:t>
            </a:r>
            <a:r>
              <a:rPr dirty="0"/>
              <a:t> Agent offers end-to-end autonomy in a browser IDE. It can build, test, and deploy apps, even integrating third-party services automatically.</a:t>
            </a:r>
          </a:p>
          <a:p>
            <a:pPr lvl="0"/>
            <a:r>
              <a:rPr dirty="0"/>
              <a:t>Pricing: from $20 / </a:t>
            </a:r>
            <a:r>
              <a:rPr dirty="0" err="1"/>
              <a:t>mo</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Autocomplete and Copilots</a:t>
            </a:r>
            <a:br>
              <a:rPr dirty="0"/>
            </a:br>
            <a:r>
              <a:rPr lang="en-US" sz="2000" dirty="0"/>
              <a:t>These are the classic AI coding assistants that live inside your existing editor.</a:t>
            </a:r>
            <a:endParaRPr sz="2000" dirty="0"/>
          </a:p>
        </p:txBody>
      </p:sp>
      <p:sp>
        <p:nvSpPr>
          <p:cNvPr id="3" name="Content Placeholder 2"/>
          <p:cNvSpPr>
            <a:spLocks noGrp="1"/>
          </p:cNvSpPr>
          <p:nvPr>
            <p:ph idx="1"/>
          </p:nvPr>
        </p:nvSpPr>
        <p:spPr/>
        <p:txBody>
          <a:bodyPr>
            <a:normAutofit fontScale="70000" lnSpcReduction="20000"/>
          </a:bodyPr>
          <a:lstStyle/>
          <a:p>
            <a:pPr marL="0" lvl="0" indent="0">
              <a:spcBef>
                <a:spcPts val="3000"/>
              </a:spcBef>
              <a:buNone/>
            </a:pPr>
            <a:r>
              <a:rPr b="1" dirty="0"/>
              <a:t>GitHub Copilot</a:t>
            </a:r>
          </a:p>
          <a:p>
            <a:pPr marL="0" lvl="0" indent="0">
              <a:buNone/>
            </a:pPr>
            <a:r>
              <a:rPr dirty="0"/>
              <a:t>GitHub Copilot remains the most widely adopted AI coding tool, now with multi-model support and agent mode.</a:t>
            </a:r>
          </a:p>
          <a:p>
            <a:pPr lvl="0"/>
            <a:r>
              <a:rPr dirty="0"/>
              <a:t>Pricing: free tier available, Pro at $10 / </a:t>
            </a:r>
            <a:r>
              <a:rPr dirty="0" err="1"/>
              <a:t>mo</a:t>
            </a:r>
            <a:endParaRPr dirty="0"/>
          </a:p>
          <a:p>
            <a:pPr lvl="0"/>
            <a:r>
              <a:rPr dirty="0"/>
              <a:t>Positioning: the safe mainstream choice</a:t>
            </a:r>
            <a:endParaRPr lang="en-US" dirty="0"/>
          </a:p>
          <a:p>
            <a:pPr marL="0" lvl="0" indent="0">
              <a:buNone/>
            </a:pPr>
            <a:endParaRPr lang="en-US" b="1" dirty="0"/>
          </a:p>
          <a:p>
            <a:pPr marL="0" lvl="0" indent="0">
              <a:buNone/>
            </a:pPr>
            <a:r>
              <a:rPr b="1" dirty="0" err="1"/>
              <a:t>Tabnine</a:t>
            </a:r>
            <a:endParaRPr b="1" dirty="0"/>
          </a:p>
          <a:p>
            <a:pPr marL="0" lvl="0" indent="0">
              <a:buNone/>
            </a:pPr>
            <a:r>
              <a:rPr dirty="0" err="1"/>
              <a:t>Tabnine</a:t>
            </a:r>
            <a:r>
              <a:rPr dirty="0"/>
              <a:t> targets enterprises with strict security requirements.</a:t>
            </a:r>
          </a:p>
          <a:p>
            <a:pPr lvl="0"/>
            <a:r>
              <a:rPr dirty="0"/>
              <a:t>Features: fully on-premises deployment, zero data retention, air-gapped operation</a:t>
            </a:r>
          </a:p>
          <a:p>
            <a:pPr lvl="0"/>
            <a:r>
              <a:rPr dirty="0"/>
              <a:t>Pricing: from $39 / user / </a:t>
            </a:r>
            <a:r>
              <a:rPr dirty="0" err="1"/>
              <a:t>mo</a:t>
            </a:r>
            <a:endParaRPr dirty="0"/>
          </a:p>
          <a:p>
            <a:pPr lvl="0"/>
            <a:r>
              <a:rPr dirty="0"/>
              <a:t>Best for: high-compliance environments</a:t>
            </a:r>
            <a:endParaRPr lang="en-US" dirty="0"/>
          </a:p>
          <a:p>
            <a:pPr marL="0" lvl="0" indent="0">
              <a:buNone/>
            </a:pPr>
            <a:endParaRPr lang="en-US" b="1" dirty="0"/>
          </a:p>
          <a:p>
            <a:pPr marL="0" lvl="0" indent="0">
              <a:buNone/>
            </a:pPr>
            <a:r>
              <a:rPr b="1" dirty="0"/>
              <a:t>Amazon Q Developer</a:t>
            </a:r>
          </a:p>
          <a:p>
            <a:pPr marL="0" lvl="0" indent="0">
              <a:buNone/>
            </a:pPr>
            <a:r>
              <a:rPr dirty="0"/>
              <a:t>Amazon Q Developer is the natural choice for AWS-heavy teams.</a:t>
            </a:r>
          </a:p>
          <a:p>
            <a:pPr lvl="0"/>
            <a:r>
              <a:rPr dirty="0"/>
              <a:t>Strength: deep AWS integration and IP indemnity</a:t>
            </a:r>
          </a:p>
          <a:p>
            <a:pPr lvl="0"/>
            <a:r>
              <a:rPr dirty="0"/>
              <a:t>Pricing: free tier with unlimited completions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wrap="square" anchor="b">
            <a:normAutofit/>
          </a:bodyPr>
          <a:lstStyle/>
          <a:p>
            <a:pPr marL="0" lvl="0" indent="0">
              <a:buNone/>
            </a:pPr>
            <a:r>
              <a:t>The Models Behind It All</a:t>
            </a:r>
          </a:p>
        </p:txBody>
      </p:sp>
      <p:sp>
        <p:nvSpPr>
          <p:cNvPr id="4" name="Text Placeholder 3"/>
          <p:cNvSpPr>
            <a:spLocks noGrp="1"/>
          </p:cNvSpPr>
          <p:nvPr>
            <p:ph sz="half" idx="1"/>
          </p:nvPr>
        </p:nvSpPr>
        <p:spPr>
          <a:xfrm>
            <a:off x="457200" y="1200151"/>
            <a:ext cx="4038600" cy="3394472"/>
          </a:xfrm>
        </p:spPr>
        <p:txBody>
          <a:bodyPr>
            <a:normAutofit/>
          </a:bodyPr>
          <a:lstStyle/>
          <a:p>
            <a:pPr marL="0" lvl="0" indent="0">
              <a:buNone/>
            </a:pPr>
            <a:r>
              <a:t>Every tool above is powered by one of these engines:</a:t>
            </a:r>
          </a:p>
        </p:txBody>
      </p:sp>
      <p:graphicFrame>
        <p:nvGraphicFramePr>
          <p:cNvPr id="6" name="Content Placeholder 5"/>
          <p:cNvGraphicFramePr>
            <a:graphicFrameLocks noGrp="1"/>
          </p:cNvGraphicFramePr>
          <p:nvPr>
            <p:ph sz="half" idx="2"/>
            <p:extLst>
              <p:ext uri="{D42A27DB-BD31-4B8C-83A1-F6EECF244321}">
                <p14:modId xmlns:p14="http://schemas.microsoft.com/office/powerpoint/2010/main" val="1681206204"/>
              </p:ext>
            </p:extLst>
          </p:nvPr>
        </p:nvGraphicFramePr>
        <p:xfrm>
          <a:off x="4944803" y="1200151"/>
          <a:ext cx="3445396" cy="3394479"/>
        </p:xfrm>
        <a:graphic>
          <a:graphicData uri="http://schemas.openxmlformats.org/drawingml/2006/table">
            <a:tbl>
              <a:tblPr firstRow="1" bandRow="1">
                <a:noFill/>
                <a:tableStyleId>{5C22544A-7EE6-4342-B048-85BDC9FD1C3A}</a:tableStyleId>
              </a:tblPr>
              <a:tblGrid>
                <a:gridCol w="1136838">
                  <a:extLst>
                    <a:ext uri="{9D8B030D-6E8A-4147-A177-3AD203B41FA5}">
                      <a16:colId xmlns:a16="http://schemas.microsoft.com/office/drawing/2014/main" val="20000"/>
                    </a:ext>
                  </a:extLst>
                </a:gridCol>
                <a:gridCol w="1186383">
                  <a:extLst>
                    <a:ext uri="{9D8B030D-6E8A-4147-A177-3AD203B41FA5}">
                      <a16:colId xmlns:a16="http://schemas.microsoft.com/office/drawing/2014/main" val="20001"/>
                    </a:ext>
                  </a:extLst>
                </a:gridCol>
                <a:gridCol w="1122175">
                  <a:extLst>
                    <a:ext uri="{9D8B030D-6E8A-4147-A177-3AD203B41FA5}">
                      <a16:colId xmlns:a16="http://schemas.microsoft.com/office/drawing/2014/main" val="20002"/>
                    </a:ext>
                  </a:extLst>
                </a:gridCol>
              </a:tblGrid>
              <a:tr h="513237">
                <a:tc>
                  <a:txBody>
                    <a:bodyPr/>
                    <a:lstStyle/>
                    <a:p>
                      <a:pPr marL="0" lvl="0" indent="0">
                        <a:buNone/>
                      </a:pPr>
                      <a:r>
                        <a:rPr sz="1300" b="1" cap="none" spc="30">
                          <a:solidFill>
                            <a:schemeClr val="tx1"/>
                          </a:solidFill>
                        </a:rPr>
                        <a:t>Model</a:t>
                      </a:r>
                    </a:p>
                  </a:txBody>
                  <a:tcPr marL="0" marR="7622" marT="38112" marB="38112" anchor="ctr">
                    <a:lnL w="12700" cmpd="sng">
                      <a:noFill/>
                    </a:lnL>
                    <a:lnR w="12700" cmpd="sng">
                      <a:noFill/>
                    </a:lnR>
                    <a:lnT w="19050" cap="flat" cmpd="sng" algn="ctr">
                      <a:solidFill>
                        <a:schemeClr val="accent1"/>
                      </a:solidFill>
                      <a:prstDash val="solid"/>
                    </a:lnT>
                    <a:lnB w="38100" cmpd="sng">
                      <a:noFill/>
                    </a:lnB>
                    <a:noFill/>
                  </a:tcPr>
                </a:tc>
                <a:tc>
                  <a:txBody>
                    <a:bodyPr/>
                    <a:lstStyle/>
                    <a:p>
                      <a:pPr marL="0" lvl="0" indent="0">
                        <a:buNone/>
                      </a:pPr>
                      <a:r>
                        <a:rPr sz="1300" b="1" cap="none" spc="30">
                          <a:solidFill>
                            <a:schemeClr val="tx1"/>
                          </a:solidFill>
                        </a:rPr>
                        <a:t>Strength</a:t>
                      </a:r>
                    </a:p>
                  </a:txBody>
                  <a:tcPr marL="0" marR="7622" marT="38112" marB="38112" anchor="ctr">
                    <a:lnL w="12700" cmpd="sng">
                      <a:noFill/>
                    </a:lnL>
                    <a:lnR w="12700" cmpd="sng">
                      <a:noFill/>
                    </a:lnR>
                    <a:lnT w="19050" cap="flat" cmpd="sng" algn="ctr">
                      <a:solidFill>
                        <a:schemeClr val="accent1"/>
                      </a:solidFill>
                      <a:prstDash val="solid"/>
                    </a:lnT>
                    <a:lnB w="38100" cmpd="sng">
                      <a:noFill/>
                    </a:lnB>
                    <a:noFill/>
                  </a:tcPr>
                </a:tc>
                <a:tc>
                  <a:txBody>
                    <a:bodyPr/>
                    <a:lstStyle/>
                    <a:p>
                      <a:pPr marL="0" lvl="0" indent="0" algn="r">
                        <a:buNone/>
                      </a:pPr>
                      <a:r>
                        <a:rPr sz="1300" b="1" cap="none" spc="30">
                          <a:solidFill>
                            <a:schemeClr val="tx1"/>
                          </a:solidFill>
                        </a:rPr>
                        <a:t>API Price (Input / 1M)</a:t>
                      </a:r>
                    </a:p>
                  </a:txBody>
                  <a:tcPr marL="0" marR="7622" marT="38112" marB="38112" anchor="ctr">
                    <a:lnL w="12700" cmpd="sng">
                      <a:noFill/>
                    </a:lnL>
                    <a:lnR w="12700" cmpd="sng">
                      <a:noFill/>
                    </a:lnR>
                    <a:lnT w="19050" cap="flat" cmpd="sng" algn="ctr">
                      <a:solidFill>
                        <a:schemeClr val="accent1"/>
                      </a:solidFill>
                      <a:prstDash val="solid"/>
                    </a:lnT>
                    <a:lnB w="38100" cmpd="sng">
                      <a:noFill/>
                    </a:lnB>
                    <a:noFill/>
                  </a:tcPr>
                </a:tc>
                <a:extLst>
                  <a:ext uri="{0D108BD9-81ED-4DB2-BD59-A6C34878D82A}">
                    <a16:rowId xmlns:a16="http://schemas.microsoft.com/office/drawing/2014/main" val="10000"/>
                  </a:ext>
                </a:extLst>
              </a:tr>
              <a:tr h="411606">
                <a:tc>
                  <a:txBody>
                    <a:bodyPr/>
                    <a:lstStyle/>
                    <a:p>
                      <a:pPr marL="0" lvl="0" indent="0">
                        <a:buNone/>
                      </a:pPr>
                      <a:r>
                        <a:rPr sz="1000" cap="none" spc="0">
                          <a:solidFill>
                            <a:schemeClr val="tx1"/>
                          </a:solidFill>
                        </a:rPr>
                        <a:t>Claude Opus 4.6</a:t>
                      </a:r>
                    </a:p>
                  </a:txBody>
                  <a:tcPr marL="0" marR="76223" marT="38112" marB="38112">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marL="0" lvl="0" indent="0">
                        <a:buNone/>
                      </a:pPr>
                      <a:r>
                        <a:rPr sz="1000" cap="none" spc="0">
                          <a:solidFill>
                            <a:schemeClr val="tx1"/>
                          </a:solidFill>
                        </a:rPr>
                        <a:t>Best reasoning, 1M context</a:t>
                      </a:r>
                    </a:p>
                  </a:txBody>
                  <a:tcPr marL="0" marR="76223" marT="38112" marB="38112">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marL="0" lvl="0" indent="0" algn="r">
                        <a:buNone/>
                      </a:pPr>
                      <a:r>
                        <a:rPr sz="1000" cap="none" spc="0">
                          <a:solidFill>
                            <a:schemeClr val="tx1"/>
                          </a:solidFill>
                        </a:rPr>
                        <a:t>$5.00</a:t>
                      </a:r>
                    </a:p>
                  </a:txBody>
                  <a:tcPr marL="0" marR="76223" marT="38112" marB="38112">
                    <a:lnL w="12700" cmpd="sng">
                      <a:noFill/>
                      <a:prstDash val="solid"/>
                    </a:lnL>
                    <a:lnR w="12700" cmpd="sng">
                      <a:noFill/>
                      <a:prstDash val="solid"/>
                    </a:lnR>
                    <a:lnT w="38100" cmpd="sng">
                      <a:noFill/>
                    </a:lnT>
                    <a:lnB w="9525" cap="flat" cmpd="sng" algn="ctr">
                      <a:solidFill>
                        <a:schemeClr val="accent1"/>
                      </a:solidFill>
                      <a:prstDash val="solid"/>
                    </a:lnB>
                    <a:noFill/>
                  </a:tcPr>
                </a:tc>
                <a:extLst>
                  <a:ext uri="{0D108BD9-81ED-4DB2-BD59-A6C34878D82A}">
                    <a16:rowId xmlns:a16="http://schemas.microsoft.com/office/drawing/2014/main" val="10001"/>
                  </a:ext>
                </a:extLst>
              </a:tr>
              <a:tr h="411606">
                <a:tc>
                  <a:txBody>
                    <a:bodyPr/>
                    <a:lstStyle/>
                    <a:p>
                      <a:pPr marL="0" lvl="0" indent="0">
                        <a:buNone/>
                      </a:pPr>
                      <a:r>
                        <a:rPr sz="1000" cap="none" spc="0">
                          <a:solidFill>
                            <a:schemeClr val="tx1"/>
                          </a:solidFill>
                        </a:rPr>
                        <a:t>Claude Sonnet 4.6</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lvl="0" indent="0">
                        <a:buNone/>
                      </a:pPr>
                      <a:r>
                        <a:rPr sz="1000" cap="none" spc="0">
                          <a:solidFill>
                            <a:schemeClr val="tx1"/>
                          </a:solidFill>
                        </a:rPr>
                        <a:t>Fast and capable, best frontier value</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lvl="0" indent="0" algn="r">
                        <a:buNone/>
                      </a:pPr>
                      <a:r>
                        <a:rPr sz="1000" cap="none" spc="0">
                          <a:solidFill>
                            <a:schemeClr val="tx1"/>
                          </a:solidFill>
                        </a:rPr>
                        <a:t>$3.00</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0002"/>
                  </a:ext>
                </a:extLst>
              </a:tr>
              <a:tr h="411606">
                <a:tc>
                  <a:txBody>
                    <a:bodyPr/>
                    <a:lstStyle/>
                    <a:p>
                      <a:pPr marL="0" lvl="0" indent="0">
                        <a:buNone/>
                      </a:pPr>
                      <a:r>
                        <a:rPr sz="1000" cap="none" spc="0">
                          <a:solidFill>
                            <a:schemeClr val="tx1"/>
                          </a:solidFill>
                        </a:rPr>
                        <a:t>GPT-4.1</a:t>
                      </a:r>
                    </a:p>
                  </a:txBody>
                  <a:tcPr marL="0" marR="76223" marT="38112" marB="38112">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marL="0" lvl="0" indent="0">
                        <a:buNone/>
                      </a:pPr>
                      <a:r>
                        <a:rPr sz="1000" cap="none" spc="0">
                          <a:solidFill>
                            <a:schemeClr val="tx1"/>
                          </a:solidFill>
                        </a:rPr>
                        <a:t>Optimized for code editing</a:t>
                      </a:r>
                    </a:p>
                  </a:txBody>
                  <a:tcPr marL="0" marR="76223" marT="38112" marB="38112">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marL="0" lvl="0" indent="0" algn="r">
                        <a:buNone/>
                      </a:pPr>
                      <a:r>
                        <a:rPr sz="1000" cap="none" spc="0">
                          <a:solidFill>
                            <a:schemeClr val="tx1"/>
                          </a:solidFill>
                        </a:rPr>
                        <a:t>$2.00</a:t>
                      </a:r>
                    </a:p>
                  </a:txBody>
                  <a:tcPr marL="0" marR="76223" marT="38112" marB="38112">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10003"/>
                  </a:ext>
                </a:extLst>
              </a:tr>
              <a:tr h="411606">
                <a:tc>
                  <a:txBody>
                    <a:bodyPr/>
                    <a:lstStyle/>
                    <a:p>
                      <a:pPr marL="0" lvl="0" indent="0">
                        <a:buNone/>
                      </a:pPr>
                      <a:r>
                        <a:rPr sz="1000" cap="none" spc="0">
                          <a:solidFill>
                            <a:schemeClr val="tx1"/>
                          </a:solidFill>
                        </a:rPr>
                        <a:t>GPT-4.1-nano</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lvl="0" indent="0">
                        <a:buNone/>
                      </a:pPr>
                      <a:r>
                        <a:rPr sz="1000" cap="none" spc="0">
                          <a:solidFill>
                            <a:schemeClr val="tx1"/>
                          </a:solidFill>
                        </a:rPr>
                        <a:t>Cheapest capable model</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lvl="0" indent="0" algn="r">
                        <a:buNone/>
                      </a:pPr>
                      <a:r>
                        <a:rPr sz="1000" cap="none" spc="0">
                          <a:solidFill>
                            <a:schemeClr val="tx1"/>
                          </a:solidFill>
                        </a:rPr>
                        <a:t>$0.10</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0004"/>
                  </a:ext>
                </a:extLst>
              </a:tr>
              <a:tr h="411606">
                <a:tc>
                  <a:txBody>
                    <a:bodyPr/>
                    <a:lstStyle/>
                    <a:p>
                      <a:pPr marL="0" lvl="0" indent="0">
                        <a:buNone/>
                      </a:pPr>
                      <a:r>
                        <a:rPr sz="1000" cap="none" spc="0">
                          <a:solidFill>
                            <a:schemeClr val="tx1"/>
                          </a:solidFill>
                        </a:rPr>
                        <a:t>Gemini 2.5 Pro</a:t>
                      </a:r>
                    </a:p>
                  </a:txBody>
                  <a:tcPr marL="0" marR="76223" marT="38112" marB="38112">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marL="0" lvl="0" indent="0">
                        <a:buNone/>
                      </a:pPr>
                      <a:r>
                        <a:rPr sz="1000" cap="none" spc="0">
                          <a:solidFill>
                            <a:schemeClr val="tx1"/>
                          </a:solidFill>
                        </a:rPr>
                        <a:t>Strong multimodal, Google ecosystem</a:t>
                      </a:r>
                    </a:p>
                  </a:txBody>
                  <a:tcPr marL="0" marR="76223" marT="38112" marB="38112">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marL="0" lvl="0" indent="0" algn="r">
                        <a:buNone/>
                      </a:pPr>
                      <a:r>
                        <a:rPr sz="1000" cap="none" spc="0">
                          <a:solidFill>
                            <a:schemeClr val="tx1"/>
                          </a:solidFill>
                        </a:rPr>
                        <a:t>$1.25</a:t>
                      </a:r>
                    </a:p>
                  </a:txBody>
                  <a:tcPr marL="0" marR="76223" marT="38112" marB="38112">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10005"/>
                  </a:ext>
                </a:extLst>
              </a:tr>
              <a:tr h="411606">
                <a:tc>
                  <a:txBody>
                    <a:bodyPr/>
                    <a:lstStyle/>
                    <a:p>
                      <a:pPr marL="0" lvl="0" indent="0">
                        <a:buNone/>
                      </a:pPr>
                      <a:r>
                        <a:rPr sz="1000" cap="none" spc="0">
                          <a:solidFill>
                            <a:schemeClr val="tx1"/>
                          </a:solidFill>
                        </a:rPr>
                        <a:t>Gemini 2.5 Flash</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lvl="0" indent="0">
                        <a:buNone/>
                      </a:pPr>
                      <a:r>
                        <a:rPr sz="1000" cap="none" spc="0">
                          <a:solidFill>
                            <a:schemeClr val="tx1"/>
                          </a:solidFill>
                        </a:rPr>
                        <a:t>Ultra-fast, great for autocomplete</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lvl="0" indent="0" algn="r">
                        <a:buNone/>
                      </a:pPr>
                      <a:r>
                        <a:rPr sz="1000" cap="none" spc="0">
                          <a:solidFill>
                            <a:schemeClr val="tx1"/>
                          </a:solidFill>
                        </a:rPr>
                        <a:t>$0.30</a:t>
                      </a:r>
                    </a:p>
                  </a:txBody>
                  <a:tcPr marL="38112" marR="76223" marT="38112" marB="38112">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0006"/>
                  </a:ext>
                </a:extLst>
              </a:tr>
              <a:tr h="411606">
                <a:tc>
                  <a:txBody>
                    <a:bodyPr/>
                    <a:lstStyle/>
                    <a:p>
                      <a:pPr marL="0" lvl="0" indent="0">
                        <a:buNone/>
                      </a:pPr>
                      <a:r>
                        <a:rPr sz="1000" cap="none" spc="0">
                          <a:solidFill>
                            <a:schemeClr val="tx1"/>
                          </a:solidFill>
                        </a:rPr>
                        <a:t>Codestral</a:t>
                      </a:r>
                    </a:p>
                  </a:txBody>
                  <a:tcPr marL="0" marR="76223" marT="38112" marB="38112">
                    <a:lnL w="12700" cmpd="sng">
                      <a:noFill/>
                      <a:prstDash val="solid"/>
                    </a:lnL>
                    <a:lnR w="12700" cmpd="sng">
                      <a:noFill/>
                      <a:prstDash val="solid"/>
                    </a:lnR>
                    <a:lnT w="12700" cmpd="sng">
                      <a:noFill/>
                      <a:prstDash val="solid"/>
                    </a:lnT>
                    <a:lnB w="12700" cmpd="sng">
                      <a:noFill/>
                      <a:prstDash val="solid"/>
                    </a:lnB>
                    <a:noFill/>
                  </a:tcPr>
                </a:tc>
                <a:tc>
                  <a:txBody>
                    <a:bodyPr/>
                    <a:lstStyle/>
                    <a:p>
                      <a:pPr marL="0" lvl="0" indent="0">
                        <a:buNone/>
                      </a:pPr>
                      <a:r>
                        <a:rPr sz="1000" cap="none" spc="0">
                          <a:solidFill>
                            <a:schemeClr val="tx1"/>
                          </a:solidFill>
                        </a:rPr>
                        <a:t>Open-weight, self-hostable</a:t>
                      </a:r>
                    </a:p>
                  </a:txBody>
                  <a:tcPr marL="0" marR="76223" marT="38112" marB="38112">
                    <a:lnL w="12700" cmpd="sng">
                      <a:noFill/>
                      <a:prstDash val="solid"/>
                    </a:lnL>
                    <a:lnR w="12700" cmpd="sng">
                      <a:noFill/>
                      <a:prstDash val="solid"/>
                    </a:lnR>
                    <a:lnT w="12700" cmpd="sng">
                      <a:noFill/>
                      <a:prstDash val="solid"/>
                    </a:lnT>
                    <a:lnB w="12700" cmpd="sng">
                      <a:noFill/>
                      <a:prstDash val="solid"/>
                    </a:lnB>
                    <a:noFill/>
                  </a:tcPr>
                </a:tc>
                <a:tc>
                  <a:txBody>
                    <a:bodyPr/>
                    <a:lstStyle/>
                    <a:p>
                      <a:pPr marL="0" lvl="0" indent="0" algn="r">
                        <a:buNone/>
                      </a:pPr>
                      <a:r>
                        <a:rPr sz="1000" cap="none" spc="0">
                          <a:solidFill>
                            <a:schemeClr val="tx1"/>
                          </a:solidFill>
                        </a:rPr>
                        <a:t>Varies</a:t>
                      </a:r>
                    </a:p>
                  </a:txBody>
                  <a:tcPr marL="0" marR="76223" marT="38112" marB="38112">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Deploy Stack</a:t>
            </a:r>
            <a:br>
              <a:rPr dirty="0"/>
            </a:br>
            <a:r>
              <a:rPr lang="en-US" sz="2000" dirty="0"/>
              <a:t>Where vibe-coded apps go to live</a:t>
            </a:r>
            <a:endParaRPr sz="2000" dirty="0"/>
          </a:p>
        </p:txBody>
      </p:sp>
      <p:sp>
        <p:nvSpPr>
          <p:cNvPr id="3" name="Content Placeholder 2"/>
          <p:cNvSpPr>
            <a:spLocks noGrp="1"/>
          </p:cNvSpPr>
          <p:nvPr>
            <p:ph idx="1"/>
          </p:nvPr>
        </p:nvSpPr>
        <p:spPr/>
        <p:txBody>
          <a:bodyPr>
            <a:normAutofit fontScale="62500" lnSpcReduction="20000"/>
          </a:bodyPr>
          <a:lstStyle/>
          <a:p>
            <a:pPr marL="0" lvl="0" indent="0">
              <a:spcBef>
                <a:spcPts val="3000"/>
              </a:spcBef>
              <a:buNone/>
            </a:pPr>
            <a:r>
              <a:rPr b="1" dirty="0" err="1"/>
              <a:t>Supabase</a:t>
            </a:r>
            <a:endParaRPr b="1" dirty="0"/>
          </a:p>
          <a:p>
            <a:pPr marL="0" lvl="0" indent="0">
              <a:buNone/>
            </a:pPr>
            <a:r>
              <a:rPr dirty="0" err="1"/>
              <a:t>Supabase</a:t>
            </a:r>
            <a:r>
              <a:rPr dirty="0"/>
              <a:t> is the default backend: a managed Postgres database with auth, storage, and real-time subscriptions.</a:t>
            </a:r>
          </a:p>
          <a:p>
            <a:pPr lvl="0"/>
            <a:r>
              <a:rPr dirty="0"/>
              <a:t>Open-source</a:t>
            </a:r>
          </a:p>
          <a:p>
            <a:pPr lvl="0"/>
            <a:r>
              <a:rPr dirty="0"/>
              <a:t>Generous free tier</a:t>
            </a:r>
          </a:p>
          <a:p>
            <a:pPr lvl="0"/>
            <a:r>
              <a:rPr dirty="0"/>
              <a:t>Often the default backend for Lovable and </a:t>
            </a:r>
            <a:r>
              <a:rPr dirty="0" err="1"/>
              <a:t>Bolt.new</a:t>
            </a:r>
            <a:r>
              <a:rPr dirty="0"/>
              <a:t> projects</a:t>
            </a:r>
            <a:endParaRPr lang="en-US" dirty="0"/>
          </a:p>
          <a:p>
            <a:pPr marL="0" lvl="0" indent="0">
              <a:buNone/>
            </a:pPr>
            <a:endParaRPr lang="en-US" b="1" dirty="0"/>
          </a:p>
          <a:p>
            <a:pPr marL="0" lvl="0" indent="0">
              <a:buNone/>
            </a:pPr>
            <a:r>
              <a:rPr b="1" dirty="0" err="1"/>
              <a:t>Vercel</a:t>
            </a:r>
            <a:endParaRPr b="1" dirty="0"/>
          </a:p>
          <a:p>
            <a:pPr marL="0" lvl="0" indent="0">
              <a:buNone/>
            </a:pPr>
            <a:r>
              <a:rPr dirty="0" err="1"/>
              <a:t>Vercel</a:t>
            </a:r>
            <a:r>
              <a:rPr dirty="0"/>
              <a:t> is the leading frontend deployment platform, especially for Next.js.</a:t>
            </a:r>
          </a:p>
          <a:p>
            <a:pPr lvl="0"/>
            <a:r>
              <a:rPr dirty="0"/>
              <a:t>Preview deployments on every commit</a:t>
            </a:r>
          </a:p>
          <a:p>
            <a:pPr lvl="0"/>
            <a:r>
              <a:rPr dirty="0"/>
              <a:t>Global edge network</a:t>
            </a:r>
          </a:p>
          <a:p>
            <a:pPr lvl="0"/>
            <a:r>
              <a:rPr dirty="0"/>
              <a:t>Natural home for v0-generated code</a:t>
            </a:r>
          </a:p>
          <a:p>
            <a:pPr lvl="0"/>
            <a:r>
              <a:rPr dirty="0"/>
              <a:t>Pricing: from $20 / </a:t>
            </a:r>
            <a:r>
              <a:rPr dirty="0" err="1"/>
              <a:t>mo</a:t>
            </a:r>
            <a:endParaRPr lang="en-US" dirty="0"/>
          </a:p>
          <a:p>
            <a:pPr marL="0" lvl="0" indent="0">
              <a:buNone/>
            </a:pPr>
            <a:endParaRPr lang="en-US" b="1" dirty="0"/>
          </a:p>
          <a:p>
            <a:pPr marL="0" lvl="0" indent="0">
              <a:buNone/>
            </a:pPr>
            <a:r>
              <a:rPr b="1" dirty="0"/>
              <a:t>Railway</a:t>
            </a:r>
          </a:p>
          <a:p>
            <a:pPr marL="0" lvl="0" indent="0">
              <a:buNone/>
            </a:pPr>
            <a:r>
              <a:rPr dirty="0"/>
              <a:t>Railway handles the backend services </a:t>
            </a:r>
            <a:r>
              <a:rPr dirty="0" err="1"/>
              <a:t>Vercel</a:t>
            </a:r>
            <a:r>
              <a:rPr dirty="0"/>
              <a:t> doesn’t.</a:t>
            </a:r>
          </a:p>
          <a:p>
            <a:pPr lvl="0"/>
            <a:r>
              <a:rPr dirty="0"/>
              <a:t>Supports backend services, Docker containers, and managed databases</a:t>
            </a:r>
          </a:p>
          <a:p>
            <a:pPr lvl="0"/>
            <a:r>
              <a:rPr dirty="0"/>
              <a:t>Typical app cost: about $8-$15 / </a:t>
            </a:r>
            <a:r>
              <a:rPr dirty="0" err="1"/>
              <a:t>mo</a:t>
            </a:r>
            <a:endParaRPr dirty="0"/>
          </a:p>
          <a:p>
            <a:pPr lvl="0"/>
            <a:r>
              <a:rPr dirty="0"/>
              <a:t>Common pairing: </a:t>
            </a:r>
            <a:r>
              <a:rPr dirty="0" err="1"/>
              <a:t>Vercel</a:t>
            </a:r>
            <a:r>
              <a:rPr dirty="0"/>
              <a:t> for frontend plus Railway for backend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Decision Tree</a:t>
            </a:r>
          </a:p>
        </p:txBody>
      </p:sp>
      <p:graphicFrame>
        <p:nvGraphicFramePr>
          <p:cNvPr id="6" name="Content Placeholder 5"/>
          <p:cNvGraphicFramePr>
            <a:graphicFrameLocks noGrp="1"/>
          </p:cNvGraphicFramePr>
          <p:nvPr>
            <p:ph idx="1"/>
          </p:nvPr>
        </p:nvGraphicFramePr>
        <p:xfrm>
          <a:off x="457200" y="1193800"/>
          <a:ext cx="8229600" cy="23774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If you need…</a:t>
                      </a:r>
                    </a:p>
                  </a:txBody>
                  <a:tcPr/>
                </a:tc>
                <a:tc>
                  <a:txBody>
                    <a:bodyPr/>
                    <a:lstStyle/>
                    <a:p>
                      <a:pPr marL="0" lvl="0" indent="0">
                        <a:buNone/>
                      </a:pPr>
                      <a:r>
                        <a:t>Start with…</a:t>
                      </a:r>
                    </a:p>
                  </a:txBody>
                  <a:tcPr/>
                </a:tc>
                <a:extLst>
                  <a:ext uri="{0D108BD9-81ED-4DB2-BD59-A6C34878D82A}">
                    <a16:rowId xmlns:a16="http://schemas.microsoft.com/office/drawing/2014/main" val="10000"/>
                  </a:ext>
                </a:extLst>
              </a:tr>
              <a:tr h="0">
                <a:tc>
                  <a:txBody>
                    <a:bodyPr/>
                    <a:lstStyle/>
                    <a:p>
                      <a:pPr marL="0" lvl="0" indent="0">
                        <a:buNone/>
                      </a:pPr>
                      <a:r>
                        <a:t>A full AI-powered IDE</a:t>
                      </a:r>
                    </a:p>
                  </a:txBody>
                  <a:tcPr/>
                </a:tc>
                <a:tc>
                  <a:txBody>
                    <a:bodyPr/>
                    <a:lstStyle/>
                    <a:p>
                      <a:pPr marL="0" lvl="0" indent="0">
                        <a:buNone/>
                      </a:pPr>
                      <a:r>
                        <a:t>Cursor or Windsurf</a:t>
                      </a:r>
                    </a:p>
                  </a:txBody>
                  <a:tcPr/>
                </a:tc>
                <a:extLst>
                  <a:ext uri="{0D108BD9-81ED-4DB2-BD59-A6C34878D82A}">
                    <a16:rowId xmlns:a16="http://schemas.microsoft.com/office/drawing/2014/main" val="10001"/>
                  </a:ext>
                </a:extLst>
              </a:tr>
              <a:tr h="0">
                <a:tc>
                  <a:txBody>
                    <a:bodyPr/>
                    <a:lstStyle/>
                    <a:p>
                      <a:pPr marL="0" lvl="0" indent="0">
                        <a:buNone/>
                      </a:pPr>
                      <a:r>
                        <a:t>Terminal-first AI coding</a:t>
                      </a:r>
                    </a:p>
                  </a:txBody>
                  <a:tcPr/>
                </a:tc>
                <a:tc>
                  <a:txBody>
                    <a:bodyPr/>
                    <a:lstStyle/>
                    <a:p>
                      <a:pPr marL="0" lvl="0" indent="0">
                        <a:buNone/>
                      </a:pPr>
                      <a:r>
                        <a:t>Claude Code or Aider</a:t>
                      </a:r>
                    </a:p>
                  </a:txBody>
                  <a:tcPr/>
                </a:tc>
                <a:extLst>
                  <a:ext uri="{0D108BD9-81ED-4DB2-BD59-A6C34878D82A}">
                    <a16:rowId xmlns:a16="http://schemas.microsoft.com/office/drawing/2014/main" val="10002"/>
                  </a:ext>
                </a:extLst>
              </a:tr>
              <a:tr h="0">
                <a:tc>
                  <a:txBody>
                    <a:bodyPr/>
                    <a:lstStyle/>
                    <a:p>
                      <a:pPr marL="0" lvl="0" indent="0">
                        <a:buNone/>
                      </a:pPr>
                      <a:r>
                        <a:t>Build an app with zero setup</a:t>
                      </a:r>
                    </a:p>
                  </a:txBody>
                  <a:tcPr/>
                </a:tc>
                <a:tc>
                  <a:txBody>
                    <a:bodyPr/>
                    <a:lstStyle/>
                    <a:p>
                      <a:pPr marL="0" lvl="0" indent="0">
                        <a:buNone/>
                      </a:pPr>
                      <a:r>
                        <a:t>Bolt.new or Lovable</a:t>
                      </a:r>
                    </a:p>
                  </a:txBody>
                  <a:tcPr/>
                </a:tc>
                <a:extLst>
                  <a:ext uri="{0D108BD9-81ED-4DB2-BD59-A6C34878D82A}">
                    <a16:rowId xmlns:a16="http://schemas.microsoft.com/office/drawing/2014/main" val="10003"/>
                  </a:ext>
                </a:extLst>
              </a:tr>
              <a:tr h="0">
                <a:tc>
                  <a:txBody>
                    <a:bodyPr/>
                    <a:lstStyle/>
                    <a:p>
                      <a:pPr marL="0" lvl="0" indent="0">
                        <a:buNone/>
                      </a:pPr>
                      <a:r>
                        <a:t>AI in your existing editor</a:t>
                      </a:r>
                    </a:p>
                  </a:txBody>
                  <a:tcPr/>
                </a:tc>
                <a:tc>
                  <a:txBody>
                    <a:bodyPr/>
                    <a:lstStyle/>
                    <a:p>
                      <a:pPr marL="0" lvl="0" indent="0">
                        <a:buNone/>
                      </a:pPr>
                      <a:r>
                        <a:t>GitHub Copilot</a:t>
                      </a:r>
                    </a:p>
                  </a:txBody>
                  <a:tcPr/>
                </a:tc>
                <a:extLst>
                  <a:ext uri="{0D108BD9-81ED-4DB2-BD59-A6C34878D82A}">
                    <a16:rowId xmlns:a16="http://schemas.microsoft.com/office/drawing/2014/main" val="10004"/>
                  </a:ext>
                </a:extLst>
              </a:tr>
              <a:tr h="0">
                <a:tc>
                  <a:txBody>
                    <a:bodyPr/>
                    <a:lstStyle/>
                    <a:p>
                      <a:pPr marL="0" lvl="0" indent="0">
                        <a:buNone/>
                      </a:pPr>
                      <a:r>
                        <a:t>Enterprise with privacy requirements</a:t>
                      </a:r>
                    </a:p>
                  </a:txBody>
                  <a:tcPr/>
                </a:tc>
                <a:tc>
                  <a:txBody>
                    <a:bodyPr/>
                    <a:lstStyle/>
                    <a:p>
                      <a:pPr marL="0" lvl="0" indent="0">
                        <a:buNone/>
                      </a:pPr>
                      <a:r>
                        <a:t>Tabnine</a:t>
                      </a:r>
                    </a:p>
                  </a:txBody>
                  <a:tcPr/>
                </a:tc>
                <a:extLst>
                  <a:ext uri="{0D108BD9-81ED-4DB2-BD59-A6C34878D82A}">
                    <a16:rowId xmlns:a16="http://schemas.microsoft.com/office/drawing/2014/main" val="10005"/>
                  </a:ext>
                </a:extLst>
              </a:tr>
              <a:tr h="0">
                <a:tc>
                  <a:txBody>
                    <a:bodyPr/>
                    <a:lstStyle/>
                    <a:p>
                      <a:pPr marL="0" lvl="0" indent="0">
                        <a:buNone/>
                      </a:pPr>
                      <a:r>
                        <a:t>A backend without backend knowledge</a:t>
                      </a:r>
                    </a:p>
                  </a:txBody>
                  <a:tcPr/>
                </a:tc>
                <a:tc>
                  <a:txBody>
                    <a:bodyPr/>
                    <a:lstStyle/>
                    <a:p>
                      <a:pPr marL="0" lvl="0" indent="0">
                        <a:buNone/>
                      </a:pPr>
                      <a:r>
                        <a:t>Supabase</a:t>
                      </a:r>
                    </a:p>
                  </a:txBody>
                  <a:tcPr/>
                </a:tc>
                <a:extLst>
                  <a:ext uri="{0D108BD9-81ED-4DB2-BD59-A6C34878D82A}">
                    <a16:rowId xmlns:a16="http://schemas.microsoft.com/office/drawing/2014/main" val="10006"/>
                  </a:ext>
                </a:extLst>
              </a:tr>
              <a:tr h="0">
                <a:tc>
                  <a:txBody>
                    <a:bodyPr/>
                    <a:lstStyle/>
                    <a:p>
                      <a:pPr marL="0" lvl="0" indent="0">
                        <a:buNone/>
                      </a:pPr>
                      <a:r>
                        <a:t>Deploy and host</a:t>
                      </a:r>
                    </a:p>
                  </a:txBody>
                  <a:tcPr/>
                </a:tc>
                <a:tc>
                  <a:txBody>
                    <a:bodyPr/>
                    <a:lstStyle/>
                    <a:p>
                      <a:pPr marL="0" lvl="0" indent="0">
                        <a:buNone/>
                      </a:pPr>
                      <a:r>
                        <a:t>Vercel + Railway</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AFAB136-4F60-481E-28C8-EAC862985EF2}"/>
              </a:ext>
            </a:extLst>
          </p:cNvPr>
          <p:cNvSpPr>
            <a:spLocks noGrp="1"/>
          </p:cNvSpPr>
          <p:nvPr>
            <p:ph type="title"/>
          </p:nvPr>
        </p:nvSpPr>
        <p:spPr>
          <a:xfrm>
            <a:off x="457200" y="205979"/>
            <a:ext cx="8229600" cy="857250"/>
          </a:xfrm>
        </p:spPr>
        <p:txBody>
          <a:bodyPr wrap="square" anchor="b">
            <a:normAutofit/>
          </a:bodyPr>
          <a:lstStyle/>
          <a:p>
            <a:r>
              <a:rPr lang="en-US" dirty="0"/>
              <a:t>Evolving Ecosystem</a:t>
            </a:r>
          </a:p>
        </p:txBody>
      </p:sp>
      <p:graphicFrame>
        <p:nvGraphicFramePr>
          <p:cNvPr id="5" name="Content Placeholder 2">
            <a:extLst>
              <a:ext uri="{FF2B5EF4-FFF2-40B4-BE49-F238E27FC236}">
                <a16:creationId xmlns:a16="http://schemas.microsoft.com/office/drawing/2014/main" id="{3A041A6D-0D61-53DA-03EC-FE210FA4D96E}"/>
              </a:ext>
            </a:extLst>
          </p:cNvPr>
          <p:cNvGraphicFramePr>
            <a:graphicFrameLocks noGrp="1"/>
          </p:cNvGraphicFramePr>
          <p:nvPr>
            <p:ph idx="1"/>
            <p:extLst>
              <p:ext uri="{D42A27DB-BD31-4B8C-83A1-F6EECF244321}">
                <p14:modId xmlns:p14="http://schemas.microsoft.com/office/powerpoint/2010/main" val="2524466898"/>
              </p:ext>
            </p:extLst>
          </p:nvPr>
        </p:nvGraphicFramePr>
        <p:xfrm>
          <a:off x="457200" y="1200151"/>
          <a:ext cx="8229600" cy="3394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4DE593-9EFA-9187-3B65-9E74DFC7D18F}"/>
              </a:ext>
            </a:extLst>
          </p:cNvPr>
          <p:cNvSpPr>
            <a:spLocks noGrp="1"/>
          </p:cNvSpPr>
          <p:nvPr>
            <p:ph type="title"/>
          </p:nvPr>
        </p:nvSpPr>
        <p:spPr/>
        <p:txBody>
          <a:bodyPr/>
          <a:lstStyle/>
          <a:p>
            <a:pPr algn="l"/>
            <a:r>
              <a:rPr lang="en-US" dirty="0"/>
              <a:t>Chapter 3: The Art of the Prompt</a:t>
            </a:r>
            <a:endParaRPr lang="de-DE" dirty="0"/>
          </a:p>
        </p:txBody>
      </p:sp>
      <p:sp>
        <p:nvSpPr>
          <p:cNvPr id="3" name="Content Placeholder 2"/>
          <p:cNvSpPr>
            <a:spLocks noGrp="1"/>
          </p:cNvSpPr>
          <p:nvPr>
            <p:ph idx="1"/>
          </p:nvPr>
        </p:nvSpPr>
        <p:spPr/>
        <p:txBody>
          <a:bodyPr/>
          <a:lstStyle/>
          <a:p>
            <a:pPr marL="0" lvl="0" indent="0">
              <a:buNone/>
            </a:pPr>
            <a:r>
              <a:t>If vibe coding has a core skill, this is it. The quality of what the AI builds is directly proportional to the quality of what you ask for. A vague prompt produces vague code. A precise prompt produces precise code.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Prompt Anatomy</a:t>
            </a:r>
            <a:br>
              <a:rPr dirty="0"/>
            </a:br>
            <a:r>
              <a:rPr lang="en-US" sz="2000" dirty="0"/>
              <a:t>Every effective prompt has four components</a:t>
            </a:r>
            <a:endParaRPr sz="2000" dirty="0"/>
          </a:p>
        </p:txBody>
      </p:sp>
      <p:sp>
        <p:nvSpPr>
          <p:cNvPr id="3" name="Content Placeholder 2"/>
          <p:cNvSpPr>
            <a:spLocks noGrp="1"/>
          </p:cNvSpPr>
          <p:nvPr>
            <p:ph sz="half" idx="1"/>
          </p:nvPr>
        </p:nvSpPr>
        <p:spPr/>
        <p:txBody>
          <a:bodyPr>
            <a:noAutofit/>
          </a:bodyPr>
          <a:lstStyle/>
          <a:p>
            <a:pPr marL="0" lvl="0" indent="0">
              <a:spcBef>
                <a:spcPts val="3000"/>
              </a:spcBef>
              <a:buNone/>
            </a:pPr>
            <a:r>
              <a:rPr sz="1300" b="1" dirty="0"/>
              <a:t>Context</a:t>
            </a:r>
          </a:p>
          <a:p>
            <a:pPr marL="0" lvl="0" indent="0">
              <a:buNone/>
            </a:pPr>
            <a:r>
              <a:rPr sz="1300" dirty="0"/>
              <a:t>What the AI needs to know before it starts: your tech stack, existing code patterns, and the problem domain.</a:t>
            </a:r>
          </a:p>
          <a:p>
            <a:pPr marL="0" lvl="0" indent="0">
              <a:buNone/>
            </a:pPr>
            <a:r>
              <a:rPr sz="1300" dirty="0"/>
              <a:t>Example:</a:t>
            </a:r>
            <a:endParaRPr lang="en-US" sz="1300" dirty="0"/>
          </a:p>
          <a:p>
            <a:pPr marL="0" lvl="0" indent="0">
              <a:buNone/>
            </a:pPr>
            <a:r>
              <a:rPr lang="de-DE" sz="1300" dirty="0"/>
              <a:t>	</a:t>
            </a:r>
            <a:r>
              <a:rPr sz="1300" dirty="0"/>
              <a:t>“I’m building a Next.js app with </a:t>
            </a:r>
            <a:r>
              <a:rPr sz="1300" dirty="0" err="1"/>
              <a:t>Supabase</a:t>
            </a:r>
            <a:r>
              <a:rPr sz="1300" dirty="0"/>
              <a:t>.”</a:t>
            </a:r>
          </a:p>
          <a:p>
            <a:pPr marL="0" lvl="0" indent="0">
              <a:buNone/>
            </a:pPr>
            <a:r>
              <a:rPr sz="1300" dirty="0"/>
              <a:t>That sets very different expectations from:</a:t>
            </a:r>
            <a:endParaRPr lang="en-US" sz="1300" dirty="0"/>
          </a:p>
          <a:p>
            <a:pPr marL="0" lvl="0" indent="0">
              <a:buNone/>
            </a:pPr>
            <a:r>
              <a:rPr lang="de-DE" sz="1300" dirty="0"/>
              <a:t>	</a:t>
            </a:r>
            <a:r>
              <a:rPr sz="1300" dirty="0"/>
              <a:t>“I’m working on an embedded C system.”</a:t>
            </a:r>
            <a:endParaRPr lang="de-DE" sz="1300" dirty="0"/>
          </a:p>
          <a:p>
            <a:pPr marL="0" lvl="0" indent="0">
              <a:buNone/>
            </a:pPr>
            <a:r>
              <a:rPr lang="de-DE" sz="1300" b="1" dirty="0"/>
              <a:t>Task</a:t>
            </a:r>
          </a:p>
          <a:p>
            <a:pPr marL="0" lvl="0" indent="0">
              <a:buNone/>
            </a:pPr>
            <a:r>
              <a:rPr sz="1300" dirty="0"/>
              <a:t>What you want the AI to do, broken into atomic pieces.</a:t>
            </a:r>
          </a:p>
          <a:p>
            <a:pPr marL="0" lvl="0" indent="0">
              <a:buNone/>
            </a:pPr>
            <a:r>
              <a:rPr sz="1300" dirty="0"/>
              <a:t>Instead of:</a:t>
            </a:r>
            <a:endParaRPr lang="en-US" sz="1300" dirty="0"/>
          </a:p>
          <a:p>
            <a:pPr marL="0" lvl="0" indent="0">
              <a:buNone/>
            </a:pPr>
            <a:r>
              <a:rPr lang="de-DE" sz="1300" dirty="0"/>
              <a:t>	</a:t>
            </a:r>
            <a:r>
              <a:rPr sz="1300" dirty="0"/>
              <a:t>“Build me a dashboard.”</a:t>
            </a:r>
          </a:p>
          <a:p>
            <a:pPr marL="0" lvl="0" indent="0">
              <a:buNone/>
            </a:pPr>
            <a:r>
              <a:rPr sz="1300" dirty="0"/>
              <a:t>Use something like:</a:t>
            </a:r>
            <a:endParaRPr lang="en-US" sz="1300" dirty="0"/>
          </a:p>
          <a:p>
            <a:pPr marL="0" lvl="0" indent="0">
              <a:buNone/>
            </a:pPr>
            <a:r>
              <a:rPr lang="de-DE" sz="1300" dirty="0"/>
              <a:t>	</a:t>
            </a:r>
            <a:r>
              <a:rPr sz="1300" dirty="0"/>
              <a:t>“Create a React component that displays a sortable table of user transactions with columns for date, amount, description, and status.”</a:t>
            </a:r>
            <a:endParaRPr lang="en-US" sz="1300" dirty="0"/>
          </a:p>
        </p:txBody>
      </p:sp>
      <p:sp>
        <p:nvSpPr>
          <p:cNvPr id="4" name="Inhaltsplatzhalter 3">
            <a:extLst>
              <a:ext uri="{FF2B5EF4-FFF2-40B4-BE49-F238E27FC236}">
                <a16:creationId xmlns:a16="http://schemas.microsoft.com/office/drawing/2014/main" id="{64289D00-B657-3A2A-D39E-C084F0E30F46}"/>
              </a:ext>
            </a:extLst>
          </p:cNvPr>
          <p:cNvSpPr>
            <a:spLocks noGrp="1"/>
          </p:cNvSpPr>
          <p:nvPr>
            <p:ph sz="half" idx="2"/>
          </p:nvPr>
        </p:nvSpPr>
        <p:spPr/>
        <p:txBody>
          <a:bodyPr>
            <a:normAutofit fontScale="25000" lnSpcReduction="20000"/>
          </a:bodyPr>
          <a:lstStyle/>
          <a:p>
            <a:pPr marL="0" marR="0" lvl="0" indent="0" algn="l" defTabSz="342900" rtl="0" eaLnBrk="1" fontAlgn="auto" latinLnBrk="0" hangingPunct="1">
              <a:lnSpc>
                <a:spcPct val="100000"/>
              </a:lnSpc>
              <a:spcBef>
                <a:spcPct val="20000"/>
              </a:spcBef>
              <a:spcAft>
                <a:spcPts val="0"/>
              </a:spcAft>
              <a:buClrTx/>
              <a:buSzTx/>
              <a:buFont typeface="Arial"/>
              <a:buNone/>
              <a:tabLst/>
              <a:defRPr/>
            </a:pPr>
            <a:r>
              <a:rPr kumimoji="0" lang="en-US" sz="5200" b="1" i="0" u="none" strike="noStrike" kern="1200" cap="none" spc="0" normalizeH="0" baseline="0" noProof="0" dirty="0">
                <a:ln>
                  <a:noFill/>
                </a:ln>
                <a:solidFill>
                  <a:prstClr val="black"/>
                </a:solidFill>
                <a:effectLst/>
                <a:uLnTx/>
                <a:uFillTx/>
                <a:latin typeface="Calibri"/>
                <a:ea typeface="+mn-ea"/>
                <a:cs typeface="+mn-cs"/>
              </a:rPr>
              <a:t>Constraints</a:t>
            </a:r>
          </a:p>
          <a:p>
            <a:pPr marL="0" marR="0" lvl="0" indent="0" algn="l" defTabSz="342900" rtl="0" eaLnBrk="1" fontAlgn="auto" latinLnBrk="0" hangingPunct="1">
              <a:lnSpc>
                <a:spcPct val="100000"/>
              </a:lnSpc>
              <a:spcBef>
                <a:spcPct val="20000"/>
              </a:spcBef>
              <a:spcAft>
                <a:spcPts val="0"/>
              </a:spcAft>
              <a:buClrTx/>
              <a:buSzTx/>
              <a:buFont typeface="Arial"/>
              <a:buNone/>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The rules the output must follow.</a:t>
            </a:r>
          </a:p>
          <a:p>
            <a:pPr marL="0" marR="0" lvl="0" indent="0" algn="l" defTabSz="342900" rtl="0" eaLnBrk="1" fontAlgn="auto" latinLnBrk="0" hangingPunct="1">
              <a:lnSpc>
                <a:spcPct val="100000"/>
              </a:lnSpc>
              <a:spcBef>
                <a:spcPct val="20000"/>
              </a:spcBef>
              <a:spcAft>
                <a:spcPts val="0"/>
              </a:spcAft>
              <a:buClrTx/>
              <a:buSzTx/>
              <a:buFont typeface="Arial"/>
              <a:buNone/>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Examples:</a:t>
            </a:r>
          </a:p>
          <a:p>
            <a:pPr marL="342900" marR="0" lvl="0" indent="-342900" algn="l" defTabSz="342900" rtl="0" eaLnBrk="1" fontAlgn="auto" latinLnBrk="0" hangingPunct="1">
              <a:lnSpc>
                <a:spcPct val="100000"/>
              </a:lnSpc>
              <a:spcBef>
                <a:spcPct val="20000"/>
              </a:spcBef>
              <a:spcAft>
                <a:spcPts val="0"/>
              </a:spcAft>
              <a:buClrTx/>
              <a:buSzTx/>
              <a:buFont typeface="Arial"/>
              <a:buChar char="•"/>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Use parameterized queries</a:t>
            </a:r>
          </a:p>
          <a:p>
            <a:pPr marL="342900" marR="0" lvl="0" indent="-342900" algn="l" defTabSz="342900" rtl="0" eaLnBrk="1" fontAlgn="auto" latinLnBrk="0" hangingPunct="1">
              <a:lnSpc>
                <a:spcPct val="100000"/>
              </a:lnSpc>
              <a:spcBef>
                <a:spcPct val="20000"/>
              </a:spcBef>
              <a:spcAft>
                <a:spcPts val="0"/>
              </a:spcAft>
              <a:buClrTx/>
              <a:buSzTx/>
              <a:buFont typeface="Arial"/>
              <a:buChar char="•"/>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Don’t hardcode secrets</a:t>
            </a:r>
          </a:p>
          <a:p>
            <a:pPr marL="342900" marR="0" lvl="0" indent="-342900" algn="l" defTabSz="342900" rtl="0" eaLnBrk="1" fontAlgn="auto" latinLnBrk="0" hangingPunct="1">
              <a:lnSpc>
                <a:spcPct val="100000"/>
              </a:lnSpc>
              <a:spcBef>
                <a:spcPct val="20000"/>
              </a:spcBef>
              <a:spcAft>
                <a:spcPts val="0"/>
              </a:spcAft>
              <a:buClrTx/>
              <a:buSzTx/>
              <a:buFont typeface="Arial"/>
              <a:buChar char="•"/>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Follow the existing naming convention</a:t>
            </a:r>
          </a:p>
          <a:p>
            <a:pPr marL="342900" marR="0" lvl="0" indent="-342900" algn="l" defTabSz="342900" rtl="0" eaLnBrk="1" fontAlgn="auto" latinLnBrk="0" hangingPunct="1">
              <a:lnSpc>
                <a:spcPct val="100000"/>
              </a:lnSpc>
              <a:spcBef>
                <a:spcPct val="20000"/>
              </a:spcBef>
              <a:spcAft>
                <a:spcPts val="0"/>
              </a:spcAft>
              <a:buClrTx/>
              <a:buSzTx/>
              <a:buFont typeface="Arial"/>
              <a:buChar char="•"/>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Keep the file under 200 lines</a:t>
            </a:r>
          </a:p>
          <a:p>
            <a:pPr marL="342900" marR="0" lvl="0" indent="-342900" algn="l" defTabSz="342900" rtl="0" eaLnBrk="1" fontAlgn="auto" latinLnBrk="0" hangingPunct="1">
              <a:lnSpc>
                <a:spcPct val="100000"/>
              </a:lnSpc>
              <a:spcBef>
                <a:spcPct val="20000"/>
              </a:spcBef>
              <a:spcAft>
                <a:spcPts val="0"/>
              </a:spcAft>
              <a:buClrTx/>
              <a:buSzTx/>
              <a:buFont typeface="Arial"/>
              <a:buChar char="•"/>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Use TypeScript strict mode</a:t>
            </a:r>
          </a:p>
          <a:p>
            <a:pPr marL="0" marR="0" lvl="0" indent="0" algn="l" defTabSz="342900" rtl="0" eaLnBrk="1" fontAlgn="auto" latinLnBrk="0" hangingPunct="1">
              <a:lnSpc>
                <a:spcPct val="100000"/>
              </a:lnSpc>
              <a:spcBef>
                <a:spcPct val="20000"/>
              </a:spcBef>
              <a:spcAft>
                <a:spcPts val="0"/>
              </a:spcAft>
              <a:buClrTx/>
              <a:buSzTx/>
              <a:buFont typeface="Arial"/>
              <a:buNone/>
              <a:tabLst/>
              <a:defRPr/>
            </a:pPr>
            <a:r>
              <a:rPr kumimoji="0" lang="en-US" sz="5200" b="1" i="0" u="none" strike="noStrike" kern="1200" cap="none" spc="0" normalizeH="0" baseline="0" noProof="0" dirty="0">
                <a:ln>
                  <a:noFill/>
                </a:ln>
                <a:solidFill>
                  <a:prstClr val="black"/>
                </a:solidFill>
                <a:effectLst/>
                <a:uLnTx/>
                <a:uFillTx/>
                <a:latin typeface="Calibri"/>
                <a:ea typeface="+mn-ea"/>
                <a:cs typeface="+mn-cs"/>
              </a:rPr>
              <a:t>Iteration Directive</a:t>
            </a:r>
          </a:p>
          <a:p>
            <a:pPr marL="0" marR="0" lvl="0" indent="0" algn="l" defTabSz="342900" rtl="0" eaLnBrk="1" fontAlgn="auto" latinLnBrk="0" hangingPunct="1">
              <a:lnSpc>
                <a:spcPct val="100000"/>
              </a:lnSpc>
              <a:spcBef>
                <a:spcPct val="20000"/>
              </a:spcBef>
              <a:spcAft>
                <a:spcPts val="0"/>
              </a:spcAft>
              <a:buClrTx/>
              <a:buSzTx/>
              <a:buFont typeface="Arial"/>
              <a:buNone/>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How the AI should handle uncertainty.</a:t>
            </a:r>
          </a:p>
          <a:p>
            <a:pPr marL="0" marR="0" lvl="0" indent="0" algn="l" defTabSz="342900" rtl="0" eaLnBrk="1" fontAlgn="auto" latinLnBrk="0" hangingPunct="1">
              <a:lnSpc>
                <a:spcPct val="100000"/>
              </a:lnSpc>
              <a:spcBef>
                <a:spcPct val="20000"/>
              </a:spcBef>
              <a:spcAft>
                <a:spcPts val="0"/>
              </a:spcAft>
              <a:buClrTx/>
              <a:buSzTx/>
              <a:buFont typeface="Arial"/>
              <a:buNone/>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Examples:</a:t>
            </a:r>
          </a:p>
          <a:p>
            <a:pPr marL="342900" marR="0" lvl="0" indent="-342900" algn="l" defTabSz="342900" rtl="0" eaLnBrk="1" fontAlgn="auto" latinLnBrk="0" hangingPunct="1">
              <a:lnSpc>
                <a:spcPct val="100000"/>
              </a:lnSpc>
              <a:spcBef>
                <a:spcPct val="20000"/>
              </a:spcBef>
              <a:spcAft>
                <a:spcPts val="0"/>
              </a:spcAft>
              <a:buClrTx/>
              <a:buSzTx/>
              <a:buFont typeface="Arial"/>
              <a:buChar char="•"/>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If you’re unsure about the database schema, ask before generating</a:t>
            </a:r>
          </a:p>
          <a:p>
            <a:pPr marL="342900" marR="0" lvl="0" indent="-342900" algn="l" defTabSz="342900" rtl="0" eaLnBrk="1" fontAlgn="auto" latinLnBrk="0" hangingPunct="1">
              <a:lnSpc>
                <a:spcPct val="100000"/>
              </a:lnSpc>
              <a:spcBef>
                <a:spcPct val="20000"/>
              </a:spcBef>
              <a:spcAft>
                <a:spcPts val="0"/>
              </a:spcAft>
              <a:buClrTx/>
              <a:buSzTx/>
              <a:buFont typeface="Arial"/>
              <a:buChar char="•"/>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If a dependency doesn’t exist, suggest an alternative</a:t>
            </a: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n-US" sz="5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342900" rtl="0" eaLnBrk="1" fontAlgn="auto" latinLnBrk="0" hangingPunct="1">
              <a:lnSpc>
                <a:spcPct val="100000"/>
              </a:lnSpc>
              <a:spcBef>
                <a:spcPct val="20000"/>
              </a:spcBef>
              <a:spcAft>
                <a:spcPts val="0"/>
              </a:spcAft>
              <a:buClrTx/>
              <a:buSzTx/>
              <a:buFont typeface="Arial"/>
              <a:buNone/>
              <a:tabLst/>
              <a:defRPr/>
            </a:pPr>
            <a:r>
              <a:rPr kumimoji="0" lang="en-US" sz="5200" b="0" i="0" u="none" strike="noStrike" kern="1200" cap="none" spc="0" normalizeH="0" baseline="0" noProof="0" dirty="0">
                <a:ln>
                  <a:noFill/>
                </a:ln>
                <a:solidFill>
                  <a:prstClr val="black"/>
                </a:solidFill>
                <a:effectLst/>
                <a:uLnTx/>
                <a:uFillTx/>
                <a:latin typeface="Calibri"/>
                <a:ea typeface="+mn-ea"/>
                <a:cs typeface="+mn-cs"/>
              </a:rPr>
              <a:t>KD’s ETL prompt and Priya’s bakery dashboard prompt both work because they cover these elements, even though their styles are completely different.</a:t>
            </a:r>
          </a:p>
          <a:p>
            <a:endParaRPr lang="de-DE"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Makes Prompts Fail</a:t>
            </a:r>
          </a:p>
        </p:txBody>
      </p:sp>
      <p:sp>
        <p:nvSpPr>
          <p:cNvPr id="3" name="Content Placeholder 2"/>
          <p:cNvSpPr>
            <a:spLocks noGrp="1"/>
          </p:cNvSpPr>
          <p:nvPr>
            <p:ph sz="half" idx="1"/>
          </p:nvPr>
        </p:nvSpPr>
        <p:spPr/>
        <p:txBody>
          <a:bodyPr>
            <a:normAutofit fontScale="55000" lnSpcReduction="20000"/>
          </a:bodyPr>
          <a:lstStyle/>
          <a:p>
            <a:pPr marL="0" lvl="0" indent="0">
              <a:spcBef>
                <a:spcPts val="3000"/>
              </a:spcBef>
              <a:buNone/>
            </a:pPr>
            <a:r>
              <a:rPr b="1" dirty="0"/>
              <a:t>Too Vague</a:t>
            </a:r>
            <a:br>
              <a:rPr lang="en-US" b="1" dirty="0"/>
            </a:br>
            <a:r>
              <a:rPr lang="en-US" b="1" dirty="0"/>
              <a:t>	</a:t>
            </a:r>
            <a:r>
              <a:rPr sz="2000" dirty="0"/>
              <a:t>“Build me a web app for my business.”</a:t>
            </a:r>
          </a:p>
          <a:p>
            <a:pPr marL="0" lvl="0" indent="0">
              <a:buNone/>
            </a:pPr>
            <a:r>
              <a:rPr dirty="0"/>
              <a:t>The AI will usually produce something generic and useless. You’ll iterate endlessly and still not get what you need.</a:t>
            </a:r>
          </a:p>
          <a:p>
            <a:pPr marL="0" lvl="0" indent="0">
              <a:spcBef>
                <a:spcPts val="3000"/>
              </a:spcBef>
              <a:buNone/>
            </a:pPr>
            <a:r>
              <a:rPr b="1" dirty="0"/>
              <a:t>Too Prescriptive on Implementation</a:t>
            </a:r>
          </a:p>
          <a:p>
            <a:pPr marL="0" lvl="0" indent="0">
              <a:buNone/>
            </a:pPr>
            <a:r>
              <a:rPr dirty="0"/>
              <a:t>If you specify every hook, endpoint, and state variable, you’re just writing code with extra steps.</a:t>
            </a:r>
          </a:p>
          <a:p>
            <a:pPr marL="0" lvl="0" indent="0">
              <a:buNone/>
            </a:pPr>
            <a:r>
              <a:rPr dirty="0"/>
              <a:t>Instead of this:</a:t>
            </a:r>
            <a:endParaRPr lang="en-US" dirty="0"/>
          </a:p>
          <a:p>
            <a:pPr marL="0" lvl="0" indent="0">
              <a:buNone/>
            </a:pPr>
            <a:r>
              <a:rPr lang="de-DE" sz="2000" dirty="0"/>
              <a:t>	</a:t>
            </a:r>
            <a:r>
              <a:rPr sz="2000" dirty="0"/>
              <a:t>“Use a </a:t>
            </a:r>
            <a:r>
              <a:rPr sz="2000" dirty="0" err="1"/>
              <a:t>useEffect</a:t>
            </a:r>
            <a:r>
              <a:rPr sz="2000" dirty="0"/>
              <a:t> hook with a dependency array of [</a:t>
            </a:r>
            <a:r>
              <a:rPr sz="2000" dirty="0" err="1"/>
              <a:t>userId</a:t>
            </a:r>
            <a:r>
              <a:rPr sz="2000" dirty="0"/>
              <a:t>] to fetch from /</a:t>
            </a:r>
            <a:r>
              <a:rPr sz="2000" dirty="0" err="1"/>
              <a:t>api</a:t>
            </a:r>
            <a:r>
              <a:rPr sz="2000" dirty="0"/>
              <a:t>/users/{id} and store it in state.”</a:t>
            </a:r>
          </a:p>
          <a:p>
            <a:pPr marL="0" lvl="0" indent="0">
              <a:buNone/>
            </a:pPr>
            <a:r>
              <a:rPr dirty="0"/>
              <a:t>Prefer this:</a:t>
            </a:r>
            <a:endParaRPr lang="en-US" dirty="0"/>
          </a:p>
          <a:p>
            <a:pPr marL="0" lvl="0" indent="0">
              <a:buNone/>
            </a:pPr>
            <a:r>
              <a:rPr lang="de-DE" sz="2000" dirty="0"/>
              <a:t>	</a:t>
            </a:r>
            <a:r>
              <a:rPr sz="2000" dirty="0"/>
              <a:t>“When the user profile page loads, fetch and display the current user’s data. Handle loading and error states.”</a:t>
            </a:r>
          </a:p>
        </p:txBody>
      </p:sp>
      <p:sp>
        <p:nvSpPr>
          <p:cNvPr id="4" name="Inhaltsplatzhalter 3">
            <a:extLst>
              <a:ext uri="{FF2B5EF4-FFF2-40B4-BE49-F238E27FC236}">
                <a16:creationId xmlns:a16="http://schemas.microsoft.com/office/drawing/2014/main" id="{19250D50-D937-D850-9414-370680D5976C}"/>
              </a:ext>
            </a:extLst>
          </p:cNvPr>
          <p:cNvSpPr>
            <a:spLocks noGrp="1"/>
          </p:cNvSpPr>
          <p:nvPr>
            <p:ph sz="half" idx="2"/>
          </p:nvPr>
        </p:nvSpPr>
        <p:spPr/>
        <p:txBody>
          <a:bodyPr>
            <a:normAutofit fontScale="55000" lnSpcReduction="20000"/>
          </a:bodyPr>
          <a:lstStyle/>
          <a:p>
            <a:pPr marL="0" lvl="0" indent="0">
              <a:spcBef>
                <a:spcPts val="3000"/>
              </a:spcBef>
              <a:buNone/>
            </a:pPr>
            <a:r>
              <a:rPr lang="en-US" b="1" dirty="0"/>
              <a:t>Missing Security Context</a:t>
            </a:r>
          </a:p>
          <a:p>
            <a:pPr marL="0" lvl="0" indent="0">
              <a:buNone/>
            </a:pPr>
            <a:r>
              <a:rPr lang="en-US" dirty="0"/>
              <a:t>Unless you explicitly say things like “validate input,” “use parameterized queries,” or “add authentication,” the AI often won’t. Even a generic instruction like “follow security best practices” materially reduces vulnerabilities.</a:t>
            </a:r>
          </a:p>
          <a:p>
            <a:pPr marL="0" indent="0">
              <a:buNone/>
            </a:pPr>
            <a:endParaRPr lang="de-DE" b="1" dirty="0"/>
          </a:p>
          <a:p>
            <a:pPr marL="0" indent="0">
              <a:buNone/>
            </a:pPr>
            <a:r>
              <a:rPr lang="de-DE" b="1" dirty="0" err="1"/>
              <a:t>Hallucination</a:t>
            </a:r>
            <a:r>
              <a:rPr lang="de-DE" b="1" dirty="0"/>
              <a:t> Traps</a:t>
            </a:r>
          </a:p>
          <a:p>
            <a:pPr marL="0" lvl="0" indent="0">
              <a:buNone/>
            </a:pPr>
            <a:r>
              <a:rPr lang="en-US" dirty="0"/>
              <a:t>“Use the best library for X” invites the AI to hallucinate a package that doesn’t exist.</a:t>
            </a:r>
          </a:p>
          <a:p>
            <a:pPr marL="0" lvl="0" indent="0">
              <a:buNone/>
            </a:pPr>
            <a:r>
              <a:rPr lang="en-US" dirty="0"/>
              <a:t>Better options:</a:t>
            </a:r>
          </a:p>
          <a:p>
            <a:pPr lvl="0"/>
            <a:r>
              <a:rPr lang="en-US" dirty="0"/>
              <a:t>Name a specific library</a:t>
            </a:r>
          </a:p>
          <a:p>
            <a:pPr lvl="0"/>
            <a:r>
              <a:rPr lang="en-US" dirty="0"/>
              <a:t>Ask for a well-maintained library with evidence like downloads or GitHub stars</a:t>
            </a:r>
          </a:p>
          <a:p>
            <a:pPr marL="0" lvl="0" indent="0">
              <a:spcBef>
                <a:spcPts val="3000"/>
              </a:spcBef>
              <a:buNone/>
            </a:pPr>
            <a:r>
              <a:rPr lang="en-US" b="1" dirty="0"/>
              <a:t>Context Overload</a:t>
            </a:r>
          </a:p>
          <a:p>
            <a:pPr marL="0" lvl="0" indent="0">
              <a:buNone/>
            </a:pPr>
            <a:r>
              <a:rPr lang="en-US" dirty="0"/>
              <a:t>Dumping your entire codebase into a prompt doesn’t help. The AI loses focus. Feed it the specific files and interfaces it needs.</a:t>
            </a:r>
          </a:p>
          <a:p>
            <a:endParaRPr lang="de-DE"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Patterns That Work</a:t>
            </a:r>
          </a:p>
        </p:txBody>
      </p:sp>
      <p:sp>
        <p:nvSpPr>
          <p:cNvPr id="3" name="Content Placeholder 2"/>
          <p:cNvSpPr>
            <a:spLocks noGrp="1"/>
          </p:cNvSpPr>
          <p:nvPr>
            <p:ph sz="half" idx="1"/>
          </p:nvPr>
        </p:nvSpPr>
        <p:spPr/>
        <p:txBody>
          <a:bodyPr>
            <a:normAutofit fontScale="55000" lnSpcReduction="20000"/>
          </a:bodyPr>
          <a:lstStyle/>
          <a:p>
            <a:pPr marL="0" lvl="0" indent="0">
              <a:spcBef>
                <a:spcPts val="3000"/>
              </a:spcBef>
              <a:buNone/>
            </a:pPr>
            <a:r>
              <a:rPr b="1" dirty="0"/>
              <a:t>The Specification Pattern</a:t>
            </a:r>
          </a:p>
          <a:p>
            <a:pPr marL="0" lvl="0" indent="0">
              <a:buNone/>
            </a:pPr>
            <a:r>
              <a:rPr dirty="0"/>
              <a:t>Write a detailed spec before touching the AI. Define inputs, outputs, data types, error cases, and constraints. Then translate that into a prompt.</a:t>
            </a:r>
          </a:p>
          <a:p>
            <a:pPr marL="0" lvl="0" indent="0">
              <a:buNone/>
            </a:pPr>
            <a:r>
              <a:rPr dirty="0"/>
              <a:t>Best for: complex backend work, APIs, and data pipelines.</a:t>
            </a:r>
          </a:p>
          <a:p>
            <a:pPr marL="0" lvl="0" indent="0">
              <a:spcBef>
                <a:spcPts val="3000"/>
              </a:spcBef>
              <a:buNone/>
            </a:pPr>
            <a:r>
              <a:rPr b="1" dirty="0"/>
              <a:t>The Conversational Pattern</a:t>
            </a:r>
          </a:p>
          <a:p>
            <a:pPr marL="0" lvl="0" indent="0">
              <a:buNone/>
            </a:pPr>
            <a:r>
              <a:rPr dirty="0"/>
              <a:t>Describe what you want like you’re talking to a smart colleague. Focus on the what and why. Let the AI work out the how.</a:t>
            </a:r>
          </a:p>
          <a:p>
            <a:pPr marL="0" lvl="0" indent="0">
              <a:buNone/>
            </a:pPr>
            <a:r>
              <a:rPr dirty="0"/>
              <a:t>Best for: UI, prototypes, and domain-specific tools.</a:t>
            </a:r>
          </a:p>
          <a:p>
            <a:pPr marL="0" lvl="0" indent="0">
              <a:spcBef>
                <a:spcPts val="3000"/>
              </a:spcBef>
              <a:buNone/>
            </a:pPr>
            <a:r>
              <a:rPr b="1" dirty="0"/>
              <a:t>The Speedrun Pattern</a:t>
            </a:r>
          </a:p>
          <a:p>
            <a:pPr marL="0" lvl="0" indent="0">
              <a:buNone/>
            </a:pPr>
            <a:r>
              <a:rPr dirty="0"/>
              <a:t>Start with a mockup or screenshot, say “build this,” and iterate quickly. If it goes sideways after a few attempts, restart.</a:t>
            </a:r>
          </a:p>
          <a:p>
            <a:pPr marL="0" lvl="0" indent="0">
              <a:buNone/>
            </a:pPr>
            <a:r>
              <a:rPr dirty="0"/>
              <a:t>Best for: MVPs, hackathons, and idea exploration.</a:t>
            </a:r>
          </a:p>
        </p:txBody>
      </p:sp>
      <p:sp>
        <p:nvSpPr>
          <p:cNvPr id="4" name="Inhaltsplatzhalter 3">
            <a:extLst>
              <a:ext uri="{FF2B5EF4-FFF2-40B4-BE49-F238E27FC236}">
                <a16:creationId xmlns:a16="http://schemas.microsoft.com/office/drawing/2014/main" id="{9ADE6E82-DED9-A095-84A3-F4EDE96F840C}"/>
              </a:ext>
            </a:extLst>
          </p:cNvPr>
          <p:cNvSpPr>
            <a:spLocks noGrp="1"/>
          </p:cNvSpPr>
          <p:nvPr>
            <p:ph sz="half" idx="2"/>
          </p:nvPr>
        </p:nvSpPr>
        <p:spPr/>
        <p:txBody>
          <a:bodyPr>
            <a:normAutofit fontScale="55000" lnSpcReduction="20000"/>
          </a:bodyPr>
          <a:lstStyle/>
          <a:p>
            <a:pPr marL="0" lvl="0" indent="0">
              <a:spcBef>
                <a:spcPts val="3000"/>
              </a:spcBef>
              <a:buNone/>
            </a:pPr>
            <a:r>
              <a:rPr lang="en-US" b="1" dirty="0"/>
              <a:t>The Self-Reflection Pattern</a:t>
            </a:r>
          </a:p>
          <a:p>
            <a:pPr marL="0" lvl="0" indent="0">
              <a:buNone/>
            </a:pPr>
            <a:r>
              <a:rPr lang="en-US" dirty="0"/>
              <a:t>Use a two-stage process:</a:t>
            </a:r>
          </a:p>
          <a:p>
            <a:pPr lvl="0">
              <a:buAutoNum type="arabicPeriod"/>
            </a:pPr>
            <a:r>
              <a:rPr lang="en-US" dirty="0"/>
              <a:t>Build the feature.</a:t>
            </a:r>
          </a:p>
          <a:p>
            <a:pPr lvl="0">
              <a:buAutoNum type="arabicPeriod"/>
            </a:pPr>
            <a:r>
              <a:rPr lang="en-US" dirty="0"/>
              <a:t>Ask the AI to review its own output as a senior security engineer.</a:t>
            </a:r>
          </a:p>
          <a:p>
            <a:pPr marL="0" lvl="0" indent="0">
              <a:buNone/>
            </a:pPr>
            <a:r>
              <a:rPr lang="en-US" dirty="0"/>
              <a:t>This catches a surprising number of issues.</a:t>
            </a:r>
          </a:p>
          <a:p>
            <a:pPr marL="0" lvl="0" indent="0">
              <a:spcBef>
                <a:spcPts val="3000"/>
              </a:spcBef>
              <a:buNone/>
            </a:pPr>
            <a:r>
              <a:rPr lang="en-US" b="1" dirty="0"/>
              <a:t>The Incremental Pattern</a:t>
            </a:r>
          </a:p>
          <a:p>
            <a:pPr marL="0" lvl="0" indent="0">
              <a:buNone/>
            </a:pPr>
            <a:r>
              <a:rPr lang="en-US" dirty="0"/>
              <a:t>Don’t ask for the whole app at once. Build module by module:</a:t>
            </a:r>
          </a:p>
          <a:p>
            <a:pPr lvl="0">
              <a:buAutoNum type="arabicPeriod"/>
            </a:pPr>
            <a:r>
              <a:rPr lang="en-US" dirty="0"/>
              <a:t>Create the database schema</a:t>
            </a:r>
          </a:p>
          <a:p>
            <a:pPr lvl="0">
              <a:buAutoNum type="arabicPeriod"/>
            </a:pPr>
            <a:r>
              <a:rPr lang="en-US" dirty="0"/>
              <a:t>Review it</a:t>
            </a:r>
          </a:p>
          <a:p>
            <a:pPr lvl="0">
              <a:buAutoNum type="arabicPeriod"/>
            </a:pPr>
            <a:r>
              <a:rPr lang="en-US" dirty="0"/>
              <a:t>Create the API endpoints</a:t>
            </a:r>
          </a:p>
          <a:p>
            <a:pPr lvl="0">
              <a:buAutoNum type="arabicPeriod"/>
            </a:pPr>
            <a:r>
              <a:rPr lang="en-US" dirty="0"/>
              <a:t>Review them</a:t>
            </a:r>
          </a:p>
          <a:p>
            <a:pPr lvl="0">
              <a:buAutoNum type="arabicPeriod"/>
            </a:pPr>
            <a:r>
              <a:rPr lang="en-US" dirty="0"/>
              <a:t>Build the frontend against those endpoints</a:t>
            </a:r>
          </a:p>
          <a:p>
            <a:pPr marL="0" lvl="0" indent="0">
              <a:buNone/>
            </a:pPr>
            <a:r>
              <a:rPr lang="en-US" dirty="0"/>
              <a:t>Each step builds on verified output.</a:t>
            </a:r>
          </a:p>
          <a:p>
            <a:endParaRPr lang="de-DE"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Anti-Patterns</a:t>
            </a:r>
          </a:p>
        </p:txBody>
      </p:sp>
      <p:sp>
        <p:nvSpPr>
          <p:cNvPr id="3" name="Content Placeholder 2"/>
          <p:cNvSpPr>
            <a:spLocks noGrp="1"/>
          </p:cNvSpPr>
          <p:nvPr>
            <p:ph sz="half" idx="1"/>
          </p:nvPr>
        </p:nvSpPr>
        <p:spPr/>
        <p:txBody>
          <a:bodyPr>
            <a:normAutofit fontScale="77500" lnSpcReduction="20000"/>
          </a:bodyPr>
          <a:lstStyle/>
          <a:p>
            <a:pPr marL="0" lvl="0" indent="0">
              <a:spcBef>
                <a:spcPts val="3000"/>
              </a:spcBef>
              <a:buNone/>
            </a:pPr>
            <a:r>
              <a:rPr b="1" dirty="0"/>
              <a:t>The “Fix It” Loop</a:t>
            </a:r>
          </a:p>
          <a:p>
            <a:pPr marL="0" lvl="0" indent="0">
              <a:buNone/>
            </a:pPr>
            <a:r>
              <a:rPr dirty="0"/>
              <a:t>Pasting an error and saying “fix it” over and over often makes the code worse after a few rounds. If two attempts don’t work, restate the problem from scratch with better context.</a:t>
            </a:r>
          </a:p>
          <a:p>
            <a:pPr marL="0" lvl="0" indent="0">
              <a:spcBef>
                <a:spcPts val="3000"/>
              </a:spcBef>
              <a:buNone/>
            </a:pPr>
            <a:r>
              <a:rPr b="1" dirty="0"/>
              <a:t>The Sunk Cost Prompt</a:t>
            </a:r>
          </a:p>
          <a:p>
            <a:pPr marL="0" lvl="0" indent="0">
              <a:buNone/>
            </a:pPr>
            <a:r>
              <a:rPr dirty="0"/>
              <a:t>If you’ve already spent 20 messages on bad output, don’t keep going just because you’ve invested time. A fresh conversation with a better prompt often gets you further in five minutes than fifty iterations on a bad foundation.</a:t>
            </a:r>
          </a:p>
        </p:txBody>
      </p:sp>
      <p:sp>
        <p:nvSpPr>
          <p:cNvPr id="4" name="Inhaltsplatzhalter 3">
            <a:extLst>
              <a:ext uri="{FF2B5EF4-FFF2-40B4-BE49-F238E27FC236}">
                <a16:creationId xmlns:a16="http://schemas.microsoft.com/office/drawing/2014/main" id="{263FA7D7-1A70-C6C7-7B3F-1D0E31E216DC}"/>
              </a:ext>
            </a:extLst>
          </p:cNvPr>
          <p:cNvSpPr>
            <a:spLocks noGrp="1"/>
          </p:cNvSpPr>
          <p:nvPr>
            <p:ph sz="half" idx="2"/>
          </p:nvPr>
        </p:nvSpPr>
        <p:spPr/>
        <p:txBody>
          <a:bodyPr>
            <a:normAutofit fontScale="77500" lnSpcReduction="20000"/>
          </a:bodyPr>
          <a:lstStyle/>
          <a:p>
            <a:pPr marL="0" lvl="0" indent="0">
              <a:spcBef>
                <a:spcPts val="3000"/>
              </a:spcBef>
              <a:buNone/>
            </a:pPr>
            <a:r>
              <a:rPr lang="en-US" b="1" dirty="0"/>
              <a:t>The Copy-Paste Marathon</a:t>
            </a:r>
          </a:p>
          <a:p>
            <a:pPr marL="0" lvl="0" indent="0">
              <a:buNone/>
            </a:pPr>
            <a:r>
              <a:rPr lang="en-US" dirty="0"/>
              <a:t>Copying code between multiple AI sessions without understanding it creates Frankenstein code that neither you nor the AI can debug coherently.</a:t>
            </a:r>
          </a:p>
          <a:p>
            <a:pPr marL="0" lvl="0" indent="0">
              <a:spcBef>
                <a:spcPts val="3000"/>
              </a:spcBef>
              <a:buNone/>
            </a:pPr>
            <a:r>
              <a:rPr lang="en-US" b="1" dirty="0"/>
              <a:t>Prompt Injection Blindness</a:t>
            </a:r>
          </a:p>
          <a:p>
            <a:pPr marL="0" lvl="0" indent="0">
              <a:buNone/>
            </a:pPr>
            <a:r>
              <a:rPr lang="en-US" dirty="0"/>
              <a:t>Asking the AI to process untrusted input inside a prompt without sanitization is a security vulnerability, not just a workflow mistake.</a:t>
            </a:r>
          </a:p>
          <a:p>
            <a:endParaRPr lang="de-DE"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Meta-Skill</a:t>
            </a:r>
          </a:p>
        </p:txBody>
      </p:sp>
      <p:sp>
        <p:nvSpPr>
          <p:cNvPr id="3" name="Content Placeholder 2"/>
          <p:cNvSpPr>
            <a:spLocks noGrp="1"/>
          </p:cNvSpPr>
          <p:nvPr>
            <p:ph idx="1"/>
          </p:nvPr>
        </p:nvSpPr>
        <p:spPr/>
        <p:txBody>
          <a:bodyPr>
            <a:normAutofit lnSpcReduction="10000"/>
          </a:bodyPr>
          <a:lstStyle/>
          <a:p>
            <a:pPr marL="0" lvl="0" indent="0">
              <a:buNone/>
            </a:pPr>
            <a:r>
              <a:t>The deeper skill isn’t any one prompting technique. It’s knowing how to decompose a problem into AI-sized pieces: small enough that the AI can solve them reliably, but large enough that you’re not micromanaging every line.</a:t>
            </a:r>
          </a:p>
          <a:p>
            <a:pPr marL="0" lvl="0" indent="0">
              <a:buNone/>
            </a:pPr>
            <a:r>
              <a:t>This is the same skill that makes someone good at delegating to humans: clear scope, clear constraints, clear success criteria, and the judgment to evaluate the result.</a:t>
            </a:r>
          </a:p>
          <a:p>
            <a:pPr marL="0" lvl="0" indent="0">
              <a:buNone/>
            </a:pPr>
            <a:r>
              <a:t>The best vibe coders aren’t the best prompters. They’re the best thinkers.</a:t>
            </a:r>
          </a:p>
          <a:p>
            <a:pPr marL="0" lvl="0" indent="0">
              <a:buNone/>
            </a:pPr>
            <a:r>
              <a:t>Or, as DeepSeek R1 put it in feedback on this whitebook:</a:t>
            </a:r>
          </a:p>
          <a:p>
            <a:pPr marL="1270000" lvl="0" indent="0">
              <a:buNone/>
            </a:pPr>
            <a:r>
              <a:rPr sz="2000"/>
              <a:t>“Vibe coding is a fundamental abstraction shift from specification-by-implementation to specification-by-intent.”</a:t>
            </a:r>
          </a:p>
          <a:p>
            <a:pPr marL="0" lvl="0" indent="0">
              <a:buNone/>
            </a:pPr>
            <a:r>
              <a:t>You’re no longer telling the computer how to do something. You’re telling it what you want.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42FE3A-09A7-B63D-F76C-A4F6D9A7AD09}"/>
              </a:ext>
            </a:extLst>
          </p:cNvPr>
          <p:cNvSpPr>
            <a:spLocks noGrp="1"/>
          </p:cNvSpPr>
          <p:nvPr>
            <p:ph type="title"/>
          </p:nvPr>
        </p:nvSpPr>
        <p:spPr/>
        <p:txBody>
          <a:bodyPr/>
          <a:lstStyle/>
          <a:p>
            <a:pPr algn="l"/>
            <a:r>
              <a:rPr lang="en-US" dirty="0"/>
              <a:t>Chapter 4: Testimonials - Voices from the Vibe</a:t>
            </a:r>
            <a:endParaRPr lang="de-DE" dirty="0"/>
          </a:p>
        </p:txBody>
      </p:sp>
      <p:sp>
        <p:nvSpPr>
          <p:cNvPr id="3" name="Content Placeholder 2"/>
          <p:cNvSpPr>
            <a:spLocks noGrp="1"/>
          </p:cNvSpPr>
          <p:nvPr>
            <p:ph idx="1"/>
          </p:nvPr>
        </p:nvSpPr>
        <p:spPr/>
        <p:txBody>
          <a:bodyPr/>
          <a:lstStyle/>
          <a:p>
            <a:r>
              <a:rPr dirty="0"/>
              <a:t>Five vibe coders. </a:t>
            </a:r>
            <a:endParaRPr lang="en-US" dirty="0"/>
          </a:p>
          <a:p>
            <a:r>
              <a:rPr dirty="0"/>
              <a:t>Five very different outcomes. </a:t>
            </a:r>
            <a:endParaRPr lang="en-US" dirty="0"/>
          </a:p>
          <a:p>
            <a:r>
              <a:rPr dirty="0"/>
              <a:t>Not every story is a success story.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Klaus-Dieter “KD” Brandstetter</a:t>
            </a:r>
          </a:p>
        </p:txBody>
      </p:sp>
      <p:sp>
        <p:nvSpPr>
          <p:cNvPr id="3" name="Content Placeholder 2"/>
          <p:cNvSpPr>
            <a:spLocks noGrp="1"/>
          </p:cNvSpPr>
          <p:nvPr>
            <p:ph idx="1"/>
          </p:nvPr>
        </p:nvSpPr>
        <p:spPr/>
        <p:txBody>
          <a:bodyPr>
            <a:normAutofit fontScale="25000" lnSpcReduction="20000"/>
          </a:bodyPr>
          <a:lstStyle/>
          <a:p>
            <a:pPr marL="1270000" lvl="0" indent="0">
              <a:buNone/>
            </a:pPr>
            <a:r>
              <a:rPr sz="2000"/>
              <a:t>“I don’t vibe code. I architect, and the AI implements.”</a:t>
            </a:r>
          </a:p>
          <a:p>
            <a:pPr lvl="0"/>
            <a:r>
              <a:t>Age / Location: 52, Stuttgart, Germany</a:t>
            </a:r>
          </a:p>
          <a:p>
            <a:pPr lvl="0"/>
            <a:r>
              <a:t>Role: Principal Software Engineer, automotive embedded systems</a:t>
            </a:r>
          </a:p>
          <a:p>
            <a:pPr lvl="0"/>
            <a:r>
              <a:t>Experience: 30+ years across C, C++, Java, Python, Rust, and JavaScript</a:t>
            </a:r>
          </a:p>
          <a:p>
            <a:pPr marL="0" lvl="0" indent="0">
              <a:buNone/>
            </a:pPr>
            <a:r>
              <a:t>KD started vibe coding “just to see what the fuss was about” after his niece built a working app in an afternoon. Three weeks later he had rebuilt a dashboard that had been stuck in Jira for eight months.</a:t>
            </a:r>
          </a:p>
          <a:p>
            <a:pPr marL="0" lvl="0" indent="0">
              <a:spcBef>
                <a:spcPts val="3000"/>
              </a:spcBef>
              <a:buNone/>
            </a:pPr>
            <a:r>
              <a:rPr b="1"/>
              <a:t>Setup</a:t>
            </a:r>
          </a:p>
          <a:p>
            <a:pPr lvl="0"/>
            <a:r>
              <a:t>ThinkPad T14s running Arch Linux</a:t>
            </a:r>
          </a:p>
          <a:p>
            <a:pPr lvl="0"/>
            <a:r>
              <a:t>Keychron Q1 Pro mechanical keyboard</a:t>
            </a:r>
          </a:p>
          <a:p>
            <a:pPr lvl="0"/>
            <a:r>
              <a:t>Claude Pro</a:t>
            </a:r>
          </a:p>
          <a:p>
            <a:pPr lvl="0"/>
            <a:r>
              <a:t>Cursor Pro</a:t>
            </a:r>
          </a:p>
          <a:p>
            <a:pPr lvl="0"/>
            <a:r>
              <a:t>A leather-bound notebook for prompts</a:t>
            </a:r>
          </a:p>
          <a:p>
            <a:pPr marL="0" lvl="0" indent="0">
              <a:spcBef>
                <a:spcPts val="3000"/>
              </a:spcBef>
              <a:buNone/>
            </a:pPr>
            <a:r>
              <a:rPr b="1"/>
              <a:t>What He Built</a:t>
            </a:r>
          </a:p>
          <a:p>
            <a:pPr lvl="0"/>
            <a:r>
              <a:t>Bericht-O-Mat, a reporting tool pulling from SAP, Oracle, and SharePoint</a:t>
            </a:r>
          </a:p>
          <a:p>
            <a:pPr lvl="0"/>
            <a:r>
              <a:t>A Raspberry Pi greenhouse monitor for his wife</a:t>
            </a:r>
          </a:p>
          <a:p>
            <a:pPr marL="0" lvl="0" indent="0">
              <a:spcBef>
                <a:spcPts val="3000"/>
              </a:spcBef>
              <a:buNone/>
            </a:pPr>
            <a:r>
              <a:rPr b="1"/>
              <a:t>Workflow</a:t>
            </a:r>
          </a:p>
          <a:p>
            <a:pPr marL="0" lvl="0" indent="0">
              <a:buNone/>
            </a:pPr>
            <a:r>
              <a:t>He writes architectural specs on paper first, then translates them into precise prompts. He reviews every line.</a:t>
            </a:r>
          </a:p>
          <a:p>
            <a:pPr marL="0" lvl="0" indent="0">
              <a:spcBef>
                <a:spcPts val="3000"/>
              </a:spcBef>
              <a:buNone/>
            </a:pPr>
            <a:r>
              <a:rPr b="1"/>
              <a:t>Best Prompt</a:t>
            </a:r>
          </a:p>
          <a:p>
            <a:pPr marL="1270000" lvl="0" indent="0">
              <a:buNone/>
            </a:pPr>
            <a:r>
              <a:rPr sz="2000"/>
              <a:t>“Python ETL service: connect to Oracle 19c via cx_Oracle, pull WEEKLY_METRICS for last 7 days, normalize into a pandas DataFrame, handle NULLs with rolling 4-week averages, expose via FastAPI at /api/reports/weekly. Include connection pooling, retry with exponential backoff, structured logging, and pytest tests with mocked DB. Must pass mypy strict.”</a:t>
            </a:r>
          </a:p>
          <a:p>
            <a:pPr marL="0" lvl="0" indent="0">
              <a:spcBef>
                <a:spcPts val="3000"/>
              </a:spcBef>
              <a:buNone/>
            </a:pPr>
            <a:r>
              <a:rPr b="1"/>
              <a:t>What Works</a:t>
            </a:r>
          </a:p>
          <a:p>
            <a:pPr lvl="0"/>
            <a:r>
              <a:t>Boilerplate elimination</a:t>
            </a:r>
          </a:p>
          <a:p>
            <a:pPr lvl="0"/>
            <a:r>
              <a:t>Integration glue</a:t>
            </a:r>
          </a:p>
          <a:p>
            <a:pPr lvl="0"/>
            <a:r>
              <a:t>Test generation</a:t>
            </a:r>
          </a:p>
          <a:p>
            <a:pPr lvl="0"/>
            <a:r>
              <a:t>Exploring unfamiliar domains</a:t>
            </a:r>
          </a:p>
          <a:p>
            <a:pPr marL="0" lvl="0" indent="0">
              <a:spcBef>
                <a:spcPts val="3000"/>
              </a:spcBef>
              <a:buNone/>
            </a:pPr>
            <a:r>
              <a:rPr b="1"/>
              <a:t>What Doesn’t</a:t>
            </a:r>
          </a:p>
          <a:p>
            <a:pPr lvl="0"/>
            <a:r>
              <a:t>Legacy quirks nobody documented</a:t>
            </a:r>
          </a:p>
          <a:p>
            <a:pPr lvl="0"/>
            <a:r>
              <a:t>Real-time embedded constraints</a:t>
            </a:r>
          </a:p>
          <a:p>
            <a:pPr marL="0" lvl="0" indent="0">
              <a:spcBef>
                <a:spcPts val="3000"/>
              </a:spcBef>
              <a:buNone/>
            </a:pPr>
            <a:r>
              <a:rPr b="1"/>
              <a:t>View of the Future</a:t>
            </a:r>
          </a:p>
          <a:p>
            <a:pPr marL="1270000" lvl="0" indent="0">
              <a:buNone/>
            </a:pPr>
            <a:r>
              <a:rPr sz="2000"/>
              <a:t>“The craft isn’t typing code. It never was. It’s understanding systems - what to build, why, and what breaks at 3 AM. The keyboard was always just the bottleneck.”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Priya Chakraborty-Nilsson</a:t>
            </a:r>
          </a:p>
        </p:txBody>
      </p:sp>
      <p:sp>
        <p:nvSpPr>
          <p:cNvPr id="3" name="Content Placeholder 2"/>
          <p:cNvSpPr>
            <a:spLocks noGrp="1"/>
          </p:cNvSpPr>
          <p:nvPr>
            <p:ph idx="1"/>
          </p:nvPr>
        </p:nvSpPr>
        <p:spPr/>
        <p:txBody>
          <a:bodyPr>
            <a:normAutofit fontScale="25000" lnSpcReduction="20000"/>
          </a:bodyPr>
          <a:lstStyle/>
          <a:p>
            <a:pPr marL="1270000" lvl="0" indent="0">
              <a:buNone/>
            </a:pPr>
            <a:r>
              <a:rPr sz="2000"/>
              <a:t>“The AI knows JavaScript. I know baking. Together we’re dangerous.”</a:t>
            </a:r>
          </a:p>
          <a:p>
            <a:pPr lvl="0"/>
            <a:r>
              <a:t>Age / Location: 37, Malmo, Sweden</a:t>
            </a:r>
          </a:p>
          <a:p>
            <a:pPr lvl="0"/>
            <a:r>
              <a:t>Role: Owner of “Mjol &amp; Masala” fusion bakery, accidental SaaS founder</a:t>
            </a:r>
          </a:p>
          <a:p>
            <a:pPr lvl="0"/>
            <a:r>
              <a:t>Experience: effectively zero formal software background</a:t>
            </a:r>
          </a:p>
          <a:p>
            <a:pPr marL="0" lvl="0" indent="0">
              <a:buNone/>
            </a:pPr>
            <a:r>
              <a:t>A Le Cordon Bleu pastry chef, Priya was spending 20 hours a week on scheduling and inventory. After a developer quoted 180,000 SEK, she decided to build the software herself.</a:t>
            </a:r>
          </a:p>
          <a:p>
            <a:pPr marL="0" lvl="0" indent="0">
              <a:spcBef>
                <a:spcPts val="3000"/>
              </a:spcBef>
              <a:buNone/>
            </a:pPr>
            <a:r>
              <a:rPr b="1"/>
              <a:t>Setup</a:t>
            </a:r>
          </a:p>
          <a:p>
            <a:pPr lvl="0"/>
            <a:r>
              <a:t>Refurbished MacBook Air M3</a:t>
            </a:r>
          </a:p>
          <a:p>
            <a:pPr lvl="0"/>
            <a:r>
              <a:t>Claude Pro</a:t>
            </a:r>
          </a:p>
          <a:p>
            <a:pPr lvl="0"/>
            <a:r>
              <a:t>Bolt.new</a:t>
            </a:r>
          </a:p>
          <a:p>
            <a:pPr lvl="0"/>
            <a:r>
              <a:t>Supabase and Vercel</a:t>
            </a:r>
          </a:p>
          <a:p>
            <a:pPr marL="0" lvl="0" indent="0">
              <a:spcBef>
                <a:spcPts val="3000"/>
              </a:spcBef>
              <a:buNone/>
            </a:pPr>
            <a:r>
              <a:rPr b="1"/>
              <a:t>What She Built</a:t>
            </a:r>
          </a:p>
          <a:p>
            <a:pPr lvl="0"/>
            <a:r>
              <a:t>BakeryOS for production scheduling, inventory, staff shifts, and loyalty features</a:t>
            </a:r>
          </a:p>
          <a:p>
            <a:pPr lvl="0"/>
            <a:r>
              <a:t>A recipe calculator that later gained thousands of users</a:t>
            </a:r>
          </a:p>
          <a:p>
            <a:pPr marL="0" lvl="0" indent="0">
              <a:spcBef>
                <a:spcPts val="3000"/>
              </a:spcBef>
              <a:buNone/>
            </a:pPr>
            <a:r>
              <a:rPr b="1"/>
              <a:t>Workflow</a:t>
            </a:r>
          </a:p>
          <a:p>
            <a:pPr marL="0" lvl="0" indent="0">
              <a:buNone/>
            </a:pPr>
            <a:r>
              <a:t>She describes what she wants like she’s explaining it to a smart friend. When she gets stuck, she asks for an explanation “like I’m a baker, not a programmer.”</a:t>
            </a:r>
          </a:p>
          <a:p>
            <a:pPr marL="0" lvl="0" indent="0">
              <a:spcBef>
                <a:spcPts val="3000"/>
              </a:spcBef>
              <a:buNone/>
            </a:pPr>
            <a:r>
              <a:rPr b="1"/>
              <a:t>Best Prompt</a:t>
            </a:r>
          </a:p>
          <a:p>
            <a:pPr marL="1270000" lvl="0" indent="0">
              <a:buNone/>
            </a:pPr>
            <a:r>
              <a:rPr sz="2000"/>
              <a:t>“Dashboard for my bakery staff. Tomorrow’s date + weather forecast at top. Grid of recipe cards below - vintage look, warm cream background. Each card: product name, quantity, done-checkbox, bake timer. Bottom: total flour / butter / sugar needed. Highlight red if inventory is low. Big buttons - my bakers use it with floury hands.”</a:t>
            </a:r>
          </a:p>
          <a:p>
            <a:pPr marL="0" lvl="0" indent="0">
              <a:spcBef>
                <a:spcPts val="3000"/>
              </a:spcBef>
              <a:buNone/>
            </a:pPr>
            <a:r>
              <a:rPr b="1"/>
              <a:t>What Works</a:t>
            </a:r>
          </a:p>
          <a:p>
            <a:pPr lvl="0"/>
            <a:r>
              <a:t>UI prototyping</a:t>
            </a:r>
          </a:p>
          <a:p>
            <a:pPr lvl="0"/>
            <a:r>
              <a:t>CRUD and API integrations</a:t>
            </a:r>
          </a:p>
          <a:p>
            <a:pPr lvl="0"/>
            <a:r>
              <a:t>Translating domain expertise into software</a:t>
            </a:r>
          </a:p>
          <a:p>
            <a:pPr marL="0" lvl="0" indent="0">
              <a:spcBef>
                <a:spcPts val="3000"/>
              </a:spcBef>
              <a:buNone/>
            </a:pPr>
            <a:r>
              <a:rPr b="1"/>
              <a:t>What Doesn’t</a:t>
            </a:r>
          </a:p>
          <a:p>
            <a:pPr lvl="0"/>
            <a:r>
              <a:t>Deep debugging</a:t>
            </a:r>
          </a:p>
          <a:p>
            <a:pPr lvl="0"/>
            <a:r>
              <a:t>Scaling</a:t>
            </a:r>
          </a:p>
          <a:p>
            <a:pPr lvl="0"/>
            <a:r>
              <a:t>Security</a:t>
            </a:r>
          </a:p>
          <a:p>
            <a:pPr marL="0" lvl="0" indent="0">
              <a:spcBef>
                <a:spcPts val="3000"/>
              </a:spcBef>
              <a:buNone/>
            </a:pPr>
            <a:r>
              <a:rPr b="1"/>
              <a:t>View of the Future</a:t>
            </a:r>
          </a:p>
          <a:p>
            <a:pPr marL="1270000" lvl="0" indent="0">
              <a:buNone/>
            </a:pPr>
            <a:r>
              <a:rPr sz="2000"/>
              <a:t>“The future isn’t ‘everyone becomes a programmer.’ It’s ‘everyone who has a problem can build a solution.’”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Jayden “Jay” Okonkwo-Park</a:t>
            </a:r>
          </a:p>
        </p:txBody>
      </p:sp>
      <p:sp>
        <p:nvSpPr>
          <p:cNvPr id="3" name="Content Placeholder 2"/>
          <p:cNvSpPr>
            <a:spLocks noGrp="1"/>
          </p:cNvSpPr>
          <p:nvPr>
            <p:ph idx="1"/>
          </p:nvPr>
        </p:nvSpPr>
        <p:spPr/>
        <p:txBody>
          <a:bodyPr>
            <a:normAutofit fontScale="25000" lnSpcReduction="20000"/>
          </a:bodyPr>
          <a:lstStyle/>
          <a:p>
            <a:pPr marL="1270000" lvl="0" indent="0">
              <a:buNone/>
            </a:pPr>
            <a:r>
              <a:rPr sz="2000"/>
              <a:t>“I’m not behind. Everyone else is catching up.”</a:t>
            </a:r>
          </a:p>
          <a:p>
            <a:pPr lvl="0"/>
            <a:r>
              <a:t>Age / Location: 21, Austin, Texas</a:t>
            </a:r>
          </a:p>
          <a:p>
            <a:pPr lvl="0"/>
            <a:r>
              <a:t>Role: CS student at UT Austin</a:t>
            </a:r>
          </a:p>
          <a:p>
            <a:pPr lvl="0"/>
            <a:r>
              <a:t>Experience: AI-assisted coding is the only coding he’s ever known</a:t>
            </a:r>
          </a:p>
          <a:p>
            <a:pPr marL="0" lvl="0" indent="0">
              <a:buNone/>
            </a:pPr>
            <a:r>
              <a:t>Jay started coding when ChatGPT arrived during his senior year and later landed a startup internship because his AI-built portfolio stood out.</a:t>
            </a:r>
          </a:p>
          <a:p>
            <a:pPr marL="0" lvl="0" indent="0">
              <a:spcBef>
                <a:spcPts val="3000"/>
              </a:spcBef>
              <a:buNone/>
            </a:pPr>
            <a:r>
              <a:rPr b="1"/>
              <a:t>Setup</a:t>
            </a:r>
          </a:p>
          <a:p>
            <a:pPr lvl="0"/>
            <a:r>
              <a:t>MacBook Pro M4</a:t>
            </a:r>
          </a:p>
          <a:p>
            <a:pPr lvl="0"/>
            <a:r>
              <a:t>Claude Pro</a:t>
            </a:r>
          </a:p>
          <a:p>
            <a:pPr lvl="0"/>
            <a:r>
              <a:t>Cursor Pro</a:t>
            </a:r>
          </a:p>
          <a:p>
            <a:pPr lvl="0"/>
            <a:r>
              <a:t>Bolt.new</a:t>
            </a:r>
          </a:p>
          <a:p>
            <a:pPr lvl="0"/>
            <a:r>
              <a:t>Supabase and Vercel</a:t>
            </a:r>
          </a:p>
          <a:p>
            <a:pPr marL="0" lvl="0" indent="0">
              <a:spcBef>
                <a:spcPts val="3000"/>
              </a:spcBef>
              <a:buNone/>
            </a:pPr>
            <a:r>
              <a:rPr b="1"/>
              <a:t>What He Built</a:t>
            </a:r>
          </a:p>
          <a:p>
            <a:pPr lvl="0"/>
            <a:r>
              <a:t>SplitFair, a bill-splitting app with OCR, proportional tax and tip, debt tracking, and automated nudges</a:t>
            </a:r>
          </a:p>
          <a:p>
            <a:pPr lvl="0"/>
            <a:r>
              <a:t>ProfScore, a professor rating app that quickly drew legal attention</a:t>
            </a:r>
          </a:p>
          <a:p>
            <a:pPr marL="0" lvl="0" indent="0">
              <a:spcBef>
                <a:spcPts val="3000"/>
              </a:spcBef>
              <a:buNone/>
            </a:pPr>
            <a:r>
              <a:rPr b="1"/>
              <a:t>Workflow</a:t>
            </a:r>
          </a:p>
          <a:p>
            <a:pPr marL="0" lvl="0" indent="0">
              <a:buNone/>
            </a:pPr>
            <a:r>
              <a:t>He works visually: Figma mockup, then “build this,” then rapid iteration. If something doesn’t resolve in three tries, he starts over.</a:t>
            </a:r>
          </a:p>
          <a:p>
            <a:pPr marL="0" lvl="0" indent="0">
              <a:spcBef>
                <a:spcPts val="3000"/>
              </a:spcBef>
              <a:buNone/>
            </a:pPr>
            <a:r>
              <a:rPr b="1"/>
              <a:t>Best Prompt</a:t>
            </a:r>
          </a:p>
          <a:p>
            <a:pPr marL="1270000" lvl="0" indent="0">
              <a:buNone/>
            </a:pPr>
            <a:r>
              <a:rPr sz="2000"/>
              <a:t>“React Native bill-splitting screen. User snaps a receipt photo, OCR extracts items. Draggable cards assigned to people’s avatars. Summary with proportional tax + tip slider (15-30%). Smooth animations - confetti burst when all items are assigned.”</a:t>
            </a:r>
          </a:p>
          <a:p>
            <a:pPr marL="0" lvl="0" indent="0">
              <a:spcBef>
                <a:spcPts val="3000"/>
              </a:spcBef>
              <a:buNone/>
            </a:pPr>
            <a:r>
              <a:rPr b="1"/>
              <a:t>What Works</a:t>
            </a:r>
          </a:p>
          <a:p>
            <a:pPr lvl="0"/>
            <a:r>
              <a:t>Speed</a:t>
            </a:r>
          </a:p>
          <a:p>
            <a:pPr lvl="0"/>
            <a:r>
              <a:t>Prototyping</a:t>
            </a:r>
          </a:p>
          <a:p>
            <a:pPr lvl="0"/>
            <a:r>
              <a:t>Frontend and mobile work</a:t>
            </a:r>
          </a:p>
          <a:p>
            <a:pPr lvl="0"/>
            <a:r>
              <a:t>Content creation</a:t>
            </a:r>
          </a:p>
          <a:p>
            <a:pPr marL="0" lvl="0" indent="0">
              <a:spcBef>
                <a:spcPts val="3000"/>
              </a:spcBef>
              <a:buNone/>
            </a:pPr>
            <a:r>
              <a:rPr b="1"/>
              <a:t>What Doesn’t</a:t>
            </a:r>
          </a:p>
          <a:p>
            <a:pPr lvl="0"/>
            <a:r>
              <a:t>Scaling</a:t>
            </a:r>
          </a:p>
          <a:p>
            <a:pPr lvl="0"/>
            <a:r>
              <a:t>Deep debugging</a:t>
            </a:r>
          </a:p>
          <a:p>
            <a:pPr lvl="0"/>
            <a:r>
              <a:t>Explaining fundamentals from first principles</a:t>
            </a:r>
          </a:p>
          <a:p>
            <a:pPr marL="0" lvl="0" indent="0">
              <a:spcBef>
                <a:spcPts val="3000"/>
              </a:spcBef>
              <a:buNone/>
            </a:pPr>
            <a:r>
              <a:rPr b="1"/>
              <a:t>View of the Future</a:t>
            </a:r>
          </a:p>
          <a:p>
            <a:pPr marL="1270000" lvl="0" indent="0">
              <a:buNone/>
            </a:pPr>
            <a:r>
              <a:rPr sz="2000"/>
              <a:t>“Every generation abstracts away the layer below. Clearly describing what you want, breaking problems into prompts, evaluating AI output - that is the new fundamental.”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Sandra “Sandy” Kowalski-Chen</a:t>
            </a:r>
          </a:p>
        </p:txBody>
      </p:sp>
      <p:sp>
        <p:nvSpPr>
          <p:cNvPr id="3" name="Content Placeholder 2"/>
          <p:cNvSpPr>
            <a:spLocks noGrp="1"/>
          </p:cNvSpPr>
          <p:nvPr>
            <p:ph idx="1"/>
          </p:nvPr>
        </p:nvSpPr>
        <p:spPr/>
        <p:txBody>
          <a:bodyPr>
            <a:normAutofit fontScale="25000" lnSpcReduction="20000"/>
          </a:bodyPr>
          <a:lstStyle/>
          <a:p>
            <a:pPr marL="1270000" lvl="0" indent="0">
              <a:buNone/>
            </a:pPr>
            <a:r>
              <a:rPr sz="2000"/>
              <a:t>“Every company has a Sandy. The smart ones just don’t know it yet.”</a:t>
            </a:r>
          </a:p>
          <a:p>
            <a:pPr lvl="0"/>
            <a:r>
              <a:t>Age / Location: 44, Minneapolis, Minnesota</a:t>
            </a:r>
          </a:p>
          <a:p>
            <a:pPr lvl="0"/>
            <a:r>
              <a:t>Role: Senior Program Manager at Northland Mutual Insurance</a:t>
            </a:r>
          </a:p>
          <a:p>
            <a:pPr lvl="0"/>
            <a:r>
              <a:t>Experience: some old SQL and Access background</a:t>
            </a:r>
          </a:p>
          <a:p>
            <a:pPr marL="0" lvl="0" indent="0">
              <a:buNone/>
            </a:pPr>
            <a:r>
              <a:t>Sandy got tired of waiting 9 months and a six-figure budget for an internal dashboard request, so she built it herself in a weekend and did not tell IT.</a:t>
            </a:r>
          </a:p>
          <a:p>
            <a:pPr marL="0" lvl="0" indent="0">
              <a:spcBef>
                <a:spcPts val="3000"/>
              </a:spcBef>
              <a:buNone/>
            </a:pPr>
            <a:r>
              <a:rPr b="1"/>
              <a:t>Setup</a:t>
            </a:r>
          </a:p>
          <a:p>
            <a:pPr lvl="0"/>
            <a:r>
              <a:t>Personal MacBook Air M2</a:t>
            </a:r>
          </a:p>
          <a:p>
            <a:pPr lvl="0"/>
            <a:r>
              <a:t>Phone hotspot at the office</a:t>
            </a:r>
          </a:p>
          <a:p>
            <a:pPr lvl="0"/>
            <a:r>
              <a:t>Claude Pro</a:t>
            </a:r>
          </a:p>
          <a:p>
            <a:pPr lvl="0"/>
            <a:r>
              <a:t>Burner GitHub account with private repos</a:t>
            </a:r>
          </a:p>
          <a:p>
            <a:pPr marL="0" lvl="0" indent="0">
              <a:spcBef>
                <a:spcPts val="3000"/>
              </a:spcBef>
              <a:buNone/>
            </a:pPr>
            <a:r>
              <a:rPr b="1"/>
              <a:t>What She Built</a:t>
            </a:r>
          </a:p>
          <a:p>
            <a:pPr lvl="0"/>
            <a:r>
              <a:t>The Shadow Dashboard for real-time claims processing</a:t>
            </a:r>
          </a:p>
          <a:p>
            <a:pPr lvl="0"/>
            <a:r>
              <a:t>Form Killer, a Chrome extension that auto-fills internal forms</a:t>
            </a:r>
          </a:p>
          <a:p>
            <a:pPr marL="0" lvl="0" indent="0">
              <a:spcBef>
                <a:spcPts val="3000"/>
              </a:spcBef>
              <a:buNone/>
            </a:pPr>
            <a:r>
              <a:rPr b="1"/>
              <a:t>Workflow</a:t>
            </a:r>
          </a:p>
          <a:p>
            <a:pPr marL="0" lvl="0" indent="0">
              <a:buNone/>
            </a:pPr>
            <a:r>
              <a:t>She works methodically in secret, mapping data sources on a whiteboard and building in 2 to 3 hour evening sessions.</a:t>
            </a:r>
          </a:p>
          <a:p>
            <a:pPr marL="0" lvl="0" indent="0">
              <a:spcBef>
                <a:spcPts val="3000"/>
              </a:spcBef>
              <a:buNone/>
            </a:pPr>
            <a:r>
              <a:rPr b="1"/>
              <a:t>Best Prompt</a:t>
            </a:r>
          </a:p>
          <a:p>
            <a:pPr marL="1270000" lvl="0" indent="0">
              <a:buNone/>
            </a:pPr>
            <a:r>
              <a:rPr sz="2000"/>
              <a:t>“Chrome extension for our internal portal. Floating ‘Auto-fill’ button. Reads field labels, matches against a JSON mapping, populates from my backend API. Must work without permissions that trigger corporate browser policy. Fail silently - no error popups that make someone call the help desk.”</a:t>
            </a:r>
          </a:p>
          <a:p>
            <a:pPr marL="0" lvl="0" indent="0">
              <a:spcBef>
                <a:spcPts val="3000"/>
              </a:spcBef>
              <a:buNone/>
            </a:pPr>
            <a:r>
              <a:rPr b="1"/>
              <a:t>What Works</a:t>
            </a:r>
          </a:p>
          <a:p>
            <a:pPr lvl="0"/>
            <a:r>
              <a:t>Bridging the gap between business needs and IT timelines</a:t>
            </a:r>
          </a:p>
          <a:p>
            <a:pPr lvl="0"/>
            <a:r>
              <a:t>Data tools</a:t>
            </a:r>
          </a:p>
          <a:p>
            <a:pPr lvl="0"/>
            <a:r>
              <a:t>Automation</a:t>
            </a:r>
          </a:p>
          <a:p>
            <a:pPr marL="0" lvl="0" indent="0">
              <a:spcBef>
                <a:spcPts val="3000"/>
              </a:spcBef>
              <a:buNone/>
            </a:pPr>
            <a:r>
              <a:rPr b="1"/>
              <a:t>What Doesn’t</a:t>
            </a:r>
          </a:p>
          <a:p>
            <a:pPr lvl="0"/>
            <a:r>
              <a:t>Security and compliance</a:t>
            </a:r>
          </a:p>
          <a:p>
            <a:pPr lvl="0"/>
            <a:r>
              <a:t>Corporate SSO</a:t>
            </a:r>
          </a:p>
          <a:p>
            <a:pPr lvl="0"/>
            <a:r>
              <a:t>COBOL mainframes</a:t>
            </a:r>
          </a:p>
          <a:p>
            <a:pPr marL="0" lvl="0" indent="0">
              <a:spcBef>
                <a:spcPts val="3000"/>
              </a:spcBef>
              <a:buNone/>
            </a:pPr>
            <a:r>
              <a:rPr b="1"/>
              <a:t>View of the Future</a:t>
            </a:r>
          </a:p>
          <a:p>
            <a:pPr marL="1270000" lvl="0" indent="0">
              <a:buNone/>
            </a:pPr>
            <a:r>
              <a:rPr sz="2000"/>
              <a:t>“Every company has someone who understands the business, has technical instinct, and is tired of waiting. Give us guardrails and we’ll save you millions.”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Marcus Osei-Bonsu</a:t>
            </a:r>
          </a:p>
        </p:txBody>
      </p:sp>
      <p:sp>
        <p:nvSpPr>
          <p:cNvPr id="3" name="Content Placeholder 2"/>
          <p:cNvSpPr>
            <a:spLocks noGrp="1"/>
          </p:cNvSpPr>
          <p:nvPr>
            <p:ph idx="1"/>
          </p:nvPr>
        </p:nvSpPr>
        <p:spPr/>
        <p:txBody>
          <a:bodyPr>
            <a:normAutofit fontScale="25000" lnSpcReduction="20000"/>
          </a:bodyPr>
          <a:lstStyle/>
          <a:p>
            <a:pPr marL="1270000" lvl="0" indent="0">
              <a:buNone/>
            </a:pPr>
            <a:r>
              <a:rPr sz="2000"/>
              <a:t>“I built the app in a weekend. I spent six weeks trying to fix it.”</a:t>
            </a:r>
          </a:p>
          <a:p>
            <a:pPr lvl="0"/>
            <a:r>
              <a:t>Age / Location: 31, London, UK</a:t>
            </a:r>
          </a:p>
          <a:p>
            <a:pPr lvl="0"/>
            <a:r>
              <a:t>Role: Mid-level frontend developer at a fintech startup</a:t>
            </a:r>
          </a:p>
          <a:p>
            <a:pPr lvl="0"/>
            <a:r>
              <a:t>Experience: strong React and TypeScript, little backend or DevOps experience</a:t>
            </a:r>
          </a:p>
          <a:p>
            <a:pPr marL="0" lvl="0" indent="0">
              <a:buNone/>
            </a:pPr>
            <a:r>
              <a:t>Marcus volunteered to build an internal onboarding metrics tool over a weekend. The initial demo went well. The maintenance fallout did not.</a:t>
            </a:r>
          </a:p>
          <a:p>
            <a:pPr marL="0" lvl="0" indent="0">
              <a:spcBef>
                <a:spcPts val="3000"/>
              </a:spcBef>
              <a:buNone/>
            </a:pPr>
            <a:r>
              <a:rPr b="1"/>
              <a:t>What Happened</a:t>
            </a:r>
          </a:p>
          <a:p>
            <a:pPr marL="0" lvl="0" indent="0">
              <a:buNone/>
            </a:pPr>
            <a:r>
              <a:t>The dashboard looked great and the data flowed, but the AI hadn’t added indexes, performance collapsed, and each “make it faster” prompt changed architecture Marcus didn’t fully understand. Six weeks later, he had a 14,000-line codebase he couldn’t reason about.</a:t>
            </a:r>
          </a:p>
          <a:p>
            <a:pPr marL="0" lvl="0" indent="0">
              <a:spcBef>
                <a:spcPts val="3000"/>
              </a:spcBef>
              <a:buNone/>
            </a:pPr>
            <a:r>
              <a:rPr b="1"/>
              <a:t>The Core Problem</a:t>
            </a:r>
          </a:p>
          <a:p>
            <a:pPr marL="0" lvl="0" indent="0">
              <a:buNone/>
            </a:pPr>
            <a:r>
              <a:t>Every “fix it” prompt changed code Marcus didn’t understand. Each fix introduced new regressions. The AI happily helped, but it had no durable architectural memory.</a:t>
            </a:r>
          </a:p>
          <a:p>
            <a:pPr marL="0" lvl="0" indent="0">
              <a:spcBef>
                <a:spcPts val="3000"/>
              </a:spcBef>
              <a:buNone/>
            </a:pPr>
            <a:r>
              <a:rPr b="1"/>
              <a:t>What He Learned</a:t>
            </a:r>
          </a:p>
          <a:p>
            <a:pPr marL="1270000" lvl="0" indent="0">
              <a:buNone/>
            </a:pPr>
            <a:r>
              <a:rPr sz="2000"/>
              <a:t>“The AI is incredible at generating code. It’s terrible at maintaining a coherent vision across 50 prompting sessions. That’s your job.”</a:t>
            </a:r>
          </a:p>
          <a:p>
            <a:pPr marL="0" lvl="0" indent="0">
              <a:spcBef>
                <a:spcPts val="3000"/>
              </a:spcBef>
              <a:buNone/>
            </a:pPr>
            <a:r>
              <a:rPr b="1"/>
              <a:t>His Advice</a:t>
            </a:r>
          </a:p>
          <a:p>
            <a:pPr lvl="0"/>
            <a:r>
              <a:t>Understand every architectural decision before accepting it</a:t>
            </a:r>
          </a:p>
          <a:p>
            <a:pPr lvl="0"/>
            <a:r>
              <a:t>Stop and ask why the AI chose a pattern if you cannot explain it</a:t>
            </a:r>
          </a:p>
          <a:p>
            <a:pPr lvl="0"/>
            <a:r>
              <a:t>Don’t let momentum replace comprehension</a:t>
            </a:r>
          </a:p>
          <a:p>
            <a:pPr lvl="0"/>
            <a:r>
              <a:t>Add database indexes before you have 5,000 rows</a:t>
            </a:r>
          </a:p>
          <a:p>
            <a:pPr marL="0" lvl="0" indent="0">
              <a:spcBef>
                <a:spcPts val="3000"/>
              </a:spcBef>
              <a:buNone/>
            </a:pPr>
            <a:r>
              <a:rPr b="1"/>
              <a:t>Outcome</a:t>
            </a:r>
          </a:p>
          <a:p>
            <a:pPr marL="0" lvl="0" indent="0">
              <a:buNone/>
            </a:pPr>
            <a:r>
              <a:t>He scrapped the first version and rebuilt the project from scratch, this time with a spec-first and module-by-module workflow. The second version took two weeks and ran stably in production.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A35EBB-0EA1-2509-7CA8-D77769ED023E}"/>
              </a:ext>
            </a:extLst>
          </p:cNvPr>
          <p:cNvSpPr>
            <a:spLocks noGrp="1"/>
          </p:cNvSpPr>
          <p:nvPr>
            <p:ph type="title"/>
          </p:nvPr>
        </p:nvSpPr>
        <p:spPr/>
        <p:txBody>
          <a:bodyPr/>
          <a:lstStyle/>
          <a:p>
            <a:pPr algn="l"/>
            <a:r>
              <a:rPr lang="de-DE" dirty="0"/>
              <a:t>Chapter 5: Security</a:t>
            </a:r>
          </a:p>
        </p:txBody>
      </p:sp>
      <p:sp>
        <p:nvSpPr>
          <p:cNvPr id="3" name="Content Placeholder 2"/>
          <p:cNvSpPr>
            <a:spLocks noGrp="1"/>
          </p:cNvSpPr>
          <p:nvPr>
            <p:ph idx="1"/>
          </p:nvPr>
        </p:nvSpPr>
        <p:spPr/>
        <p:txBody>
          <a:bodyPr/>
          <a:lstStyle/>
          <a:p>
            <a:pPr marL="0" lvl="0" indent="0">
              <a:buNone/>
            </a:pPr>
            <a:r>
              <a:t>Vibe coding makes building software faster than ever. It also makes building insecure software faster than ever. The real question isn’t whether to use AI. It’s how to use it without getting burned.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State of Play</a:t>
            </a:r>
          </a:p>
        </p:txBody>
      </p:sp>
      <p:sp>
        <p:nvSpPr>
          <p:cNvPr id="3" name="Content Placeholder 2"/>
          <p:cNvSpPr>
            <a:spLocks noGrp="1"/>
          </p:cNvSpPr>
          <p:nvPr>
            <p:ph idx="1"/>
          </p:nvPr>
        </p:nvSpPr>
        <p:spPr/>
        <p:txBody>
          <a:bodyPr>
            <a:normAutofit fontScale="85000" lnSpcReduction="10000"/>
          </a:bodyPr>
          <a:lstStyle/>
          <a:p>
            <a:pPr marL="0" lvl="0" indent="0">
              <a:buNone/>
            </a:pPr>
            <a:r>
              <a:t>A scan of 100 publicly deployed vibe-coded apps in 2026 found 318 vulnerabilities, 89 of them critical.</a:t>
            </a:r>
          </a:p>
          <a:p>
            <a:pPr lvl="0"/>
            <a:r>
              <a:t>65% of apps had at least one security issue</a:t>
            </a:r>
          </a:p>
          <a:p>
            <a:pPr lvl="0"/>
            <a:r>
              <a:t>41% had API keys exposed in source code</a:t>
            </a:r>
          </a:p>
          <a:p>
            <a:pPr lvl="0"/>
            <a:r>
              <a:t>70% lacked CSRF protection</a:t>
            </a:r>
          </a:p>
          <a:p>
            <a:pPr marL="0" lvl="0" indent="0">
              <a:buNone/>
            </a:pPr>
            <a:r>
              <a:t>Across 5,600 vibe-coded applications, researchers found over 2,000 vulnerabilities, more than 400 exposed secrets, and 175 instances of exposed personal data, including medical records and bank account numbers.</a:t>
            </a:r>
          </a:p>
          <a:p>
            <a:pPr marL="0" lvl="0" indent="0">
              <a:buNone/>
            </a:pPr>
            <a:r>
              <a:t>AI-generated code introduces more issues and more security vulnerabilities than human-written code because LLMs optimize for code that works, not code that defends. Security is adversarial by nature. AI is optimized for the common case.</a:t>
            </a:r>
          </a:p>
          <a:p>
            <a:pPr marL="0" lvl="0" indent="0">
              <a:buNone/>
            </a:pPr>
            <a:r>
              <a:t>As one researcher put it:</a:t>
            </a:r>
          </a:p>
          <a:p>
            <a:pPr marL="1270000" lvl="0" indent="0">
              <a:buNone/>
            </a:pPr>
            <a:r>
              <a:rPr sz="2000"/>
              <a:t>“They’re doing exactly what you asked - writing code that works. But nobody asked ‘also make it secure.’”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Usual Suspects</a:t>
            </a:r>
          </a:p>
        </p:txBody>
      </p:sp>
      <p:sp>
        <p:nvSpPr>
          <p:cNvPr id="3" name="Content Placeholder 2"/>
          <p:cNvSpPr>
            <a:spLocks noGrp="1"/>
          </p:cNvSpPr>
          <p:nvPr>
            <p:ph idx="1"/>
          </p:nvPr>
        </p:nvSpPr>
        <p:spPr/>
        <p:txBody>
          <a:bodyPr/>
          <a:lstStyle/>
          <a:p>
            <a:pPr marL="0" lvl="0" indent="0">
              <a:buNone/>
            </a:pPr>
            <a:r>
              <a:t>The same vulnerability patterns appear repeatedly in AI-generated code:</a:t>
            </a:r>
          </a:p>
          <a:p>
            <a:pPr lvl="0"/>
            <a:r>
              <a:t>SQL injection from string interpolation instead of parameterized queries</a:t>
            </a:r>
          </a:p>
          <a:p>
            <a:pPr lvl="0"/>
            <a:r>
              <a:t>Cross-site scripting, significantly more common than in human code</a:t>
            </a:r>
          </a:p>
          <a:p>
            <a:pPr lvl="0"/>
            <a:r>
              <a:t>Hardcoded secrets such as API keys, passwords, and tokens</a:t>
            </a:r>
          </a:p>
          <a:p>
            <a:pPr lvl="0"/>
            <a:r>
              <a:t>Missing or inverted authentication and authorization logic</a:t>
            </a:r>
          </a:p>
          <a:p>
            <a:pPr lvl="0"/>
            <a:r>
              <a:t>Phantom packages, where the AI recommends dependencies that do not exist and attackers later register them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Disasters</a:t>
            </a:r>
          </a:p>
        </p:txBody>
      </p:sp>
      <p:sp>
        <p:nvSpPr>
          <p:cNvPr id="3" name="Content Placeholder 2"/>
          <p:cNvSpPr>
            <a:spLocks noGrp="1"/>
          </p:cNvSpPr>
          <p:nvPr>
            <p:ph sz="half" idx="1"/>
          </p:nvPr>
        </p:nvSpPr>
        <p:spPr/>
        <p:txBody>
          <a:bodyPr>
            <a:normAutofit fontScale="92500" lnSpcReduction="10000"/>
          </a:bodyPr>
          <a:lstStyle/>
          <a:p>
            <a:pPr marL="0" lvl="0" indent="0">
              <a:spcBef>
                <a:spcPts val="3000"/>
              </a:spcBef>
              <a:buNone/>
            </a:pPr>
            <a:r>
              <a:rPr b="1" dirty="0" err="1"/>
              <a:t>Moltbook</a:t>
            </a:r>
            <a:r>
              <a:rPr b="1" dirty="0"/>
              <a:t> (January 2026)</a:t>
            </a:r>
          </a:p>
          <a:p>
            <a:pPr marL="0" lvl="0" indent="0">
              <a:buNone/>
            </a:pPr>
            <a:r>
              <a:rPr dirty="0"/>
              <a:t>An AI-built social network exposed 1.5 million API tokens, 35,000 </a:t>
            </a:r>
            <a:r>
              <a:rPr lang="de-DE" dirty="0"/>
              <a:t>E-Mail</a:t>
            </a:r>
            <a:r>
              <a:rPr dirty="0"/>
              <a:t> addresses, and thousands of private messages within days of launch. A </a:t>
            </a:r>
            <a:r>
              <a:rPr dirty="0" err="1"/>
              <a:t>Supabase</a:t>
            </a:r>
            <a:r>
              <a:rPr dirty="0"/>
              <a:t> API key sat in client-side JavaScript with no Row Level Security.</a:t>
            </a:r>
          </a:p>
        </p:txBody>
      </p:sp>
      <p:sp>
        <p:nvSpPr>
          <p:cNvPr id="4" name="Inhaltsplatzhalter 3">
            <a:extLst>
              <a:ext uri="{FF2B5EF4-FFF2-40B4-BE49-F238E27FC236}">
                <a16:creationId xmlns:a16="http://schemas.microsoft.com/office/drawing/2014/main" id="{48D08F1F-F327-A946-72A4-147825D549FF}"/>
              </a:ext>
            </a:extLst>
          </p:cNvPr>
          <p:cNvSpPr>
            <a:spLocks noGrp="1"/>
          </p:cNvSpPr>
          <p:nvPr>
            <p:ph sz="half" idx="2"/>
          </p:nvPr>
        </p:nvSpPr>
        <p:spPr/>
        <p:txBody>
          <a:bodyPr>
            <a:normAutofit fontScale="92500" lnSpcReduction="10000"/>
          </a:bodyPr>
          <a:lstStyle/>
          <a:p>
            <a:pPr marL="0" lvl="0" indent="0">
              <a:spcBef>
                <a:spcPts val="3000"/>
              </a:spcBef>
              <a:buNone/>
            </a:pPr>
            <a:r>
              <a:rPr lang="en-US" b="1" dirty="0" err="1"/>
              <a:t>EnrichLead</a:t>
            </a:r>
            <a:r>
              <a:rPr lang="en-US" b="1" dirty="0"/>
              <a:t> (March 2025)</a:t>
            </a:r>
          </a:p>
          <a:p>
            <a:pPr marL="0" lvl="0" indent="0">
              <a:buNone/>
            </a:pPr>
            <a:r>
              <a:rPr lang="en-US" dirty="0"/>
              <a:t>A SaaS product built entirely with Cursor AI kept all security logic on the client side. Users could bypass paid features by changing a single value in the browser console. The project shut down within 72 hours.</a:t>
            </a:r>
          </a:p>
          <a:p>
            <a:pPr marL="0" lvl="0" indent="0">
              <a:buNone/>
            </a:pPr>
            <a:r>
              <a:rPr lang="en-US" dirty="0"/>
              <a:t>Wiz Security researchers summarized the broader problem clearly: the barrier to building has dropped dramatically, but the barrier to building securely has not kept pace.</a:t>
            </a:r>
          </a:p>
          <a:p>
            <a:endParaRPr lang="de-DE"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It’s Getting Better, But Not Enough</a:t>
            </a:r>
          </a:p>
        </p:txBody>
      </p:sp>
      <p:sp>
        <p:nvSpPr>
          <p:cNvPr id="3" name="Content Placeholder 2"/>
          <p:cNvSpPr>
            <a:spLocks noGrp="1"/>
          </p:cNvSpPr>
          <p:nvPr>
            <p:ph idx="1"/>
          </p:nvPr>
        </p:nvSpPr>
        <p:spPr/>
        <p:txBody>
          <a:bodyPr>
            <a:normAutofit lnSpcReduction="10000"/>
          </a:bodyPr>
          <a:lstStyle/>
          <a:p>
            <a:pPr marL="0" lvl="0" indent="0">
              <a:buNone/>
            </a:pPr>
            <a:r>
              <a:t>The 2026 tooling has improved:</a:t>
            </a:r>
          </a:p>
          <a:p>
            <a:pPr lvl="0"/>
            <a:r>
              <a:t>Claude Code Security can find vulnerabilities across production codebases and suggest patches with human approval</a:t>
            </a:r>
          </a:p>
          <a:p>
            <a:pPr lvl="0"/>
            <a:r>
              <a:t>Black Duck Signal connects scanning into AI coding workflows via MCP</a:t>
            </a:r>
          </a:p>
          <a:p>
            <a:pPr lvl="0"/>
            <a:r>
              <a:t>Lovable now enables Row Level Security by default and added more database and dependency checks</a:t>
            </a:r>
          </a:p>
          <a:p>
            <a:pPr lvl="0"/>
            <a:r>
              <a:t>Windsurf integrated Snyk for vulnerability remediation</a:t>
            </a:r>
          </a:p>
          <a:p>
            <a:pPr lvl="0"/>
            <a:r>
              <a:t>Vibe App Scanner offers URL-based scanning for public apps</a:t>
            </a:r>
          </a:p>
          <a:p>
            <a:pPr lvl="0"/>
            <a:r>
              <a:t>Palo Alto Networks published the SHIELD framework for vibe coding governance</a:t>
            </a:r>
          </a:p>
          <a:p>
            <a:pPr marL="0" lvl="0" indent="0">
              <a:buNone/>
            </a:pPr>
            <a:r>
              <a:t>But even with strong models and explicit security reminders, secure and correct code generation is still far from guaranteed.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Expertise Matters - A Lot</a:t>
            </a:r>
          </a:p>
        </p:txBody>
      </p:sp>
      <p:sp>
        <p:nvSpPr>
          <p:cNvPr id="3" name="Content Placeholder 2"/>
          <p:cNvSpPr>
            <a:spLocks noGrp="1"/>
          </p:cNvSpPr>
          <p:nvPr>
            <p:ph idx="1"/>
          </p:nvPr>
        </p:nvSpPr>
        <p:spPr/>
        <p:txBody>
          <a:bodyPr/>
          <a:lstStyle/>
          <a:p>
            <a:pPr marL="0" lvl="0" indent="0">
              <a:buNone/>
            </a:pPr>
            <a:r>
              <a:t>Your technical knowledge is still the biggest factor in whether your vibe-coded app is secure.</a:t>
            </a:r>
          </a:p>
          <a:p>
            <a:pPr marL="0" lvl="0" indent="0">
              <a:buNone/>
            </a:pPr>
            <a:r>
              <a:t>Studies found that programming experience significantly improves code security and cannot be fully substituted by AI. The polished appearance of AI-generated code often makes developers more confident than they should be.</a:t>
            </a:r>
          </a:p>
          <a:p>
            <a:pPr marL="0" lvl="0" indent="0">
              <a:buNone/>
            </a:pPr>
            <a:r>
              <a:t>The implication is simple: the more you understand what the AI is generating, the safer your code.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You Can Do</a:t>
            </a:r>
          </a:p>
        </p:txBody>
      </p:sp>
      <p:sp>
        <p:nvSpPr>
          <p:cNvPr id="3" name="Content Placeholder 2"/>
          <p:cNvSpPr>
            <a:spLocks noGrp="1"/>
          </p:cNvSpPr>
          <p:nvPr>
            <p:ph idx="1"/>
          </p:nvPr>
        </p:nvSpPr>
        <p:spPr/>
        <p:txBody>
          <a:bodyPr>
            <a:normAutofit fontScale="92500" lnSpcReduction="20000"/>
          </a:bodyPr>
          <a:lstStyle/>
          <a:p>
            <a:pPr marL="0" lvl="0" indent="0">
              <a:buNone/>
            </a:pPr>
            <a:r>
              <a:t>Even generic guidance like “make sure the code follows best practices for secure code” can reduce vulnerabilities significantly. Better yet, use a two-stage workflow where the AI writes the code and then reviews it as a security engineer.</a:t>
            </a:r>
          </a:p>
          <a:p>
            <a:pPr marL="0" lvl="0" indent="0">
              <a:spcBef>
                <a:spcPts val="3000"/>
              </a:spcBef>
              <a:buNone/>
            </a:pPr>
            <a:r>
              <a:rPr b="1"/>
              <a:t>Essential Checklist</a:t>
            </a:r>
          </a:p>
          <a:p>
            <a:pPr marL="342900" lvl="0" indent="-342900">
              <a:buAutoNum type="arabicPeriod"/>
            </a:pPr>
            <a:r>
              <a:t>Add security requirements to every prompt.</a:t>
            </a:r>
          </a:p>
          <a:p>
            <a:pPr marL="342900" lvl="0" indent="-342900">
              <a:buAutoNum type="arabicPeriod"/>
            </a:pPr>
            <a:r>
              <a:t>Run automated scanning with SAST and secret-scanning tools.</a:t>
            </a:r>
          </a:p>
          <a:p>
            <a:pPr marL="342900" lvl="0" indent="-342900">
              <a:buAutoNum type="arabicPeriod"/>
            </a:pPr>
            <a:r>
              <a:t>Verify every dependency before installing it.</a:t>
            </a:r>
          </a:p>
          <a:p>
            <a:pPr marL="342900" lvl="0" indent="-342900">
              <a:buAutoNum type="arabicPeriod"/>
            </a:pPr>
            <a:r>
              <a:t>Use infrastructure-level protection such as reverse proxies, Zero Trust controls, or properly configured RLS.</a:t>
            </a:r>
          </a:p>
          <a:p>
            <a:pPr marL="342900" lvl="0" indent="-342900">
              <a:buAutoNum type="arabicPeriod"/>
            </a:pPr>
            <a:r>
              <a:t>Keep humans in the loop for authentication, payments, data access, and personal information.</a:t>
            </a:r>
          </a:p>
          <a:p>
            <a:pPr marL="342900" lvl="0" indent="-342900">
              <a:buAutoNum type="arabicPeriod"/>
            </a:pPr>
            <a:r>
              <a:t>Ask the AI to review its own output from a security perspective.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D2AA-0387-9774-E830-47D8F4261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D6B9A-9A70-7B38-6280-463D2050EC38}"/>
              </a:ext>
            </a:extLst>
          </p:cNvPr>
          <p:cNvSpPr>
            <a:spLocks noGrp="1"/>
          </p:cNvSpPr>
          <p:nvPr>
            <p:ph type="title"/>
          </p:nvPr>
        </p:nvSpPr>
        <p:spPr/>
        <p:txBody>
          <a:bodyPr/>
          <a:lstStyle/>
          <a:p>
            <a:r>
              <a:rPr lang="de-DE" dirty="0"/>
              <a:t>Supply Chain </a:t>
            </a:r>
            <a:r>
              <a:rPr lang="de-DE" dirty="0" err="1"/>
              <a:t>Attack</a:t>
            </a:r>
            <a:r>
              <a:rPr lang="de-DE" dirty="0"/>
              <a:t> </a:t>
            </a:r>
            <a:r>
              <a:rPr lang="de-DE" dirty="0" err="1"/>
              <a:t>Detection</a:t>
            </a:r>
            <a:endParaRPr lang="de-DE" dirty="0"/>
          </a:p>
        </p:txBody>
      </p:sp>
      <p:sp>
        <p:nvSpPr>
          <p:cNvPr id="3" name="Content Placeholder 2">
            <a:extLst>
              <a:ext uri="{FF2B5EF4-FFF2-40B4-BE49-F238E27FC236}">
                <a16:creationId xmlns:a16="http://schemas.microsoft.com/office/drawing/2014/main" id="{08DE126C-5780-14F2-E53A-59884DE2CA09}"/>
              </a:ext>
            </a:extLst>
          </p:cNvPr>
          <p:cNvSpPr>
            <a:spLocks noGrp="1"/>
          </p:cNvSpPr>
          <p:nvPr>
            <p:ph idx="1"/>
          </p:nvPr>
        </p:nvSpPr>
        <p:spPr/>
        <p:txBody>
          <a:bodyPr>
            <a:normAutofit/>
          </a:bodyPr>
          <a:lstStyle/>
          <a:p>
            <a:pPr marL="0" lvl="0" indent="0">
              <a:spcBef>
                <a:spcPts val="3000"/>
              </a:spcBef>
              <a:buNone/>
            </a:pPr>
            <a:r>
              <a:rPr b="1"/>
              <a:t>Checklist</a:t>
            </a:r>
            <a:endParaRPr lang="en-US" b="1" dirty="0"/>
          </a:p>
          <a:p>
            <a:pPr marL="0" lvl="0" indent="0">
              <a:spcBef>
                <a:spcPts val="3000"/>
              </a:spcBef>
              <a:buNone/>
            </a:pPr>
            <a:endParaRPr b="1" dirty="0"/>
          </a:p>
        </p:txBody>
      </p:sp>
      <p:graphicFrame>
        <p:nvGraphicFramePr>
          <p:cNvPr id="4" name="Tabelle 3">
            <a:extLst>
              <a:ext uri="{FF2B5EF4-FFF2-40B4-BE49-F238E27FC236}">
                <a16:creationId xmlns:a16="http://schemas.microsoft.com/office/drawing/2014/main" id="{3AD2EE87-7965-EC12-ADFF-1D1F1A8CE1C5}"/>
              </a:ext>
            </a:extLst>
          </p:cNvPr>
          <p:cNvGraphicFramePr>
            <a:graphicFrameLocks noGrp="1"/>
          </p:cNvGraphicFramePr>
          <p:nvPr>
            <p:extLst>
              <p:ext uri="{D42A27DB-BD31-4B8C-83A1-F6EECF244321}">
                <p14:modId xmlns:p14="http://schemas.microsoft.com/office/powerpoint/2010/main" val="2176308583"/>
              </p:ext>
            </p:extLst>
          </p:nvPr>
        </p:nvGraphicFramePr>
        <p:xfrm>
          <a:off x="1364750" y="1664770"/>
          <a:ext cx="6166207" cy="2595880"/>
        </p:xfrm>
        <a:graphic>
          <a:graphicData uri="http://schemas.openxmlformats.org/drawingml/2006/table">
            <a:tbl>
              <a:tblPr firstRow="1" bandRow="1">
                <a:tableStyleId>{5C22544A-7EE6-4342-B048-85BDC9FD1C3A}</a:tableStyleId>
              </a:tblPr>
              <a:tblGrid>
                <a:gridCol w="2529155">
                  <a:extLst>
                    <a:ext uri="{9D8B030D-6E8A-4147-A177-3AD203B41FA5}">
                      <a16:colId xmlns:a16="http://schemas.microsoft.com/office/drawing/2014/main" val="3973072498"/>
                    </a:ext>
                  </a:extLst>
                </a:gridCol>
                <a:gridCol w="2250041">
                  <a:extLst>
                    <a:ext uri="{9D8B030D-6E8A-4147-A177-3AD203B41FA5}">
                      <a16:colId xmlns:a16="http://schemas.microsoft.com/office/drawing/2014/main" val="3219327690"/>
                    </a:ext>
                  </a:extLst>
                </a:gridCol>
                <a:gridCol w="1387011">
                  <a:extLst>
                    <a:ext uri="{9D8B030D-6E8A-4147-A177-3AD203B41FA5}">
                      <a16:colId xmlns:a16="http://schemas.microsoft.com/office/drawing/2014/main" val="1864492444"/>
                    </a:ext>
                  </a:extLst>
                </a:gridCol>
              </a:tblGrid>
              <a:tr h="370840">
                <a:tc>
                  <a:txBody>
                    <a:bodyPr/>
                    <a:lstStyle/>
                    <a:p>
                      <a:pPr>
                        <a:buNone/>
                      </a:pPr>
                      <a:r>
                        <a:rPr lang="de-DE">
                          <a:effectLst/>
                        </a:rPr>
                        <a:t>Attack Type</a:t>
                      </a:r>
                    </a:p>
                  </a:txBody>
                  <a:tcPr marL="45720" marR="45720" marT="30480" marB="30480" anchor="ctr"/>
                </a:tc>
                <a:tc>
                  <a:txBody>
                    <a:bodyPr/>
                    <a:lstStyle/>
                    <a:p>
                      <a:pPr>
                        <a:buNone/>
                      </a:pPr>
                      <a:r>
                        <a:rPr lang="de-DE">
                          <a:effectLst/>
                        </a:rPr>
                        <a:t>Currently Detected?</a:t>
                      </a:r>
                    </a:p>
                  </a:txBody>
                  <a:tcPr marL="45720" marR="45720" marT="30480" marB="30480" anchor="ctr"/>
                </a:tc>
                <a:tc>
                  <a:txBody>
                    <a:bodyPr/>
                    <a:lstStyle/>
                    <a:p>
                      <a:pPr>
                        <a:buNone/>
                      </a:pPr>
                      <a:r>
                        <a:rPr lang="de-DE">
                          <a:effectLst/>
                        </a:rPr>
                        <a:t>Risk</a:t>
                      </a:r>
                    </a:p>
                  </a:txBody>
                  <a:tcPr marL="45720" marR="45720" marT="30480" marB="30480" anchor="ctr"/>
                </a:tc>
                <a:extLst>
                  <a:ext uri="{0D108BD9-81ED-4DB2-BD59-A6C34878D82A}">
                    <a16:rowId xmlns:a16="http://schemas.microsoft.com/office/drawing/2014/main" val="3789467604"/>
                  </a:ext>
                </a:extLst>
              </a:tr>
              <a:tr h="370840">
                <a:tc>
                  <a:txBody>
                    <a:bodyPr/>
                    <a:lstStyle/>
                    <a:p>
                      <a:pPr>
                        <a:buNone/>
                      </a:pPr>
                      <a:r>
                        <a:rPr lang="de-DE" b="1" dirty="0">
                          <a:effectLst/>
                        </a:rPr>
                        <a:t>Phantom/</a:t>
                      </a:r>
                      <a:r>
                        <a:rPr lang="de-DE" b="1" dirty="0" err="1">
                          <a:effectLst/>
                        </a:rPr>
                        <a:t>hallucinated</a:t>
                      </a:r>
                      <a:r>
                        <a:rPr lang="de-DE" b="1" dirty="0">
                          <a:effectLst/>
                        </a:rPr>
                        <a:t> </a:t>
                      </a:r>
                      <a:r>
                        <a:rPr lang="de-DE" b="1" dirty="0" err="1">
                          <a:effectLst/>
                        </a:rPr>
                        <a:t>packages</a:t>
                      </a:r>
                      <a:endParaRPr lang="de-DE" dirty="0">
                        <a:effectLst/>
                      </a:endParaRPr>
                    </a:p>
                  </a:txBody>
                  <a:tcPr marL="45720" marR="45720" marT="30480" marB="30480" anchor="ctr"/>
                </a:tc>
                <a:tc>
                  <a:txBody>
                    <a:bodyPr/>
                    <a:lstStyle/>
                    <a:p>
                      <a:pPr>
                        <a:buNone/>
                      </a:pPr>
                      <a:r>
                        <a:rPr lang="de-DE">
                          <a:effectLst/>
                        </a:rPr>
                        <a:t>Manual review only ❌</a:t>
                      </a:r>
                    </a:p>
                  </a:txBody>
                  <a:tcPr marL="45720" marR="45720" marT="30480" marB="30480" anchor="ctr"/>
                </a:tc>
                <a:tc>
                  <a:txBody>
                    <a:bodyPr/>
                    <a:lstStyle/>
                    <a:p>
                      <a:pPr>
                        <a:buNone/>
                      </a:pPr>
                      <a:r>
                        <a:rPr lang="de-DE" b="1">
                          <a:effectLst/>
                        </a:rPr>
                        <a:t>CRITICAL</a:t>
                      </a:r>
                      <a:endParaRPr lang="de-DE">
                        <a:effectLst/>
                      </a:endParaRPr>
                    </a:p>
                  </a:txBody>
                  <a:tcPr marL="45720" marR="45720" marT="30480" marB="30480" anchor="ctr"/>
                </a:tc>
                <a:extLst>
                  <a:ext uri="{0D108BD9-81ED-4DB2-BD59-A6C34878D82A}">
                    <a16:rowId xmlns:a16="http://schemas.microsoft.com/office/drawing/2014/main" val="2219191530"/>
                  </a:ext>
                </a:extLst>
              </a:tr>
              <a:tr h="370840">
                <a:tc>
                  <a:txBody>
                    <a:bodyPr/>
                    <a:lstStyle/>
                    <a:p>
                      <a:pPr>
                        <a:buNone/>
                      </a:pPr>
                      <a:r>
                        <a:rPr lang="de-DE" b="1">
                          <a:effectLst/>
                        </a:rPr>
                        <a:t>Dependency confusion</a:t>
                      </a:r>
                      <a:endParaRPr lang="de-DE">
                        <a:effectLst/>
                      </a:endParaRPr>
                    </a:p>
                  </a:txBody>
                  <a:tcPr marL="45720" marR="45720" marT="30480" marB="30480" anchor="ctr"/>
                </a:tc>
                <a:tc>
                  <a:txBody>
                    <a:bodyPr/>
                    <a:lstStyle/>
                    <a:p>
                      <a:pPr>
                        <a:buNone/>
                      </a:pPr>
                      <a:r>
                        <a:rPr lang="de-DE">
                          <a:effectLst/>
                        </a:rPr>
                        <a:t>Not detected ❌</a:t>
                      </a:r>
                    </a:p>
                  </a:txBody>
                  <a:tcPr marL="45720" marR="45720" marT="30480" marB="30480" anchor="ctr"/>
                </a:tc>
                <a:tc>
                  <a:txBody>
                    <a:bodyPr/>
                    <a:lstStyle/>
                    <a:p>
                      <a:pPr>
                        <a:buNone/>
                      </a:pPr>
                      <a:r>
                        <a:rPr lang="de-DE" b="1">
                          <a:effectLst/>
                        </a:rPr>
                        <a:t>HIGH</a:t>
                      </a:r>
                      <a:endParaRPr lang="de-DE">
                        <a:effectLst/>
                      </a:endParaRPr>
                    </a:p>
                  </a:txBody>
                  <a:tcPr marL="45720" marR="45720" marT="30480" marB="30480" anchor="ctr"/>
                </a:tc>
                <a:extLst>
                  <a:ext uri="{0D108BD9-81ED-4DB2-BD59-A6C34878D82A}">
                    <a16:rowId xmlns:a16="http://schemas.microsoft.com/office/drawing/2014/main" val="3994286507"/>
                  </a:ext>
                </a:extLst>
              </a:tr>
              <a:tr h="370840">
                <a:tc>
                  <a:txBody>
                    <a:bodyPr/>
                    <a:lstStyle/>
                    <a:p>
                      <a:pPr>
                        <a:buNone/>
                      </a:pPr>
                      <a:r>
                        <a:rPr lang="de-DE" b="1">
                          <a:effectLst/>
                        </a:rPr>
                        <a:t>Compromised transitive deps</a:t>
                      </a:r>
                      <a:endParaRPr lang="de-DE">
                        <a:effectLst/>
                      </a:endParaRPr>
                    </a:p>
                  </a:txBody>
                  <a:tcPr marL="45720" marR="45720" marT="30480" marB="30480" anchor="ctr"/>
                </a:tc>
                <a:tc>
                  <a:txBody>
                    <a:bodyPr/>
                    <a:lstStyle/>
                    <a:p>
                      <a:pPr>
                        <a:buNone/>
                      </a:pPr>
                      <a:r>
                        <a:rPr lang="de-DE">
                          <a:effectLst/>
                        </a:rPr>
                        <a:t>Partial at best ❌</a:t>
                      </a:r>
                    </a:p>
                  </a:txBody>
                  <a:tcPr marL="45720" marR="45720" marT="30480" marB="30480" anchor="ctr"/>
                </a:tc>
                <a:tc>
                  <a:txBody>
                    <a:bodyPr/>
                    <a:lstStyle/>
                    <a:p>
                      <a:pPr>
                        <a:buNone/>
                      </a:pPr>
                      <a:r>
                        <a:rPr lang="de-DE" b="1">
                          <a:effectLst/>
                        </a:rPr>
                        <a:t>HIGH</a:t>
                      </a:r>
                      <a:endParaRPr lang="de-DE">
                        <a:effectLst/>
                      </a:endParaRPr>
                    </a:p>
                  </a:txBody>
                  <a:tcPr marL="45720" marR="45720" marT="30480" marB="30480" anchor="ctr"/>
                </a:tc>
                <a:extLst>
                  <a:ext uri="{0D108BD9-81ED-4DB2-BD59-A6C34878D82A}">
                    <a16:rowId xmlns:a16="http://schemas.microsoft.com/office/drawing/2014/main" val="4013705449"/>
                  </a:ext>
                </a:extLst>
              </a:tr>
              <a:tr h="370840">
                <a:tc>
                  <a:txBody>
                    <a:bodyPr/>
                    <a:lstStyle/>
                    <a:p>
                      <a:pPr>
                        <a:buNone/>
                      </a:pPr>
                      <a:r>
                        <a:rPr lang="de-DE" b="1">
                          <a:effectLst/>
                        </a:rPr>
                        <a:t>Container image tampering</a:t>
                      </a:r>
                      <a:endParaRPr lang="de-DE">
                        <a:effectLst/>
                      </a:endParaRPr>
                    </a:p>
                  </a:txBody>
                  <a:tcPr marL="45720" marR="45720" marT="30480" marB="30480" anchor="ctr"/>
                </a:tc>
                <a:tc>
                  <a:txBody>
                    <a:bodyPr/>
                    <a:lstStyle/>
                    <a:p>
                      <a:pPr>
                        <a:buNone/>
                      </a:pPr>
                      <a:r>
                        <a:rPr lang="de-DE">
                          <a:effectLst/>
                        </a:rPr>
                        <a:t>No verification ❌</a:t>
                      </a:r>
                    </a:p>
                  </a:txBody>
                  <a:tcPr marL="45720" marR="45720" marT="30480" marB="30480" anchor="ctr"/>
                </a:tc>
                <a:tc>
                  <a:txBody>
                    <a:bodyPr/>
                    <a:lstStyle/>
                    <a:p>
                      <a:pPr>
                        <a:buNone/>
                      </a:pPr>
                      <a:r>
                        <a:rPr lang="de-DE" b="1">
                          <a:effectLst/>
                        </a:rPr>
                        <a:t>HIGH</a:t>
                      </a:r>
                      <a:endParaRPr lang="de-DE">
                        <a:effectLst/>
                      </a:endParaRPr>
                    </a:p>
                  </a:txBody>
                  <a:tcPr marL="45720" marR="45720" marT="30480" marB="30480" anchor="ctr"/>
                </a:tc>
                <a:extLst>
                  <a:ext uri="{0D108BD9-81ED-4DB2-BD59-A6C34878D82A}">
                    <a16:rowId xmlns:a16="http://schemas.microsoft.com/office/drawing/2014/main" val="3690844594"/>
                  </a:ext>
                </a:extLst>
              </a:tr>
              <a:tr h="370840">
                <a:tc>
                  <a:txBody>
                    <a:bodyPr/>
                    <a:lstStyle/>
                    <a:p>
                      <a:pPr>
                        <a:buNone/>
                      </a:pPr>
                      <a:r>
                        <a:rPr lang="de-DE" b="1">
                          <a:effectLst/>
                        </a:rPr>
                        <a:t>Build artifact tampering</a:t>
                      </a:r>
                      <a:endParaRPr lang="de-DE">
                        <a:effectLst/>
                      </a:endParaRPr>
                    </a:p>
                  </a:txBody>
                  <a:tcPr marL="45720" marR="45720" marT="30480" marB="30480" anchor="ctr"/>
                </a:tc>
                <a:tc>
                  <a:txBody>
                    <a:bodyPr/>
                    <a:lstStyle/>
                    <a:p>
                      <a:pPr>
                        <a:buNone/>
                      </a:pPr>
                      <a:r>
                        <a:rPr lang="de-DE">
                          <a:effectLst/>
                        </a:rPr>
                        <a:t>No signing/attestation ❌</a:t>
                      </a:r>
                    </a:p>
                  </a:txBody>
                  <a:tcPr marL="45720" marR="45720" marT="30480" marB="30480" anchor="ctr"/>
                </a:tc>
                <a:tc>
                  <a:txBody>
                    <a:bodyPr/>
                    <a:lstStyle/>
                    <a:p>
                      <a:pPr>
                        <a:buNone/>
                      </a:pPr>
                      <a:r>
                        <a:rPr lang="de-DE" b="1">
                          <a:effectLst/>
                        </a:rPr>
                        <a:t>HIGH</a:t>
                      </a:r>
                      <a:endParaRPr lang="de-DE">
                        <a:effectLst/>
                      </a:endParaRPr>
                    </a:p>
                  </a:txBody>
                  <a:tcPr marL="45720" marR="45720" marT="30480" marB="30480" anchor="ctr"/>
                </a:tc>
                <a:extLst>
                  <a:ext uri="{0D108BD9-81ED-4DB2-BD59-A6C34878D82A}">
                    <a16:rowId xmlns:a16="http://schemas.microsoft.com/office/drawing/2014/main" val="1958485310"/>
                  </a:ext>
                </a:extLst>
              </a:tr>
              <a:tr h="370840">
                <a:tc>
                  <a:txBody>
                    <a:bodyPr/>
                    <a:lstStyle/>
                    <a:p>
                      <a:pPr>
                        <a:buNone/>
                      </a:pPr>
                      <a:r>
                        <a:rPr lang="de-DE" b="1">
                          <a:effectLst/>
                        </a:rPr>
                        <a:t>Lockfile manipulation</a:t>
                      </a:r>
                      <a:endParaRPr lang="de-DE">
                        <a:effectLst/>
                      </a:endParaRPr>
                    </a:p>
                  </a:txBody>
                  <a:tcPr marL="45720" marR="45720" marT="30480" marB="30480" anchor="ctr"/>
                </a:tc>
                <a:tc>
                  <a:txBody>
                    <a:bodyPr/>
                    <a:lstStyle/>
                    <a:p>
                      <a:pPr>
                        <a:buNone/>
                      </a:pPr>
                      <a:r>
                        <a:rPr lang="de-DE">
                          <a:effectLst/>
                        </a:rPr>
                        <a:t>No hash verification ❌</a:t>
                      </a:r>
                    </a:p>
                  </a:txBody>
                  <a:tcPr marL="45720" marR="45720" marT="30480" marB="30480" anchor="ctr"/>
                </a:tc>
                <a:tc>
                  <a:txBody>
                    <a:bodyPr/>
                    <a:lstStyle/>
                    <a:p>
                      <a:pPr>
                        <a:buNone/>
                      </a:pPr>
                      <a:r>
                        <a:rPr lang="de-DE" b="1" dirty="0">
                          <a:effectLst/>
                        </a:rPr>
                        <a:t>MEDIUM</a:t>
                      </a:r>
                      <a:endParaRPr lang="de-DE" dirty="0">
                        <a:effectLst/>
                      </a:endParaRPr>
                    </a:p>
                  </a:txBody>
                  <a:tcPr marL="45720" marR="45720" marT="30480" marB="30480" anchor="ctr"/>
                </a:tc>
                <a:extLst>
                  <a:ext uri="{0D108BD9-81ED-4DB2-BD59-A6C34878D82A}">
                    <a16:rowId xmlns:a16="http://schemas.microsoft.com/office/drawing/2014/main" val="4230772824"/>
                  </a:ext>
                </a:extLst>
              </a:tr>
            </a:tbl>
          </a:graphicData>
        </a:graphic>
      </p:graphicFrame>
    </p:spTree>
    <p:extLst>
      <p:ext uri="{BB962C8B-B14F-4D97-AF65-F5344CB8AC3E}">
        <p14:creationId xmlns:p14="http://schemas.microsoft.com/office/powerpoint/2010/main" val="17730850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wrap="square" anchor="b">
            <a:normAutofit/>
          </a:bodyPr>
          <a:lstStyle/>
          <a:p>
            <a:pPr marL="0" lvl="0" indent="0">
              <a:buNone/>
            </a:pPr>
            <a:r>
              <a:t>The Paradox</a:t>
            </a:r>
          </a:p>
        </p:txBody>
      </p:sp>
      <p:graphicFrame>
        <p:nvGraphicFramePr>
          <p:cNvPr id="5" name="Content Placeholder 2">
            <a:extLst>
              <a:ext uri="{FF2B5EF4-FFF2-40B4-BE49-F238E27FC236}">
                <a16:creationId xmlns:a16="http://schemas.microsoft.com/office/drawing/2014/main" id="{FCE4BB29-D4D1-9AC0-A4EB-B959BF5128D7}"/>
              </a:ext>
            </a:extLst>
          </p:cNvPr>
          <p:cNvGraphicFramePr>
            <a:graphicFrameLocks noGrp="1"/>
          </p:cNvGraphicFramePr>
          <p:nvPr>
            <p:ph idx="1"/>
            <p:extLst>
              <p:ext uri="{D42A27DB-BD31-4B8C-83A1-F6EECF244321}">
                <p14:modId xmlns:p14="http://schemas.microsoft.com/office/powerpoint/2010/main" val="2521821511"/>
              </p:ext>
            </p:extLst>
          </p:nvPr>
        </p:nvGraphicFramePr>
        <p:xfrm>
          <a:off x="457200" y="1200151"/>
          <a:ext cx="8229600" cy="3394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wrap="square" anchor="b">
            <a:normAutofit/>
          </a:bodyPr>
          <a:lstStyle/>
          <a:p>
            <a:pPr marL="0" lvl="0" indent="0">
              <a:buNone/>
            </a:pPr>
            <a:r>
              <a:t>The Bottom Line</a:t>
            </a:r>
          </a:p>
        </p:txBody>
      </p:sp>
      <p:graphicFrame>
        <p:nvGraphicFramePr>
          <p:cNvPr id="5" name="Content Placeholder 2">
            <a:extLst>
              <a:ext uri="{FF2B5EF4-FFF2-40B4-BE49-F238E27FC236}">
                <a16:creationId xmlns:a16="http://schemas.microsoft.com/office/drawing/2014/main" id="{D27F0911-8D95-0BE7-38EE-9E4030BBB29E}"/>
              </a:ext>
            </a:extLst>
          </p:cNvPr>
          <p:cNvGraphicFramePr>
            <a:graphicFrameLocks noGrp="1"/>
          </p:cNvGraphicFramePr>
          <p:nvPr>
            <p:ph idx="1"/>
            <p:extLst>
              <p:ext uri="{D42A27DB-BD31-4B8C-83A1-F6EECF244321}">
                <p14:modId xmlns:p14="http://schemas.microsoft.com/office/powerpoint/2010/main" val="2203923358"/>
              </p:ext>
            </p:extLst>
          </p:nvPr>
        </p:nvGraphicFramePr>
        <p:xfrm>
          <a:off x="457200" y="1200151"/>
          <a:ext cx="8229600" cy="3394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ECD686-3D63-A267-705F-E17BCE951D94}"/>
              </a:ext>
            </a:extLst>
          </p:cNvPr>
          <p:cNvSpPr>
            <a:spLocks noGrp="1"/>
          </p:cNvSpPr>
          <p:nvPr>
            <p:ph type="title"/>
          </p:nvPr>
        </p:nvSpPr>
        <p:spPr/>
        <p:txBody>
          <a:bodyPr/>
          <a:lstStyle/>
          <a:p>
            <a:pPr algn="l"/>
            <a:r>
              <a:rPr lang="en-US" dirty="0"/>
              <a:t>Chapter 6: Legal and IP</a:t>
            </a:r>
            <a:endParaRPr lang="de-DE" dirty="0"/>
          </a:p>
        </p:txBody>
      </p:sp>
      <p:sp>
        <p:nvSpPr>
          <p:cNvPr id="3" name="Content Placeholder 2"/>
          <p:cNvSpPr>
            <a:spLocks noGrp="1"/>
          </p:cNvSpPr>
          <p:nvPr>
            <p:ph idx="1"/>
          </p:nvPr>
        </p:nvSpPr>
        <p:spPr/>
        <p:txBody>
          <a:bodyPr/>
          <a:lstStyle/>
          <a:p>
            <a:pPr marL="0" lvl="0" indent="0">
              <a:buNone/>
            </a:pPr>
            <a:r>
              <a:t>AI writes the code. But who owns it? Who is liable when it breaks? And what happens when the AI copies someone else’s work? These questions do not have clean answers yet, but ignoring them is not an option.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Who Owns AI-Generated Code?</a:t>
            </a:r>
          </a:p>
        </p:txBody>
      </p:sp>
      <p:sp>
        <p:nvSpPr>
          <p:cNvPr id="3" name="Content Placeholder 2"/>
          <p:cNvSpPr>
            <a:spLocks noGrp="1"/>
          </p:cNvSpPr>
          <p:nvPr>
            <p:ph idx="1"/>
          </p:nvPr>
        </p:nvSpPr>
        <p:spPr/>
        <p:txBody>
          <a:bodyPr>
            <a:normAutofit lnSpcReduction="10000"/>
          </a:bodyPr>
          <a:lstStyle/>
          <a:p>
            <a:pPr marL="0" lvl="0" indent="0">
              <a:buNone/>
            </a:pPr>
            <a:r>
              <a:t>Major AI providers such as OpenAI, Anthropic, and Google contractually assign output ownership to users. In that narrow sense, you prompt it and you own it.</a:t>
            </a:r>
          </a:p>
          <a:p>
            <a:pPr marL="0" lvl="0" indent="0">
              <a:buNone/>
            </a:pPr>
            <a:r>
              <a:t>But copyright law is messier. Courts in the United States and Europe have reinforced the view that purely AI-generated content cannot itself be copyrighted. If no human made meaningful creative contributions, there may be nothing to protect.</a:t>
            </a:r>
          </a:p>
          <a:p>
            <a:pPr marL="0" lvl="0" indent="0">
              <a:buNone/>
            </a:pPr>
            <a:r>
              <a:t>The practical result is awkward:</a:t>
            </a:r>
          </a:p>
          <a:p>
            <a:pPr lvl="0"/>
            <a:r>
              <a:t>You may own the output contractually because the provider does not claim it</a:t>
            </a:r>
          </a:p>
          <a:p>
            <a:pPr lvl="0"/>
            <a:r>
              <a:t>You may still be unable to enforce copyright over purely AI-generated portions</a:t>
            </a:r>
          </a:p>
          <a:p>
            <a:pPr lvl="0"/>
            <a:r>
              <a:t>Copyright protection is stronger where you add substantial human contribution through editing, integration, or architecture</a:t>
            </a:r>
          </a:p>
          <a:p>
            <a:pPr marL="0" lvl="0" indent="0">
              <a:buNone/>
            </a:pPr>
            <a:r>
              <a:t>Document your human contributions carefully.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GPL Problem</a:t>
            </a:r>
          </a:p>
        </p:txBody>
      </p:sp>
      <p:sp>
        <p:nvSpPr>
          <p:cNvPr id="3" name="Content Placeholder 2"/>
          <p:cNvSpPr>
            <a:spLocks noGrp="1"/>
          </p:cNvSpPr>
          <p:nvPr>
            <p:ph idx="1"/>
          </p:nvPr>
        </p:nvSpPr>
        <p:spPr/>
        <p:txBody>
          <a:bodyPr/>
          <a:lstStyle/>
          <a:p>
            <a:pPr marL="0" lvl="0" indent="0">
              <a:buNone/>
            </a:pPr>
            <a:r>
              <a:t>One of the biggest active legal concerns is whether AI coding tools can reproduce licensed code without preserving the required notices or attribution.</a:t>
            </a:r>
          </a:p>
          <a:p>
            <a:pPr marL="0" lvl="0" indent="0">
              <a:buNone/>
            </a:pPr>
            <a:r>
              <a:t>The risk to organizations is straightforward: if an AI tool reproduces GPL-licensed code and you ship it in a proprietary product, you may be violating that license. The provider’s terms of service do not shield you from third-party claims.</a:t>
            </a:r>
          </a:p>
          <a:p>
            <a:pPr marL="0" lvl="0" indent="0">
              <a:spcBef>
                <a:spcPts val="3000"/>
              </a:spcBef>
              <a:buNone/>
            </a:pPr>
            <a:r>
              <a:rPr b="1"/>
              <a:t>Practical Response</a:t>
            </a:r>
          </a:p>
          <a:p>
            <a:pPr lvl="0"/>
            <a:r>
              <a:t>Run Software Composition Analysis tools on AI-generated code</a:t>
            </a:r>
          </a:p>
          <a:p>
            <a:pPr lvl="0"/>
            <a:r>
              <a:t>Enable duplicate detection where available</a:t>
            </a:r>
          </a:p>
          <a:p>
            <a:pPr lvl="0"/>
            <a:r>
              <a:t>Treat AI output like code from an unknown contributor and review it accordingly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Liability: Who’s Responsible?</a:t>
            </a:r>
          </a:p>
        </p:txBody>
      </p:sp>
      <p:sp>
        <p:nvSpPr>
          <p:cNvPr id="3" name="Content Placeholder 2"/>
          <p:cNvSpPr>
            <a:spLocks noGrp="1"/>
          </p:cNvSpPr>
          <p:nvPr>
            <p:ph idx="1"/>
          </p:nvPr>
        </p:nvSpPr>
        <p:spPr/>
        <p:txBody>
          <a:bodyPr>
            <a:normAutofit lnSpcReduction="10000"/>
          </a:bodyPr>
          <a:lstStyle/>
          <a:p>
            <a:pPr marL="0" lvl="0" indent="0">
              <a:buNone/>
            </a:pPr>
            <a:r>
              <a:t>No court has definitively resolved all liability questions around AI-generated code, but the practical trajectory is clear: the developer or organization that ships the code remains responsible for it.</a:t>
            </a:r>
          </a:p>
          <a:p>
            <a:pPr marL="0" lvl="0" indent="0">
              <a:buNone/>
            </a:pPr>
            <a:r>
              <a:t>“The AI suggested it” is not a legal defense, just as “I copied it from Stack Overflow” never was.</a:t>
            </a:r>
          </a:p>
          <a:p>
            <a:pPr marL="0" lvl="0" indent="0">
              <a:spcBef>
                <a:spcPts val="3000"/>
              </a:spcBef>
              <a:buNone/>
            </a:pPr>
            <a:r>
              <a:rPr b="1"/>
              <a:t>Emerging Developments</a:t>
            </a:r>
          </a:p>
          <a:p>
            <a:pPr lvl="0"/>
            <a:r>
              <a:t>Some cyber insurance policies exclude damages from unverified AI output</a:t>
            </a:r>
          </a:p>
          <a:p>
            <a:pPr lvl="0"/>
            <a:r>
              <a:t>Legislatures are creating new rights of action for AI-related harms</a:t>
            </a:r>
          </a:p>
          <a:p>
            <a:pPr lvl="0"/>
            <a:r>
              <a:t>Conversations with AI platforms may be discoverable in litigation</a:t>
            </a:r>
          </a:p>
          <a:p>
            <a:pPr marL="0" lvl="0" indent="0">
              <a:buNone/>
            </a:pPr>
            <a:r>
              <a:t>Anything you paste into an AI system could later matter in court.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EU AI Act</a:t>
            </a:r>
          </a:p>
        </p:txBody>
      </p:sp>
      <p:sp>
        <p:nvSpPr>
          <p:cNvPr id="3" name="Content Placeholder 2"/>
          <p:cNvSpPr>
            <a:spLocks noGrp="1"/>
          </p:cNvSpPr>
          <p:nvPr>
            <p:ph idx="1"/>
          </p:nvPr>
        </p:nvSpPr>
        <p:spPr/>
        <p:txBody>
          <a:bodyPr/>
          <a:lstStyle/>
          <a:p>
            <a:pPr marL="0" lvl="0" indent="0">
              <a:buNone/>
            </a:pPr>
            <a:r>
              <a:t>AI coding tools built on general-purpose AI models fall under the GPAI provisions of the EU AI Act.</a:t>
            </a:r>
          </a:p>
          <a:p>
            <a:pPr marL="0" lvl="0" indent="0">
              <a:buNone/>
            </a:pPr>
            <a:r>
              <a:t>Key obligations for providers include:</a:t>
            </a:r>
          </a:p>
          <a:p>
            <a:pPr lvl="0"/>
            <a:r>
              <a:t>Maintaining detailed technical documentation</a:t>
            </a:r>
          </a:p>
          <a:p>
            <a:pPr lvl="0"/>
            <a:r>
              <a:t>Publishing summaries of copyrighted training data used</a:t>
            </a:r>
          </a:p>
          <a:p>
            <a:pPr lvl="0"/>
            <a:r>
              <a:t>Demonstrating copyright compliance in training data sourcing</a:t>
            </a:r>
          </a:p>
          <a:p>
            <a:pPr lvl="0"/>
            <a:r>
              <a:t>Submitting documentation to regulators on request</a:t>
            </a:r>
          </a:p>
          <a:p>
            <a:pPr marL="0" lvl="0" indent="0">
              <a:buNone/>
            </a:pPr>
            <a:r>
              <a:t>For organizations using these tools, the burden is practical rather than theoretical: know which tools are compliant, what data you send to them, and whether your use case triggers additional obligations.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Audit Trails Are Coming</a:t>
            </a:r>
          </a:p>
        </p:txBody>
      </p:sp>
      <p:sp>
        <p:nvSpPr>
          <p:cNvPr id="3" name="Content Placeholder 2"/>
          <p:cNvSpPr>
            <a:spLocks noGrp="1"/>
          </p:cNvSpPr>
          <p:nvPr>
            <p:ph idx="1"/>
          </p:nvPr>
        </p:nvSpPr>
        <p:spPr/>
        <p:txBody>
          <a:bodyPr/>
          <a:lstStyle/>
          <a:p>
            <a:pPr marL="0" lvl="0" indent="0">
              <a:buNone/>
            </a:pPr>
            <a:r>
              <a:t>The direction is clear: organizations will increasingly need to prove what was AI-generated and what was not.</a:t>
            </a:r>
          </a:p>
          <a:p>
            <a:pPr marL="0" lvl="0" indent="0">
              <a:buNone/>
            </a:pPr>
            <a:r>
              <a:t>That means:</a:t>
            </a:r>
          </a:p>
          <a:p>
            <a:pPr lvl="0"/>
            <a:r>
              <a:t>Tagging AI-generated code in version control</a:t>
            </a:r>
          </a:p>
          <a:p>
            <a:pPr lvl="0"/>
            <a:r>
              <a:t>Retaining prompt and response logs for high-risk work</a:t>
            </a:r>
          </a:p>
          <a:p>
            <a:pPr lvl="0"/>
            <a:r>
              <a:t>Documenting human modifications that create authorship and accountability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Practical Checklist</a:t>
            </a:r>
          </a:p>
        </p:txBody>
      </p:sp>
      <p:sp>
        <p:nvSpPr>
          <p:cNvPr id="3" name="Content Placeholder 2"/>
          <p:cNvSpPr>
            <a:spLocks noGrp="1"/>
          </p:cNvSpPr>
          <p:nvPr>
            <p:ph idx="1"/>
          </p:nvPr>
        </p:nvSpPr>
        <p:spPr/>
        <p:txBody>
          <a:bodyPr>
            <a:normAutofit lnSpcReduction="10000"/>
          </a:bodyPr>
          <a:lstStyle/>
          <a:p>
            <a:pPr marL="342900" lvl="0" indent="-342900">
              <a:buAutoNum type="arabicPeriod"/>
            </a:pPr>
            <a:r>
              <a:t>Use enterprise tiers of AI tools when you need indemnification and opt-outs.</a:t>
            </a:r>
          </a:p>
          <a:p>
            <a:pPr marL="342900" lvl="0" indent="-342900">
              <a:buAutoNum type="arabicPeriod"/>
            </a:pPr>
            <a:r>
              <a:t>Don’t paste secrets, PII, or proprietary algorithms into prompts.</a:t>
            </a:r>
          </a:p>
          <a:p>
            <a:pPr marL="342900" lvl="0" indent="-342900">
              <a:buAutoNum type="arabicPeriod"/>
            </a:pPr>
            <a:r>
              <a:t>Run license compliance scanning in CI/CD.</a:t>
            </a:r>
          </a:p>
          <a:p>
            <a:pPr marL="342900" lvl="0" indent="-342900">
              <a:buAutoNum type="arabicPeriod"/>
            </a:pPr>
            <a:r>
              <a:t>Tag AI-generated code in version control with provenance metadata.</a:t>
            </a:r>
          </a:p>
          <a:p>
            <a:pPr marL="342900" lvl="0" indent="-342900">
              <a:buAutoNum type="arabicPeriod"/>
            </a:pPr>
            <a:r>
              <a:t>Require human review for all AI-generated code before merge.</a:t>
            </a:r>
          </a:p>
          <a:p>
            <a:pPr marL="342900" lvl="0" indent="-342900">
              <a:buAutoNum type="arabicPeriod"/>
            </a:pPr>
            <a:r>
              <a:t>Review cyber insurance for AI-code exclusions.</a:t>
            </a:r>
          </a:p>
          <a:p>
            <a:pPr marL="342900" lvl="0" indent="-342900">
              <a:buAutoNum type="arabicPeriod"/>
            </a:pPr>
            <a:r>
              <a:t>Document human modifications to establish copyriht.</a:t>
            </a:r>
          </a:p>
          <a:p>
            <a:pPr marL="342900" lvl="0" indent="-342900">
              <a:buAutoNum type="arabicPeriod"/>
            </a:pPr>
            <a:r>
              <a:t>Create an AI coding policy covering approved tools, data classification, and review requirements.</a:t>
            </a:r>
          </a:p>
          <a:p>
            <a:pPr marL="0" lvl="0" indent="0">
              <a:buNone/>
            </a:pPr>
            <a:r>
              <a:t>The legal landscape is evolving quickly. What is settled is that you are responsible for the code you ship. Much of the rest is still moving.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A0B099-8513-2D57-C434-2DA6EC70C631}"/>
              </a:ext>
            </a:extLst>
          </p:cNvPr>
          <p:cNvSpPr>
            <a:spLocks noGrp="1"/>
          </p:cNvSpPr>
          <p:nvPr>
            <p:ph type="title"/>
          </p:nvPr>
        </p:nvSpPr>
        <p:spPr/>
        <p:txBody>
          <a:bodyPr/>
          <a:lstStyle/>
          <a:p>
            <a:pPr algn="l"/>
            <a:r>
              <a:rPr lang="en-US" dirty="0"/>
              <a:t>Chapter 7: Team and Organizational Impact</a:t>
            </a:r>
            <a:endParaRPr lang="de-DE" dirty="0"/>
          </a:p>
        </p:txBody>
      </p:sp>
      <p:sp>
        <p:nvSpPr>
          <p:cNvPr id="3" name="Content Placeholder 2"/>
          <p:cNvSpPr>
            <a:spLocks noGrp="1"/>
          </p:cNvSpPr>
          <p:nvPr>
            <p:ph idx="1"/>
          </p:nvPr>
        </p:nvSpPr>
        <p:spPr/>
        <p:txBody>
          <a:bodyPr/>
          <a:lstStyle/>
          <a:p>
            <a:pPr marL="0" lvl="0" indent="0">
              <a:buNone/>
            </a:pPr>
            <a:r>
              <a:t>Vibe coding doesn’t just change how individuals write code. It reshapes teams, roles, hiring, and the structure of how organizations build software.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Fewer Developers, Higher Seniority</a:t>
            </a:r>
          </a:p>
        </p:txBody>
      </p:sp>
      <p:sp>
        <p:nvSpPr>
          <p:cNvPr id="3" name="Content Placeholder 2"/>
          <p:cNvSpPr>
            <a:spLocks noGrp="1"/>
          </p:cNvSpPr>
          <p:nvPr>
            <p:ph idx="1"/>
          </p:nvPr>
        </p:nvSpPr>
        <p:spPr/>
        <p:txBody>
          <a:bodyPr>
            <a:normAutofit lnSpcReduction="10000"/>
          </a:bodyPr>
          <a:lstStyle/>
          <a:p>
            <a:pPr marL="0" lvl="0" indent="0">
              <a:buNone/>
            </a:pPr>
            <a:r>
              <a:t>One immediate effect is that small teams can do work that once required much larger ones. This does not mean organizations need less talent — it means they need different talent.</a:t>
            </a:r>
          </a:p>
          <a:p>
            <a:pPr marL="0" lvl="0" indent="0">
              <a:buNone/>
            </a:pPr>
            <a:r>
              <a:t>When AI writes the code, the bottleneck shifts from implementation to judgment. Teams need people who can:</a:t>
            </a:r>
          </a:p>
          <a:p>
            <a:pPr lvl="0"/>
            <a:r>
              <a:t>Define the right problem</a:t>
            </a:r>
          </a:p>
          <a:p>
            <a:pPr lvl="0"/>
            <a:r>
              <a:t>Evaluate AI output quickly and accurately</a:t>
            </a:r>
          </a:p>
          <a:p>
            <a:pPr lvl="0"/>
            <a:r>
              <a:t>Catch architectural flaws before they compound</a:t>
            </a:r>
          </a:p>
          <a:p>
            <a:pPr lvl="0"/>
            <a:r>
              <a:t>Understand systems well enough to know what the AI got wrong</a:t>
            </a:r>
          </a:p>
          <a:p>
            <a:pPr marL="0" lvl="0" indent="0">
              <a:buNone/>
            </a:pPr>
            <a:r>
              <a:t>That is senior-level thinking. Teams may get smaller, but they also need to get more experienced.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Conductor Skill Set</a:t>
            </a:r>
          </a:p>
        </p:txBody>
      </p:sp>
      <p:sp>
        <p:nvSpPr>
          <p:cNvPr id="3" name="Content Placeholder 2"/>
          <p:cNvSpPr>
            <a:spLocks noGrp="1"/>
          </p:cNvSpPr>
          <p:nvPr>
            <p:ph idx="1"/>
          </p:nvPr>
        </p:nvSpPr>
        <p:spPr/>
        <p:txBody>
          <a:bodyPr/>
          <a:lstStyle/>
          <a:p>
            <a:pPr marL="0" lvl="0" indent="0">
              <a:buNone/>
            </a:pPr>
            <a:r>
              <a:t>The most valuable person in a vibe coding organization is not the fastest typist. It is the person who can orchestrate AI effectively.</a:t>
            </a:r>
          </a:p>
          <a:p>
            <a:pPr marL="0" lvl="0" indent="0">
              <a:buNone/>
            </a:pPr>
            <a:r>
              <a:t>Important conductor skills include:</a:t>
            </a:r>
          </a:p>
          <a:p>
            <a:pPr lvl="0"/>
            <a:r>
              <a:t>Problem decomposition</a:t>
            </a:r>
          </a:p>
          <a:p>
            <a:pPr lvl="0"/>
            <a:r>
              <a:t>Precise communication</a:t>
            </a:r>
          </a:p>
          <a:p>
            <a:pPr lvl="0"/>
            <a:r>
              <a:t>Domain expertise</a:t>
            </a:r>
          </a:p>
          <a:p>
            <a:pPr lvl="0"/>
            <a:r>
              <a:t>Taste and judgment</a:t>
            </a:r>
          </a:p>
          <a:p>
            <a:pPr lvl="0"/>
            <a:r>
              <a:t>Security awareness</a:t>
            </a:r>
          </a:p>
          <a:p>
            <a:pPr lvl="0"/>
            <a:r>
              <a:t>Systems thinking</a:t>
            </a:r>
          </a:p>
          <a:p>
            <a:pPr marL="0" lvl="0" indent="0">
              <a:buNone/>
            </a:pPr>
            <a:r>
              <a:t>Typing speed and memorized API trivia matter less than they used to.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Code Review Changes Everything</a:t>
            </a:r>
          </a:p>
        </p:txBody>
      </p:sp>
      <p:sp>
        <p:nvSpPr>
          <p:cNvPr id="3" name="Content Placeholder 2"/>
          <p:cNvSpPr>
            <a:spLocks noGrp="1"/>
          </p:cNvSpPr>
          <p:nvPr>
            <p:ph idx="1"/>
          </p:nvPr>
        </p:nvSpPr>
        <p:spPr/>
        <p:txBody>
          <a:bodyPr/>
          <a:lstStyle/>
          <a:p>
            <a:pPr marL="0" lvl="0" indent="0">
              <a:buNone/>
            </a:pPr>
            <a:r>
              <a:t>In traditional development, code review often focused on style, clarity, and correctness. In the vibe coding era, it becomes the primary quality gate.</a:t>
            </a:r>
          </a:p>
          <a:p>
            <a:pPr marL="0" lvl="0" indent="0">
              <a:buNone/>
            </a:pPr>
            <a:r>
              <a:t>The questions change from:</a:t>
            </a:r>
          </a:p>
          <a:p>
            <a:pPr marL="1270000" lvl="0" indent="0">
              <a:buNone/>
            </a:pPr>
            <a:r>
              <a:rPr sz="2000"/>
              <a:t>“Did you follow the naming conventions?”</a:t>
            </a:r>
          </a:p>
          <a:p>
            <a:pPr marL="0" lvl="0" indent="0">
              <a:buNone/>
            </a:pPr>
            <a:r>
              <a:t>to:</a:t>
            </a:r>
          </a:p>
          <a:p>
            <a:pPr marL="1270000" lvl="0" indent="0">
              <a:buNone/>
            </a:pPr>
            <a:r>
              <a:rPr sz="2000"/>
              <a:t>“Did the AI silently remove the authentication check?”</a:t>
            </a:r>
          </a:p>
          <a:p>
            <a:pPr marL="0" lvl="0" indent="0">
              <a:buNone/>
            </a:pPr>
            <a:r>
              <a:t>AI-generated code has a specific failure mode: it looks polished while hiding subtle defects. It compiles, the tests pass, and the code reads cleanly, but the hidden logic is wrong, incomplete, or fragile.</a:t>
            </a:r>
          </a:p>
          <a:p>
            <a:pPr marL="0" lvl="0" indent="0">
              <a:buNone/>
            </a:pPr>
            <a:r>
              <a:t>Organizations need to invest more in review skills, not less.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Senior Developer’s New Role</a:t>
            </a:r>
            <a:br>
              <a:rPr dirty="0"/>
            </a:br>
            <a:r>
              <a:rPr lang="en-US" sz="2000" dirty="0"/>
              <a:t>Senior developers are more important than ever, but their job changes.</a:t>
            </a:r>
            <a:endParaRPr sz="2000" dirty="0"/>
          </a:p>
        </p:txBody>
      </p:sp>
      <p:sp>
        <p:nvSpPr>
          <p:cNvPr id="3" name="Content Placeholder 2"/>
          <p:cNvSpPr>
            <a:spLocks noGrp="1"/>
          </p:cNvSpPr>
          <p:nvPr>
            <p:ph sz="half" idx="1"/>
          </p:nvPr>
        </p:nvSpPr>
        <p:spPr/>
        <p:txBody>
          <a:bodyPr>
            <a:normAutofit fontScale="92500" lnSpcReduction="20000"/>
          </a:bodyPr>
          <a:lstStyle/>
          <a:p>
            <a:pPr marL="0" lvl="0" indent="0">
              <a:spcBef>
                <a:spcPts val="3000"/>
              </a:spcBef>
              <a:buNone/>
            </a:pPr>
            <a:r>
              <a:rPr b="1" dirty="0"/>
              <a:t>Before vibe coding</a:t>
            </a:r>
          </a:p>
          <a:p>
            <a:pPr lvl="0"/>
            <a:r>
              <a:rPr dirty="0"/>
              <a:t>Write complex code</a:t>
            </a:r>
          </a:p>
          <a:p>
            <a:pPr lvl="0"/>
            <a:r>
              <a:rPr dirty="0"/>
              <a:t>Mentor juniors on implementation</a:t>
            </a:r>
          </a:p>
          <a:p>
            <a:pPr lvl="0"/>
            <a:r>
              <a:rPr dirty="0"/>
              <a:t>Architect systems</a:t>
            </a:r>
          </a:p>
          <a:p>
            <a:pPr lvl="0"/>
            <a:r>
              <a:rPr dirty="0"/>
              <a:t>Review code</a:t>
            </a:r>
          </a:p>
          <a:p>
            <a:pPr lvl="0"/>
            <a:r>
              <a:rPr dirty="0"/>
              <a:t>Debug production issues</a:t>
            </a:r>
          </a:p>
        </p:txBody>
      </p:sp>
      <p:sp>
        <p:nvSpPr>
          <p:cNvPr id="4" name="Inhaltsplatzhalter 3">
            <a:extLst>
              <a:ext uri="{FF2B5EF4-FFF2-40B4-BE49-F238E27FC236}">
                <a16:creationId xmlns:a16="http://schemas.microsoft.com/office/drawing/2014/main" id="{3446EFFF-7274-B7A1-5BB6-5AF643F3F60C}"/>
              </a:ext>
            </a:extLst>
          </p:cNvPr>
          <p:cNvSpPr>
            <a:spLocks noGrp="1"/>
          </p:cNvSpPr>
          <p:nvPr>
            <p:ph sz="half" idx="2"/>
          </p:nvPr>
        </p:nvSpPr>
        <p:spPr/>
        <p:txBody>
          <a:bodyPr>
            <a:normAutofit fontScale="92500" lnSpcReduction="20000"/>
          </a:bodyPr>
          <a:lstStyle/>
          <a:p>
            <a:pPr marL="0" lvl="0" indent="0">
              <a:spcBef>
                <a:spcPts val="3000"/>
              </a:spcBef>
              <a:buNone/>
            </a:pPr>
            <a:r>
              <a:rPr lang="en-US" b="1" dirty="0"/>
              <a:t>After vibe coding</a:t>
            </a:r>
          </a:p>
          <a:p>
            <a:pPr lvl="0"/>
            <a:r>
              <a:rPr lang="en-US" dirty="0"/>
              <a:t>Architect systems</a:t>
            </a:r>
          </a:p>
          <a:p>
            <a:pPr lvl="0"/>
            <a:r>
              <a:rPr lang="en-US" dirty="0"/>
              <a:t>Review AI-generated code</a:t>
            </a:r>
          </a:p>
          <a:p>
            <a:pPr lvl="0"/>
            <a:r>
              <a:rPr lang="en-US" dirty="0"/>
              <a:t>Define prompts and specifications</a:t>
            </a:r>
          </a:p>
          <a:p>
            <a:pPr lvl="0"/>
            <a:r>
              <a:rPr lang="en-US" dirty="0"/>
              <a:t>Evaluate and select AI tools</a:t>
            </a:r>
          </a:p>
          <a:p>
            <a:pPr lvl="0"/>
            <a:r>
              <a:rPr lang="en-US" dirty="0"/>
              <a:t>Set security and quality guardrails</a:t>
            </a:r>
          </a:p>
          <a:p>
            <a:pPr lvl="0"/>
            <a:r>
              <a:rPr lang="en-US" dirty="0"/>
              <a:t>Debug production issues</a:t>
            </a:r>
          </a:p>
          <a:p>
            <a:pPr lvl="0"/>
            <a:r>
              <a:rPr lang="en-US" dirty="0"/>
              <a:t>Mentor teams on when and how to use AI</a:t>
            </a:r>
          </a:p>
          <a:p>
            <a:pPr marL="0" lvl="0" indent="0">
              <a:buNone/>
            </a:pPr>
            <a:r>
              <a:rPr lang="en-US" dirty="0"/>
              <a:t>The shift is from pure implementation toward player-coach behavior.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Shadow IT Problem</a:t>
            </a:r>
          </a:p>
        </p:txBody>
      </p:sp>
      <p:sp>
        <p:nvSpPr>
          <p:cNvPr id="3" name="Content Placeholder 2"/>
          <p:cNvSpPr>
            <a:spLocks noGrp="1"/>
          </p:cNvSpPr>
          <p:nvPr>
            <p:ph idx="1"/>
          </p:nvPr>
        </p:nvSpPr>
        <p:spPr/>
        <p:txBody>
          <a:bodyPr/>
          <a:lstStyle/>
          <a:p>
            <a:pPr marL="0" lvl="0" indent="0">
              <a:buNone/>
            </a:pPr>
            <a:r>
              <a:t>Every large organization already has shadow vibe coders: program managers building dashboards, marketing teams creating landing pages, analysts automating reports, all outside formal governance.</a:t>
            </a:r>
          </a:p>
          <a:p>
            <a:pPr marL="0" lvl="0" indent="0">
              <a:buNone/>
            </a:pPr>
            <a:r>
              <a:t>Organizations effectively have three options:</a:t>
            </a:r>
          </a:p>
          <a:p>
            <a:pPr marL="342900" lvl="0" indent="-342900">
              <a:buAutoNum type="arabicPeriod"/>
            </a:pPr>
            <a:r>
              <a:t>Ignore it</a:t>
            </a:r>
          </a:p>
          <a:p>
            <a:pPr marL="342900" lvl="0" indent="-342900">
              <a:buAutoNum type="arabicPeriod"/>
            </a:pPr>
            <a:r>
              <a:t>Ban it</a:t>
            </a:r>
          </a:p>
          <a:p>
            <a:pPr marL="342900" lvl="0" indent="-342900">
              <a:buAutoNum type="arabicPeriod"/>
            </a:pPr>
            <a:r>
              <a:t>Govern it</a:t>
            </a:r>
          </a:p>
          <a:p>
            <a:pPr marL="0" lvl="0" indent="0">
              <a:buNone/>
            </a:pPr>
            <a:r>
              <a:t>Only the third option scales. Provide approved tools, training, guardrails, and a sane review path. Make it easier to do the right thing than the wrong thing.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Productivity Paradox at Scale</a:t>
            </a:r>
          </a:p>
        </p:txBody>
      </p:sp>
      <p:sp>
        <p:nvSpPr>
          <p:cNvPr id="3" name="Content Placeholder 2"/>
          <p:cNvSpPr>
            <a:spLocks noGrp="1"/>
          </p:cNvSpPr>
          <p:nvPr>
            <p:ph idx="1"/>
          </p:nvPr>
        </p:nvSpPr>
        <p:spPr/>
        <p:txBody>
          <a:bodyPr/>
          <a:lstStyle/>
          <a:p>
            <a:pPr marL="0" lvl="0" indent="0">
              <a:buNone/>
            </a:pPr>
            <a:r>
              <a:t>Individual vibe coders often report dramatic speedups, but organizations do not always see equivalent gains.</a:t>
            </a:r>
          </a:p>
          <a:p>
            <a:pPr marL="0" lvl="0" indent="0">
              <a:buNone/>
            </a:pPr>
            <a:r>
              <a:t>Why not?</a:t>
            </a:r>
          </a:p>
          <a:p>
            <a:pPr lvl="0"/>
            <a:r>
              <a:t>The bottleneck shifts to requirements, review, testing, deployment, and maintenance</a:t>
            </a:r>
          </a:p>
          <a:p>
            <a:pPr lvl="0"/>
            <a:r>
              <a:t>Review overhead increases</a:t>
            </a:r>
          </a:p>
          <a:p>
            <a:pPr lvl="0"/>
            <a:r>
              <a:t>Technical debt can accumulate faster</a:t>
            </a:r>
          </a:p>
          <a:p>
            <a:pPr lvl="0"/>
            <a:r>
              <a:t>Coordination costs between people still remain</a:t>
            </a:r>
          </a:p>
          <a:p>
            <a:pPr marL="0" lvl="0" indent="0">
              <a:buNone/>
            </a:pPr>
            <a:r>
              <a:t>The short-term organizational gain is usually meaningful but not magical.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Build vs. Buy vs. Vibe</a:t>
            </a:r>
            <a:br>
              <a:rPr dirty="0"/>
            </a:br>
            <a:r>
              <a:rPr lang="en-US" sz="2000" dirty="0"/>
              <a:t>Not everything should be vibe coded.</a:t>
            </a:r>
            <a:endParaRPr sz="2000" dirty="0"/>
          </a:p>
        </p:txBody>
      </p:sp>
      <p:sp>
        <p:nvSpPr>
          <p:cNvPr id="3" name="Content Placeholder 2"/>
          <p:cNvSpPr>
            <a:spLocks noGrp="1"/>
          </p:cNvSpPr>
          <p:nvPr>
            <p:ph sz="half" idx="1"/>
          </p:nvPr>
        </p:nvSpPr>
        <p:spPr/>
        <p:txBody>
          <a:bodyPr>
            <a:normAutofit fontScale="77500" lnSpcReduction="20000"/>
          </a:bodyPr>
          <a:lstStyle/>
          <a:p>
            <a:pPr marL="0" lvl="0" indent="0">
              <a:spcBef>
                <a:spcPts val="3000"/>
              </a:spcBef>
              <a:buNone/>
            </a:pPr>
            <a:r>
              <a:rPr b="1" dirty="0"/>
              <a:t>Vibe code it when:</a:t>
            </a:r>
          </a:p>
          <a:p>
            <a:pPr lvl="0"/>
            <a:r>
              <a:rPr dirty="0"/>
              <a:t>It is an internal tool</a:t>
            </a:r>
          </a:p>
          <a:p>
            <a:pPr lvl="0"/>
            <a:r>
              <a:rPr dirty="0"/>
              <a:t>The data is not highly sensitive</a:t>
            </a:r>
          </a:p>
          <a:p>
            <a:pPr lvl="0"/>
            <a:r>
              <a:rPr dirty="0"/>
              <a:t>The scope is bounded</a:t>
            </a:r>
          </a:p>
          <a:p>
            <a:pPr lvl="0"/>
            <a:r>
              <a:rPr dirty="0"/>
              <a:t>Someone can competently review the output</a:t>
            </a:r>
          </a:p>
          <a:p>
            <a:pPr marL="0" lvl="0" indent="0">
              <a:spcBef>
                <a:spcPts val="3000"/>
              </a:spcBef>
              <a:buNone/>
            </a:pPr>
            <a:r>
              <a:rPr b="1" dirty="0"/>
              <a:t>Buy SaaS when:</a:t>
            </a:r>
          </a:p>
          <a:p>
            <a:pPr lvl="0"/>
            <a:r>
              <a:rPr dirty="0"/>
              <a:t>The problem is already well solved</a:t>
            </a:r>
          </a:p>
          <a:p>
            <a:pPr lvl="0"/>
            <a:r>
              <a:rPr dirty="0"/>
              <a:t>Compliance matters more than customization</a:t>
            </a:r>
          </a:p>
          <a:p>
            <a:pPr lvl="0"/>
            <a:r>
              <a:rPr dirty="0"/>
              <a:t>Long-term maintenance is more important than speed</a:t>
            </a:r>
          </a:p>
        </p:txBody>
      </p:sp>
      <p:sp>
        <p:nvSpPr>
          <p:cNvPr id="4" name="Inhaltsplatzhalter 3">
            <a:extLst>
              <a:ext uri="{FF2B5EF4-FFF2-40B4-BE49-F238E27FC236}">
                <a16:creationId xmlns:a16="http://schemas.microsoft.com/office/drawing/2014/main" id="{D012D918-01F0-CCE4-1627-4F639AC36144}"/>
              </a:ext>
            </a:extLst>
          </p:cNvPr>
          <p:cNvSpPr>
            <a:spLocks noGrp="1"/>
          </p:cNvSpPr>
          <p:nvPr>
            <p:ph sz="half" idx="2"/>
          </p:nvPr>
        </p:nvSpPr>
        <p:spPr/>
        <p:txBody>
          <a:bodyPr>
            <a:normAutofit fontScale="77500" lnSpcReduction="20000"/>
          </a:bodyPr>
          <a:lstStyle/>
          <a:p>
            <a:pPr marL="0" lvl="0" indent="0">
              <a:spcBef>
                <a:spcPts val="3000"/>
              </a:spcBef>
              <a:buNone/>
            </a:pPr>
            <a:r>
              <a:rPr lang="en-US" b="1" dirty="0"/>
              <a:t>Use traditional engineering when:</a:t>
            </a:r>
          </a:p>
          <a:p>
            <a:pPr lvl="0"/>
            <a:r>
              <a:rPr lang="en-US" dirty="0"/>
              <a:t>The system is mission critical</a:t>
            </a:r>
          </a:p>
          <a:p>
            <a:pPr lvl="0"/>
            <a:r>
              <a:rPr lang="en-US" dirty="0"/>
              <a:t>It handles financial, medical, or legal data</a:t>
            </a:r>
          </a:p>
          <a:p>
            <a:pPr lvl="0"/>
            <a:r>
              <a:rPr lang="en-US" dirty="0"/>
              <a:t>It requires regulatory compliance</a:t>
            </a:r>
          </a:p>
          <a:p>
            <a:pPr lvl="0"/>
            <a:r>
              <a:rPr lang="en-US" dirty="0"/>
              <a:t>It needs to scale hard</a:t>
            </a:r>
          </a:p>
          <a:p>
            <a:endParaRPr lang="de-DE"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Broken Metrics</a:t>
            </a:r>
          </a:p>
        </p:txBody>
      </p:sp>
      <p:sp>
        <p:nvSpPr>
          <p:cNvPr id="3" name="Content Placeholder 2"/>
          <p:cNvSpPr>
            <a:spLocks noGrp="1"/>
          </p:cNvSpPr>
          <p:nvPr>
            <p:ph idx="1"/>
          </p:nvPr>
        </p:nvSpPr>
        <p:spPr/>
        <p:txBody>
          <a:bodyPr/>
          <a:lstStyle/>
          <a:p>
            <a:pPr marL="0" lvl="0" indent="0">
              <a:buNone/>
            </a:pPr>
            <a:r>
              <a:t>Traditional productivity metrics are poor fits for vibe coding.</a:t>
            </a:r>
          </a:p>
          <a:p>
            <a:pPr marL="0" lvl="0" indent="0">
              <a:buNone/>
            </a:pPr>
            <a:r>
              <a:t>Metrics that matter more include:</a:t>
            </a:r>
          </a:p>
          <a:p>
            <a:pPr lvl="0"/>
            <a:r>
              <a:t>Prompt-to-Ship Time</a:t>
            </a:r>
          </a:p>
          <a:p>
            <a:pPr lvl="0"/>
            <a:r>
              <a:t>AI Code Review Pass Rate</a:t>
            </a:r>
          </a:p>
          <a:p>
            <a:pPr lvl="0"/>
            <a:r>
              <a:t>Rework Rate</a:t>
            </a:r>
          </a:p>
          <a:p>
            <a:pPr lvl="0"/>
            <a:r>
              <a:t>Incident Rate</a:t>
            </a:r>
          </a:p>
          <a:p>
            <a:pPr lvl="0"/>
            <a:r>
              <a:t>System Complexity Capability</a:t>
            </a:r>
          </a:p>
          <a:p>
            <a:pPr marL="0" lvl="0" indent="0">
              <a:buNone/>
            </a:pPr>
            <a:r>
              <a:t>Measure outcomes, not line counts.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Cultural Resistance</a:t>
            </a:r>
          </a:p>
        </p:txBody>
      </p:sp>
      <p:sp>
        <p:nvSpPr>
          <p:cNvPr id="3" name="Content Placeholder 2"/>
          <p:cNvSpPr>
            <a:spLocks noGrp="1"/>
          </p:cNvSpPr>
          <p:nvPr>
            <p:ph idx="1"/>
          </p:nvPr>
        </p:nvSpPr>
        <p:spPr/>
        <p:txBody>
          <a:bodyPr/>
          <a:lstStyle/>
          <a:p>
            <a:pPr marL="0" lvl="0" indent="0">
              <a:buNone/>
            </a:pPr>
            <a:r>
              <a:t>Expect friction from several directions:</a:t>
            </a:r>
          </a:p>
          <a:p>
            <a:pPr lvl="0"/>
            <a:r>
              <a:t>Not Invented Here reactions</a:t>
            </a:r>
          </a:p>
          <a:p>
            <a:pPr lvl="0"/>
            <a:r>
              <a:t>Fear of obsolescence</a:t>
            </a:r>
          </a:p>
          <a:p>
            <a:pPr lvl="0"/>
            <a:r>
              <a:t>Generational disagreements</a:t>
            </a:r>
          </a:p>
          <a:p>
            <a:pPr lvl="0"/>
            <a:r>
              <a:t>Over-trust in AI output</a:t>
            </a:r>
          </a:p>
          <a:p>
            <a:pPr marL="0" lvl="0" indent="0">
              <a:buNone/>
            </a:pPr>
            <a:r>
              <a:t>The most dangerous cultural problem is not skepticism. It is uncritical acceptance.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Where Vibe Coding Hits a Wall</a:t>
            </a:r>
          </a:p>
        </p:txBody>
      </p:sp>
      <p:sp>
        <p:nvSpPr>
          <p:cNvPr id="3" name="Content Placeholder 2"/>
          <p:cNvSpPr>
            <a:spLocks noGrp="1"/>
          </p:cNvSpPr>
          <p:nvPr>
            <p:ph idx="1"/>
          </p:nvPr>
        </p:nvSpPr>
        <p:spPr/>
        <p:txBody>
          <a:bodyPr/>
          <a:lstStyle/>
          <a:p>
            <a:pPr marL="0" lvl="0" indent="0">
              <a:buNone/>
            </a:pPr>
            <a:r>
              <a:t>Some domains still resist this workflow:</a:t>
            </a:r>
          </a:p>
          <a:p>
            <a:pPr lvl="0"/>
            <a:r>
              <a:t>Regulated industries</a:t>
            </a:r>
          </a:p>
          <a:p>
            <a:pPr lvl="0"/>
            <a:r>
              <a:t>Real-time and embedded systems</a:t>
            </a:r>
          </a:p>
          <a:p>
            <a:pPr lvl="0"/>
            <a:r>
              <a:t>Large legacy codebases</a:t>
            </a:r>
          </a:p>
          <a:p>
            <a:pPr marL="0" lvl="0" indent="0">
              <a:buNone/>
            </a:pPr>
            <a:r>
              <a:t>Knowing when not to use AI may be one of the highest-value skills in the entire stack.</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to Teach Your Teams</a:t>
            </a:r>
          </a:p>
        </p:txBody>
      </p:sp>
      <p:sp>
        <p:nvSpPr>
          <p:cNvPr id="3" name="Content Placeholder 2"/>
          <p:cNvSpPr>
            <a:spLocks noGrp="1"/>
          </p:cNvSpPr>
          <p:nvPr>
            <p:ph idx="1"/>
          </p:nvPr>
        </p:nvSpPr>
        <p:spPr/>
        <p:txBody>
          <a:bodyPr/>
          <a:lstStyle/>
          <a:p>
            <a:pPr marL="0" lvl="0" indent="0">
              <a:buNone/>
            </a:pPr>
            <a:r>
              <a:t>If you’re training an existing team, focus on:</a:t>
            </a:r>
          </a:p>
          <a:p>
            <a:pPr marL="342900" lvl="0" indent="-342900">
              <a:buAutoNum type="arabicPeriod"/>
            </a:pPr>
            <a:r>
              <a:t>Prompt engineering basics</a:t>
            </a:r>
          </a:p>
          <a:p>
            <a:pPr marL="342900" lvl="0" indent="-342900">
              <a:buAutoNum type="arabicPeriod"/>
            </a:pPr>
            <a:r>
              <a:t>Security awareness</a:t>
            </a:r>
          </a:p>
          <a:p>
            <a:pPr marL="342900" lvl="0" indent="-342900">
              <a:buAutoNum type="arabicPeriod"/>
            </a:pPr>
            <a:r>
              <a:t>AI-assisted code review</a:t>
            </a:r>
          </a:p>
          <a:p>
            <a:pPr marL="342900" lvl="0" indent="-342900">
              <a:buAutoNum type="arabicPeriod"/>
            </a:pPr>
            <a:r>
              <a:t>Tool literacy</a:t>
            </a:r>
          </a:p>
          <a:p>
            <a:pPr marL="342900" lvl="0" indent="-342900">
              <a:buAutoNum type="arabicPeriod"/>
            </a:pPr>
            <a:r>
              <a:t>Knowing when not to use AI</a:t>
            </a:r>
          </a:p>
          <a:p>
            <a:pPr marL="0" lvl="0" indent="0">
              <a:buNone/>
            </a:pPr>
            <a:r>
              <a:t>The key lesson is not technical. It is judgment.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E583CE-129A-A128-24E1-6B4497F9769E}"/>
              </a:ext>
            </a:extLst>
          </p:cNvPr>
          <p:cNvSpPr>
            <a:spLocks noGrp="1"/>
          </p:cNvSpPr>
          <p:nvPr>
            <p:ph type="title"/>
          </p:nvPr>
        </p:nvSpPr>
        <p:spPr/>
        <p:txBody>
          <a:bodyPr/>
          <a:lstStyle/>
          <a:p>
            <a:pPr algn="l"/>
            <a:r>
              <a:rPr lang="de-DE" dirty="0"/>
              <a:t>Chapter 8: Future Outlook</a:t>
            </a:r>
          </a:p>
        </p:txBody>
      </p:sp>
      <p:sp>
        <p:nvSpPr>
          <p:cNvPr id="3" name="Content Placeholder 2"/>
          <p:cNvSpPr>
            <a:spLocks noGrp="1"/>
          </p:cNvSpPr>
          <p:nvPr>
            <p:ph idx="1"/>
          </p:nvPr>
        </p:nvSpPr>
        <p:spPr/>
        <p:txBody>
          <a:bodyPr/>
          <a:lstStyle/>
          <a:p>
            <a:pPr marL="0" lvl="0" indent="0">
              <a:buNone/>
            </a:pPr>
            <a:r>
              <a:t>Predicting the future of technology is a fool’s errand, but some trajectories are clear enough to be useful.</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Where We Are on the Curve</a:t>
            </a:r>
          </a:p>
        </p:txBody>
      </p:sp>
      <p:sp>
        <p:nvSpPr>
          <p:cNvPr id="3" name="Content Placeholder 2"/>
          <p:cNvSpPr>
            <a:spLocks noGrp="1"/>
          </p:cNvSpPr>
          <p:nvPr>
            <p:ph idx="1"/>
          </p:nvPr>
        </p:nvSpPr>
        <p:spPr/>
        <p:txBody>
          <a:bodyPr/>
          <a:lstStyle/>
          <a:p>
            <a:pPr marL="0" lvl="0" indent="0">
              <a:buNone/>
            </a:pPr>
            <a:r>
              <a:t>Vibe coding in mid-2026 is roughly where smartphones were in 2010. Early adopters have been using it for years. The mainstream is catching up. The tooling works, but it is far from polished.</a:t>
            </a:r>
          </a:p>
          <a:p>
            <a:pPr marL="0" lvl="0" indent="0">
              <a:buNone/>
            </a:pPr>
            <a:r>
              <a:t>The industry has already moved past “should we use this?” and into “how do we use this well?”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Agent Era</a:t>
            </a:r>
          </a:p>
        </p:txBody>
      </p:sp>
      <p:sp>
        <p:nvSpPr>
          <p:cNvPr id="3" name="Content Placeholder 2"/>
          <p:cNvSpPr>
            <a:spLocks noGrp="1"/>
          </p:cNvSpPr>
          <p:nvPr>
            <p:ph idx="1"/>
          </p:nvPr>
        </p:nvSpPr>
        <p:spPr/>
        <p:txBody>
          <a:bodyPr/>
          <a:lstStyle/>
          <a:p>
            <a:pPr marL="0" lvl="0" indent="0">
              <a:buNone/>
            </a:pPr>
            <a:r>
              <a:t>The biggest shift underway is not better autocomplete. It is autonomous agents: AI systems that can plan, execute, and iterate with relatively little human intervention.</a:t>
            </a:r>
          </a:p>
          <a:p>
            <a:pPr marL="0" lvl="0" indent="0">
              <a:buNone/>
            </a:pPr>
            <a:r>
              <a:t>Examples already in the market include:</a:t>
            </a:r>
          </a:p>
          <a:p>
            <a:pPr lvl="0"/>
            <a:r>
              <a:t>Claude Code reading a codebase, planning multi-step work, writing code, running tests, and fixing failures</a:t>
            </a:r>
          </a:p>
          <a:p>
            <a:pPr lvl="0"/>
            <a:r>
              <a:t>GitHub Copilot launching parallel subagents through </a:t>
            </a:r>
            <a:r>
              <a:rPr>
                <a:latin typeface="Courier"/>
              </a:rPr>
              <a:t>/fleet</a:t>
            </a:r>
          </a:p>
          <a:p>
            <a:pPr lvl="0"/>
            <a:r>
              <a:t>Replit Agent building, testing, and deploying full applications</a:t>
            </a:r>
          </a:p>
          <a:p>
            <a:pPr marL="0" lvl="0" indent="0">
              <a:buNone/>
            </a:pPr>
            <a:r>
              <a:t>This is fundamentally different from autocomplete. Autocomplete helps you type faster. Agents do the work.</a:t>
            </a:r>
          </a:p>
          <a:p>
            <a:pPr marL="0" lvl="0" indent="0">
              <a:buNone/>
            </a:pPr>
            <a:r>
              <a:t>The human role shifts toward defining goals, reviewing results, and course-correcting.</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Skills Will Matter</a:t>
            </a:r>
          </a:p>
        </p:txBody>
      </p:sp>
      <p:sp>
        <p:nvSpPr>
          <p:cNvPr id="3" name="Content Placeholder 2"/>
          <p:cNvSpPr>
            <a:spLocks noGrp="1"/>
          </p:cNvSpPr>
          <p:nvPr>
            <p:ph sz="half" idx="1"/>
          </p:nvPr>
        </p:nvSpPr>
        <p:spPr/>
        <p:txBody>
          <a:bodyPr>
            <a:normAutofit fontScale="62500" lnSpcReduction="20000"/>
          </a:bodyPr>
          <a:lstStyle/>
          <a:p>
            <a:pPr marL="0" lvl="0" indent="0">
              <a:spcBef>
                <a:spcPts val="3000"/>
              </a:spcBef>
              <a:buNone/>
            </a:pPr>
            <a:r>
              <a:rPr b="1" dirty="0"/>
              <a:t>Increasing in value</a:t>
            </a:r>
          </a:p>
          <a:p>
            <a:pPr lvl="0"/>
            <a:r>
              <a:rPr dirty="0"/>
              <a:t>Systems thinking and architecture</a:t>
            </a:r>
          </a:p>
          <a:p>
            <a:pPr lvl="0"/>
            <a:r>
              <a:rPr dirty="0"/>
              <a:t>Problem decomposition</a:t>
            </a:r>
          </a:p>
          <a:p>
            <a:pPr lvl="0"/>
            <a:r>
              <a:rPr dirty="0"/>
              <a:t>Clear written communication</a:t>
            </a:r>
          </a:p>
          <a:p>
            <a:pPr lvl="0"/>
            <a:r>
              <a:rPr dirty="0"/>
              <a:t>Domain expertise</a:t>
            </a:r>
          </a:p>
          <a:p>
            <a:pPr lvl="0"/>
            <a:r>
              <a:rPr dirty="0"/>
              <a:t>Security and risk assessment</a:t>
            </a:r>
          </a:p>
          <a:p>
            <a:pPr lvl="0"/>
            <a:r>
              <a:rPr dirty="0"/>
              <a:t>Product sense and user empathy</a:t>
            </a:r>
          </a:p>
          <a:p>
            <a:pPr lvl="0"/>
            <a:r>
              <a:rPr dirty="0"/>
              <a:t>Cross-functional fluency</a:t>
            </a:r>
          </a:p>
          <a:p>
            <a:pPr marL="0" lvl="0" indent="0">
              <a:spcBef>
                <a:spcPts val="3000"/>
              </a:spcBef>
              <a:buNone/>
            </a:pPr>
            <a:r>
              <a:rPr b="1" dirty="0"/>
              <a:t>Decreasing in value</a:t>
            </a:r>
          </a:p>
          <a:p>
            <a:pPr lvl="0"/>
            <a:r>
              <a:rPr dirty="0"/>
              <a:t>Syntax memorization</a:t>
            </a:r>
          </a:p>
          <a:p>
            <a:pPr lvl="0"/>
            <a:r>
              <a:rPr dirty="0"/>
              <a:t>Boilerplate implementation</a:t>
            </a:r>
          </a:p>
          <a:p>
            <a:pPr lvl="0"/>
            <a:r>
              <a:rPr dirty="0"/>
              <a:t>Manual code translation between languages</a:t>
            </a:r>
          </a:p>
          <a:p>
            <a:pPr lvl="0"/>
            <a:r>
              <a:rPr dirty="0"/>
              <a:t>Routine debugging of common errors</a:t>
            </a:r>
          </a:p>
          <a:p>
            <a:pPr lvl="0"/>
            <a:r>
              <a:rPr dirty="0"/>
              <a:t>Documentation writing for well-known patterns</a:t>
            </a:r>
          </a:p>
        </p:txBody>
      </p:sp>
      <p:sp>
        <p:nvSpPr>
          <p:cNvPr id="4" name="Inhaltsplatzhalter 3">
            <a:extLst>
              <a:ext uri="{FF2B5EF4-FFF2-40B4-BE49-F238E27FC236}">
                <a16:creationId xmlns:a16="http://schemas.microsoft.com/office/drawing/2014/main" id="{96F70240-3C22-14FE-D0E8-3CD112D3F61D}"/>
              </a:ext>
            </a:extLst>
          </p:cNvPr>
          <p:cNvSpPr>
            <a:spLocks noGrp="1"/>
          </p:cNvSpPr>
          <p:nvPr>
            <p:ph sz="half" idx="2"/>
          </p:nvPr>
        </p:nvSpPr>
        <p:spPr/>
        <p:txBody>
          <a:bodyPr>
            <a:normAutofit fontScale="62500" lnSpcReduction="20000"/>
          </a:bodyPr>
          <a:lstStyle/>
          <a:p>
            <a:pPr marL="0" lvl="0" indent="0">
              <a:spcBef>
                <a:spcPts val="3000"/>
              </a:spcBef>
              <a:buNone/>
            </a:pPr>
            <a:r>
              <a:rPr lang="en-US" b="1" dirty="0"/>
              <a:t>Remaining important</a:t>
            </a:r>
          </a:p>
          <a:p>
            <a:pPr lvl="0"/>
            <a:r>
              <a:rPr lang="en-US" dirty="0"/>
              <a:t>Debugging novel issues</a:t>
            </a:r>
          </a:p>
          <a:p>
            <a:pPr lvl="0"/>
            <a:r>
              <a:rPr lang="en-US" dirty="0"/>
              <a:t>Performance optimization</a:t>
            </a:r>
          </a:p>
          <a:p>
            <a:pPr lvl="0"/>
            <a:r>
              <a:rPr lang="en-US" dirty="0"/>
              <a:t>Infrastructure work</a:t>
            </a:r>
          </a:p>
          <a:p>
            <a:pPr lvl="0"/>
            <a:r>
              <a:rPr lang="en-US" dirty="0"/>
              <a:t>Understanding legacy systems</a:t>
            </a:r>
          </a:p>
          <a:p>
            <a:pPr lvl="0"/>
            <a:r>
              <a:rPr lang="en-US" dirty="0"/>
              <a:t>Mentoring and technical leadership</a:t>
            </a:r>
          </a:p>
          <a:p>
            <a:pPr marL="0" lvl="0" indent="0">
              <a:buNone/>
            </a:pPr>
            <a:endParaRPr lang="en-US" dirty="0"/>
          </a:p>
          <a:p>
            <a:pPr marL="0" lvl="0" indent="0">
              <a:buNone/>
            </a:pPr>
            <a:r>
              <a:rPr lang="en-US" dirty="0"/>
              <a:t>The pattern is consistent: anything requiring judgment, context, or creativity becomes more valuable. Anything that can be specified precisely becomes more automatable.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Job Market</a:t>
            </a:r>
            <a:br>
              <a:rPr dirty="0"/>
            </a:br>
            <a:r>
              <a:rPr lang="en-US" sz="2000" dirty="0"/>
              <a:t>Some jobs will shrink. Others will grow. Many will be transformed.</a:t>
            </a:r>
            <a:endParaRPr sz="2000" dirty="0"/>
          </a:p>
        </p:txBody>
      </p:sp>
      <p:sp>
        <p:nvSpPr>
          <p:cNvPr id="3" name="Content Placeholder 2"/>
          <p:cNvSpPr>
            <a:spLocks noGrp="1"/>
          </p:cNvSpPr>
          <p:nvPr>
            <p:ph sz="half" idx="1"/>
          </p:nvPr>
        </p:nvSpPr>
        <p:spPr/>
        <p:txBody>
          <a:bodyPr>
            <a:normAutofit fontScale="77500" lnSpcReduction="20000"/>
          </a:bodyPr>
          <a:lstStyle/>
          <a:p>
            <a:pPr marL="0" lvl="0" indent="0">
              <a:spcBef>
                <a:spcPts val="3000"/>
              </a:spcBef>
              <a:buNone/>
            </a:pPr>
            <a:r>
              <a:rPr b="1" dirty="0"/>
              <a:t>Roles most at risk of reduction</a:t>
            </a:r>
          </a:p>
          <a:p>
            <a:pPr lvl="0"/>
            <a:r>
              <a:rPr dirty="0"/>
              <a:t>Junior developers doing mostly CRUD and boilerplate work</a:t>
            </a:r>
          </a:p>
          <a:p>
            <a:pPr lvl="0"/>
            <a:r>
              <a:rPr dirty="0"/>
              <a:t>Manual QA testers</a:t>
            </a:r>
          </a:p>
          <a:p>
            <a:pPr lvl="0"/>
            <a:r>
              <a:rPr dirty="0"/>
              <a:t>Simple web development agencies competing directly with browser builders</a:t>
            </a:r>
          </a:p>
          <a:p>
            <a:pPr marL="0" lvl="0" indent="0">
              <a:spcBef>
                <a:spcPts val="3000"/>
              </a:spcBef>
              <a:buNone/>
            </a:pPr>
            <a:r>
              <a:rPr b="1" dirty="0"/>
              <a:t>Roles likely to grow</a:t>
            </a:r>
          </a:p>
          <a:p>
            <a:pPr lvl="0"/>
            <a:r>
              <a:rPr dirty="0"/>
              <a:t>AI-assisted development specialists</a:t>
            </a:r>
          </a:p>
          <a:p>
            <a:pPr lvl="0"/>
            <a:r>
              <a:rPr dirty="0"/>
              <a:t>Security engineers</a:t>
            </a:r>
          </a:p>
          <a:p>
            <a:pPr lvl="0"/>
            <a:r>
              <a:rPr dirty="0"/>
              <a:t>Product managers who can prototype</a:t>
            </a:r>
          </a:p>
          <a:p>
            <a:pPr lvl="0"/>
            <a:r>
              <a:rPr dirty="0"/>
              <a:t>AI tool evaluators and integrators</a:t>
            </a:r>
          </a:p>
          <a:p>
            <a:pPr lvl="0"/>
            <a:r>
              <a:rPr dirty="0"/>
              <a:t>Technical reviewers and auditors</a:t>
            </a:r>
          </a:p>
        </p:txBody>
      </p:sp>
      <p:sp>
        <p:nvSpPr>
          <p:cNvPr id="4" name="Inhaltsplatzhalter 3">
            <a:extLst>
              <a:ext uri="{FF2B5EF4-FFF2-40B4-BE49-F238E27FC236}">
                <a16:creationId xmlns:a16="http://schemas.microsoft.com/office/drawing/2014/main" id="{5E57DE63-95A0-070B-D661-297EDE984D60}"/>
              </a:ext>
            </a:extLst>
          </p:cNvPr>
          <p:cNvSpPr>
            <a:spLocks noGrp="1"/>
          </p:cNvSpPr>
          <p:nvPr>
            <p:ph sz="half" idx="2"/>
          </p:nvPr>
        </p:nvSpPr>
        <p:spPr/>
        <p:txBody>
          <a:bodyPr>
            <a:normAutofit fontScale="77500" lnSpcReduction="20000"/>
          </a:bodyPr>
          <a:lstStyle/>
          <a:p>
            <a:pPr marL="0" lvl="0" indent="0">
              <a:spcBef>
                <a:spcPts val="3000"/>
              </a:spcBef>
              <a:buNone/>
            </a:pPr>
            <a:r>
              <a:rPr lang="en-US" b="1" dirty="0"/>
              <a:t>Roles that transform</a:t>
            </a:r>
          </a:p>
          <a:p>
            <a:pPr lvl="0"/>
            <a:r>
              <a:rPr lang="en-US" dirty="0"/>
              <a:t>Senior developers become architect-reviewers</a:t>
            </a:r>
          </a:p>
          <a:p>
            <a:pPr lvl="0"/>
            <a:r>
              <a:rPr lang="en-US" dirty="0"/>
              <a:t>DevOps engineers become platform engineers for AI-augmented pipelines</a:t>
            </a:r>
          </a:p>
          <a:p>
            <a:pPr lvl="0"/>
            <a:r>
              <a:rPr lang="en-US" dirty="0"/>
              <a:t>Technical writers become prompt and specification specialists</a:t>
            </a:r>
          </a:p>
          <a:p>
            <a:pPr marL="0" lvl="0" indent="0">
              <a:buNone/>
            </a:pPr>
            <a:endParaRPr lang="en-US" dirty="0"/>
          </a:p>
          <a:p>
            <a:pPr marL="0" lvl="0" indent="0">
              <a:buNone/>
            </a:pPr>
            <a:r>
              <a:rPr lang="en-US" dirty="0"/>
              <a:t>Automation usually eliminates tasks before it eliminates jobs. Vibe coding appears to be following that pattern.</a:t>
            </a:r>
          </a:p>
          <a:p>
            <a:endParaRPr lang="de-DE"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10x Solo Founder</a:t>
            </a:r>
          </a:p>
        </p:txBody>
      </p:sp>
      <p:sp>
        <p:nvSpPr>
          <p:cNvPr id="3" name="Content Placeholder 2"/>
          <p:cNvSpPr>
            <a:spLocks noGrp="1"/>
          </p:cNvSpPr>
          <p:nvPr>
            <p:ph idx="1"/>
          </p:nvPr>
        </p:nvSpPr>
        <p:spPr/>
        <p:txBody>
          <a:bodyPr/>
          <a:lstStyle/>
          <a:p>
            <a:pPr marL="0" lvl="0" indent="0">
              <a:buNone/>
            </a:pPr>
            <a:r>
              <a:t>One of the most visible effects is that individuals can now build what once required teams. The ceiling of what one competent person can build with AI keeps rising.</a:t>
            </a:r>
          </a:p>
          <a:p>
            <a:pPr marL="0" lvl="0" indent="0">
              <a:buNone/>
            </a:pPr>
            <a:r>
              <a:t>That matters for startups and for large organizations. Small empowered teams with AI can often move faster than much larger traditional teams.</a:t>
            </a:r>
          </a:p>
          <a:p>
            <a:pPr marL="0" lvl="0" indent="0">
              <a:buNone/>
            </a:pPr>
            <a:r>
              <a:t>But there are still hard limits around support, operations, legal work, partnerships, and scale.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Risks of Over-Reliance</a:t>
            </a:r>
          </a:p>
        </p:txBody>
      </p:sp>
      <p:sp>
        <p:nvSpPr>
          <p:cNvPr id="3" name="Content Placeholder 2"/>
          <p:cNvSpPr>
            <a:spLocks noGrp="1"/>
          </p:cNvSpPr>
          <p:nvPr>
            <p:ph idx="1"/>
          </p:nvPr>
        </p:nvSpPr>
        <p:spPr/>
        <p:txBody>
          <a:bodyPr/>
          <a:lstStyle/>
          <a:p>
            <a:pPr marL="0" lvl="0" indent="0">
              <a:buNone/>
            </a:pPr>
            <a:r>
              <a:t>This trajectory is not purely positive. There are real risks:</a:t>
            </a:r>
          </a:p>
          <a:p>
            <a:pPr lvl="0"/>
            <a:r>
              <a:t>Knowledge atrophy if developers stop learning what the AI is actually doing</a:t>
            </a:r>
          </a:p>
          <a:p>
            <a:pPr lvl="0"/>
            <a:r>
              <a:t>Vendor dependency on a small set of tools and providers</a:t>
            </a:r>
          </a:p>
          <a:p>
            <a:pPr lvl="0"/>
            <a:r>
              <a:t>Monoculture risk when everyone ships the same patterns and weaknesses</a:t>
            </a:r>
          </a:p>
          <a:p>
            <a:pPr lvl="0"/>
            <a:r>
              <a:t>The “good enough” trap, where systems ship at 90% quality and fail in the last 10%</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Measured Take</a:t>
            </a:r>
          </a:p>
        </p:txBody>
      </p:sp>
      <p:sp>
        <p:nvSpPr>
          <p:cNvPr id="3" name="Content Placeholder 2"/>
          <p:cNvSpPr>
            <a:spLocks noGrp="1"/>
          </p:cNvSpPr>
          <p:nvPr>
            <p:ph idx="1"/>
          </p:nvPr>
        </p:nvSpPr>
        <p:spPr/>
        <p:txBody>
          <a:bodyPr/>
          <a:lstStyle/>
          <a:p>
            <a:pPr marL="0" lvl="0" indent="0">
              <a:buNone/>
            </a:pPr>
            <a:r>
              <a:t>The most honest prediction is that vibe coding will be highly transformative, but not in the neat way anyone predicts.</a:t>
            </a:r>
          </a:p>
          <a:p>
            <a:pPr marL="0" lvl="0" indent="0">
              <a:buNone/>
            </a:pPr>
            <a:r>
              <a:t>There will be spectacular failures and quiet revolutions. The winners will not be the best typists or even the best prompters. They will be the people who understand what is worth building and can tell the difference between “it works” and “it’s ready.”</a:t>
            </a:r>
          </a:p>
          <a:p>
            <a:pPr marL="0" lvl="0" indent="0">
              <a:buNone/>
            </a:pPr>
            <a:r>
              <a:t>The code is becoming more of an implementation detail. The thinking is still the hard part.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8527</Words>
  <Application>Microsoft Office PowerPoint</Application>
  <PresentationFormat>Bildschirmpräsentation (16:9)</PresentationFormat>
  <Paragraphs>821</Paragraphs>
  <Slides>68</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68</vt:i4>
      </vt:variant>
    </vt:vector>
  </HeadingPairs>
  <TitlesOfParts>
    <vt:vector size="72" baseType="lpstr">
      <vt:lpstr>Arial</vt:lpstr>
      <vt:lpstr>Calibri</vt:lpstr>
      <vt:lpstr>Courier</vt:lpstr>
      <vt:lpstr>Office Theme</vt:lpstr>
      <vt:lpstr>Chapter 1: Introduction</vt:lpstr>
      <vt:lpstr>1.1 Motivation - Why Vibe Coding Matters</vt:lpstr>
      <vt:lpstr>1.2 The Story - How We Got Here</vt:lpstr>
      <vt:lpstr>1.3 The Economics - Token Costs and the ROI-Revolution</vt:lpstr>
      <vt:lpstr>PowerPoint-Präsentation</vt:lpstr>
      <vt:lpstr>PowerPoint-Präsentation</vt:lpstr>
      <vt:lpstr>PowerPoint-Präsentation</vt:lpstr>
      <vt:lpstr>1.4 How the Software Workflow Is Being Disrupted</vt:lpstr>
      <vt:lpstr>PowerPoint-Präsentation</vt:lpstr>
      <vt:lpstr>1.5 Nothing Great Was Built Alone</vt:lpstr>
      <vt:lpstr>Chapter 2: The Ecosystem</vt:lpstr>
      <vt:lpstr>AI-Native IDEs</vt:lpstr>
      <vt:lpstr>CLI and Agentic Tools For developers who live in the terminal.</vt:lpstr>
      <vt:lpstr>Browser-Based Builders No IDE, no terminal, no local setup. Describe what you want and get a working app.</vt:lpstr>
      <vt:lpstr>Autocomplete and Copilots These are the classic AI coding assistants that live inside your existing editor.</vt:lpstr>
      <vt:lpstr>The Models Behind It All</vt:lpstr>
      <vt:lpstr>The Deploy Stack Where vibe-coded apps go to live</vt:lpstr>
      <vt:lpstr>The Decision Tree</vt:lpstr>
      <vt:lpstr>Evolving Ecosystem</vt:lpstr>
      <vt:lpstr>Chapter 3: The Art of the Prompt</vt:lpstr>
      <vt:lpstr>Prompt Anatomy Every effective prompt has four components</vt:lpstr>
      <vt:lpstr>What Makes Prompts Fail</vt:lpstr>
      <vt:lpstr>Patterns That Work</vt:lpstr>
      <vt:lpstr>Anti-Patterns</vt:lpstr>
      <vt:lpstr>The Meta-Skill</vt:lpstr>
      <vt:lpstr>Chapter 4: Testimonials - Voices from the Vibe</vt:lpstr>
      <vt:lpstr>Klaus-Dieter “KD” Brandstetter</vt:lpstr>
      <vt:lpstr>Priya Chakraborty-Nilsson</vt:lpstr>
      <vt:lpstr>Jayden “Jay” Okonkwo-Park</vt:lpstr>
      <vt:lpstr>Sandra “Sandy” Kowalski-Chen</vt:lpstr>
      <vt:lpstr>Marcus Osei-Bonsu</vt:lpstr>
      <vt:lpstr>Chapter 5: Security</vt:lpstr>
      <vt:lpstr>The State of Play</vt:lpstr>
      <vt:lpstr>The Usual Suspects</vt:lpstr>
      <vt:lpstr>The Disasters</vt:lpstr>
      <vt:lpstr>It’s Getting Better, But Not Enough</vt:lpstr>
      <vt:lpstr>Expertise Matters - A Lot</vt:lpstr>
      <vt:lpstr>What You Can Do</vt:lpstr>
      <vt:lpstr>Supply Chain Attack Detection</vt:lpstr>
      <vt:lpstr>The Paradox</vt:lpstr>
      <vt:lpstr>The Bottom Line</vt:lpstr>
      <vt:lpstr>Chapter 6: Legal and IP</vt:lpstr>
      <vt:lpstr>Who Owns AI-Generated Code?</vt:lpstr>
      <vt:lpstr>The GPL Problem</vt:lpstr>
      <vt:lpstr>Liability: Who’s Responsible?</vt:lpstr>
      <vt:lpstr>The EU AI Act</vt:lpstr>
      <vt:lpstr>Audit Trails Are Coming</vt:lpstr>
      <vt:lpstr>Practical Checklist</vt:lpstr>
      <vt:lpstr>Chapter 7: Team and Organizational Impact</vt:lpstr>
      <vt:lpstr>Fewer Developers, Higher Seniority</vt:lpstr>
      <vt:lpstr>The Conductor Skill Set</vt:lpstr>
      <vt:lpstr>Code Review Changes Everything</vt:lpstr>
      <vt:lpstr>The Senior Developer’s New Role Senior developers are more important than ever, but their job changes.</vt:lpstr>
      <vt:lpstr>The Shadow IT Problem</vt:lpstr>
      <vt:lpstr>The Productivity Paradox at Scale</vt:lpstr>
      <vt:lpstr>Build vs. Buy vs. Vibe Not everything should be vibe coded.</vt:lpstr>
      <vt:lpstr>Broken Metrics</vt:lpstr>
      <vt:lpstr>Cultural Resistance</vt:lpstr>
      <vt:lpstr>Where Vibe Coding Hits a Wall</vt:lpstr>
      <vt:lpstr>What to Teach Your Teams</vt:lpstr>
      <vt:lpstr>Chapter 8: Future Outlook</vt:lpstr>
      <vt:lpstr>Where We Are on the Curve</vt:lpstr>
      <vt:lpstr>The Agent Era</vt:lpstr>
      <vt:lpstr>What Skills Will Matter</vt:lpstr>
      <vt:lpstr>The Job Market Some jobs will shrink. Others will grow. Many will be transformed.</vt:lpstr>
      <vt:lpstr>The 10x Solo Founder</vt:lpstr>
      <vt:lpstr>Risks of Over-Reliance</vt:lpstr>
      <vt:lpstr>A Measured Take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0</TotalTime>
  <Words>46</Words>
  <Application>Microsoft Office PowerPoint</Application>
  <PresentationFormat>Bildschirmpräsentation (16:9)</PresentationFormat>
  <Paragraphs>14</Paragraphs>
  <Slides>4</Slides>
  <Notes>2</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Ralph Kemperdick</cp:lastModifiedBy>
  <cp:revision>8</cp:revision>
  <dcterms:created xsi:type="dcterms:W3CDTF">2026-05-12T15:41:21Z</dcterms:created>
  <dcterms:modified xsi:type="dcterms:W3CDTF">2026-05-27T18:45:52Z</dcterms:modified>
</cp:coreProperties>
</file>