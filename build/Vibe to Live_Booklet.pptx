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heme/theme5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2.xml" ContentType="application/vnd.openxmlformats-officedocument.presentationml.notesSlide+xml"/>
  <Override PartName="/ppt/tags/tag60.xml" ContentType="application/vnd.openxmlformats-officedocument.presentationml.tags+xml"/>
  <Override PartName="/ppt/notesSlides/notesSlide3.xml" ContentType="application/vnd.openxmlformats-officedocument.presentationml.notesSlide+xml"/>
  <Override PartName="/ppt/tags/tag61.xml" ContentType="application/vnd.openxmlformats-officedocument.presentationml.tags+xml"/>
  <Override PartName="/ppt/notesSlides/notesSlide4.xml" ContentType="application/vnd.openxmlformats-officedocument.presentationml.notesSlide+xml"/>
  <Override PartName="/ppt/tags/tag62.xml" ContentType="application/vnd.openxmlformats-officedocument.presentationml.tags+xml"/>
  <Override PartName="/ppt/notesSlides/notesSlide5.xml" ContentType="application/vnd.openxmlformats-officedocument.presentationml.notesSlide+xml"/>
  <Override PartName="/ppt/tags/tag63.xml" ContentType="application/vnd.openxmlformats-officedocument.presentationml.tags+xml"/>
  <Override PartName="/ppt/notesSlides/notesSlide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5" r:id="rId5"/>
    <p:sldMasterId id="2147483735" r:id="rId6"/>
    <p:sldMasterId id="2147483744" r:id="rId7"/>
  </p:sldMasterIdLst>
  <p:notesMasterIdLst>
    <p:notesMasterId r:id="rId22"/>
  </p:notesMasterIdLst>
  <p:sldIdLst>
    <p:sldId id="289" r:id="rId8"/>
    <p:sldId id="2147483640" r:id="rId9"/>
    <p:sldId id="256" r:id="rId10"/>
    <p:sldId id="2147483643" r:id="rId11"/>
    <p:sldId id="257" r:id="rId12"/>
    <p:sldId id="259" r:id="rId13"/>
    <p:sldId id="258" r:id="rId14"/>
    <p:sldId id="2147483631" r:id="rId15"/>
    <p:sldId id="2147483644" r:id="rId16"/>
    <p:sldId id="2147483645" r:id="rId17"/>
    <p:sldId id="2147483646" r:id="rId18"/>
    <p:sldId id="2147483647" r:id="rId19"/>
    <p:sldId id="260" r:id="rId20"/>
    <p:sldId id="302" r:id="rId21"/>
  </p:sldIdLst>
  <p:sldSz cx="17610138" cy="990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3" userDrawn="1">
          <p15:clr>
            <a:srgbClr val="A4A3A4"/>
          </p15:clr>
        </p15:guide>
        <p15:guide id="2" pos="10786" userDrawn="1">
          <p15:clr>
            <a:srgbClr val="A4A3A4"/>
          </p15:clr>
        </p15:guide>
        <p15:guide id="3" pos="5546" userDrawn="1">
          <p15:clr>
            <a:srgbClr val="A4A3A4"/>
          </p15:clr>
        </p15:guide>
        <p15:guide id="4" pos="3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058"/>
    <a:srgbClr val="5C2483"/>
    <a:srgbClr val="FB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F09FF-8990-4F53-91E8-E4E999049A11}" v="306" dt="2026-05-12T12:40:08.968"/>
    <p1510:client id="{41CD07A4-E6ED-482E-9C79-48BAB370F9A3}" v="2615" dt="2026-05-12T13:13:18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43"/>
        <p:guide pos="10786"/>
        <p:guide pos="5546"/>
        <p:guide pos="30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5127A-6C93-4CA2-9F03-434CC32F4E62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IN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E34DC-A118-42BA-A7F1-4134F70D9385}" type="slidenum">
              <a:rPr lang="en-IN" smtClean="0"/>
              <a:t>‹Nr.›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84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388D-EDDB-C7F0-B88A-9918974B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EFFE0B8-5643-A6F1-D6EB-1F25A1D68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6E47BD7-EFD5-491A-D95B-6D040DDB8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795DC1-3EBC-3DAD-62C9-B2AF8AFA1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31287-DD1A-4DA6-B026-47944940FA0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15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CA0E9-1837-7F41-9C8B-798641294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14AD13-3A31-7741-1DC4-59D474738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90D7D01-15F9-F736-E042-AEEF5591C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DD0B96-4658-78FE-AFEE-FACA19D75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31287-DD1A-4DA6-B026-47944940FA0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0733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41BC-500E-66DB-158A-A720AEBE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56EE95-F739-19A7-158D-E919C0AB9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3FB86F-AE13-8509-A734-3B7AF3BEB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377B0D-5534-CEEB-6808-A1BCB0BB2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31287-DD1A-4DA6-B026-47944940FA0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671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B7D1-E67E-084A-8BF9-C2A25A4B5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84D1369-D538-B96A-EA8E-952905584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57865C-EF6B-2AD9-5B4A-59DDCC820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050701-DBAE-A7F6-924E-60522A005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31287-DD1A-4DA6-B026-47944940FA0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363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48A2-8631-A1FF-1B3D-0BDFA275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7521559-A49B-E389-9689-FAEC57EAC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1625F3D-7200-7C59-EAA3-B9FC77D1C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398BC8-AFBC-DB85-47EF-7CE4389D6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31287-DD1A-4DA6-B026-47944940FA0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479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0BA2-298A-8E13-0EE4-3009E199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CA59C6D-D568-E42D-9A57-E84ECBCF8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32C6651-FBD1-88D1-EEC6-B9EF808F7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84D4FC-EED3-5A69-407B-372E81E2A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31287-DD1A-4DA6-B026-47944940FA0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30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31287-DD1A-4DA6-B026-47944940FA01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40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0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5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4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4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0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5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4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6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4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4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0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5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4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6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4655206"/>
              </p:ext>
            </p:extLst>
          </p:nvPr>
        </p:nvGraphicFramePr>
        <p:xfrm>
          <a:off x="2296" y="2296"/>
          <a:ext cx="2290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" y="2296"/>
                        <a:ext cx="2290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BD9961DF-D35B-2881-87EF-948E378B45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199"/>
          <a:stretch/>
        </p:blipFill>
        <p:spPr>
          <a:xfrm>
            <a:off x="0" y="255"/>
            <a:ext cx="17610138" cy="8697169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9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1969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4" y="9110847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7"/>
            <a:ext cx="15705275" cy="1144127"/>
          </a:xfrm>
        </p:spPr>
        <p:txBody>
          <a:bodyPr>
            <a:normAutofit/>
          </a:bodyPr>
          <a:lstStyle>
            <a:lvl1pPr marL="0" indent="0" algn="l">
              <a:buNone/>
              <a:defRPr sz="900">
                <a:solidFill>
                  <a:schemeClr val="bg1"/>
                </a:solidFill>
              </a:defRPr>
            </a:lvl1pPr>
            <a:lvl2pPr marL="257161" indent="0" algn="ctr">
              <a:buNone/>
              <a:defRPr sz="1125"/>
            </a:lvl2pPr>
            <a:lvl3pPr marL="514322" indent="0" algn="ctr">
              <a:buNone/>
              <a:defRPr sz="1013"/>
            </a:lvl3pPr>
            <a:lvl4pPr marL="771484" indent="0" algn="ctr">
              <a:buNone/>
              <a:defRPr sz="900"/>
            </a:lvl4pPr>
            <a:lvl5pPr marL="1028646" indent="0" algn="ctr">
              <a:buNone/>
              <a:defRPr sz="900"/>
            </a:lvl5pPr>
            <a:lvl6pPr marL="1285807" indent="0" algn="ctr">
              <a:buNone/>
              <a:defRPr sz="900"/>
            </a:lvl6pPr>
            <a:lvl7pPr marL="1542968" indent="0" algn="ctr">
              <a:buNone/>
              <a:defRPr sz="900"/>
            </a:lvl7pPr>
            <a:lvl8pPr marL="1800130" indent="0" algn="ctr">
              <a:buNone/>
              <a:defRPr sz="900"/>
            </a:lvl8pPr>
            <a:lvl9pPr marL="2057291" indent="0" algn="ctr">
              <a:buNone/>
              <a:defRPr sz="9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6"/>
            <a:ext cx="15705275" cy="1950627"/>
          </a:xfrm>
        </p:spPr>
        <p:txBody>
          <a:bodyPr vert="horz" anchor="t">
            <a:normAutofit/>
          </a:bodyPr>
          <a:lstStyle>
            <a:lvl1pPr algn="l">
              <a:defRPr sz="1969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B017937-E31F-46EB-9665-4607651DFC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2445372" y="688526"/>
            <a:ext cx="4201939" cy="12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5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55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581826"/>
              </p:ext>
            </p:extLst>
          </p:nvPr>
        </p:nvGraphicFramePr>
        <p:xfrm>
          <a:off x="2296" y="2296"/>
          <a:ext cx="2290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" y="2296"/>
                        <a:ext cx="2290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350F5C79-6E90-981E-CB4B-DF7A8FE0945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54"/>
            <a:ext cx="17610138" cy="9905505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9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1969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7"/>
            <a:ext cx="15705275" cy="1144127"/>
          </a:xfrm>
        </p:spPr>
        <p:txBody>
          <a:bodyPr>
            <a:normAutofit/>
          </a:bodyPr>
          <a:lstStyle>
            <a:lvl1pPr marL="0" indent="0" algn="l">
              <a:buNone/>
              <a:defRPr sz="900">
                <a:solidFill>
                  <a:schemeClr val="bg1"/>
                </a:solidFill>
              </a:defRPr>
            </a:lvl1pPr>
            <a:lvl2pPr marL="257161" indent="0" algn="ctr">
              <a:buNone/>
              <a:defRPr sz="1125"/>
            </a:lvl2pPr>
            <a:lvl3pPr marL="514322" indent="0" algn="ctr">
              <a:buNone/>
              <a:defRPr sz="1013"/>
            </a:lvl3pPr>
            <a:lvl4pPr marL="771484" indent="0" algn="ctr">
              <a:buNone/>
              <a:defRPr sz="900"/>
            </a:lvl4pPr>
            <a:lvl5pPr marL="1028646" indent="0" algn="ctr">
              <a:buNone/>
              <a:defRPr sz="900"/>
            </a:lvl5pPr>
            <a:lvl6pPr marL="1285807" indent="0" algn="ctr">
              <a:buNone/>
              <a:defRPr sz="900"/>
            </a:lvl6pPr>
            <a:lvl7pPr marL="1542968" indent="0" algn="ctr">
              <a:buNone/>
              <a:defRPr sz="900"/>
            </a:lvl7pPr>
            <a:lvl8pPr marL="1800130" indent="0" algn="ctr">
              <a:buNone/>
              <a:defRPr sz="900"/>
            </a:lvl8pPr>
            <a:lvl9pPr marL="2057291" indent="0" algn="ctr">
              <a:buNone/>
              <a:defRPr sz="9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6"/>
            <a:ext cx="15705275" cy="1950627"/>
          </a:xfrm>
        </p:spPr>
        <p:txBody>
          <a:bodyPr vert="horz" anchor="t">
            <a:normAutofit/>
          </a:bodyPr>
          <a:lstStyle>
            <a:lvl1pPr algn="l">
              <a:defRPr sz="1969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B017937-E31F-46EB-9665-4607651DFC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2445372" y="688526"/>
            <a:ext cx="4201939" cy="12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38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554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581826"/>
              </p:ext>
            </p:extLst>
          </p:nvPr>
        </p:nvGraphicFramePr>
        <p:xfrm>
          <a:off x="2296" y="2296"/>
          <a:ext cx="2290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" y="2296"/>
                        <a:ext cx="2290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350F5C79-6E90-981E-CB4B-DF7A8FE0945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4491" y="11131"/>
            <a:ext cx="17610138" cy="9905505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9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1969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C3E174-3F1F-B1D0-1C5F-9D90FA2F10C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426695" y="1624638"/>
            <a:ext cx="15217945" cy="642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06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55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6531007"/>
              </p:ext>
            </p:extLst>
          </p:nvPr>
        </p:nvGraphicFramePr>
        <p:xfrm>
          <a:off x="2296" y="2296"/>
          <a:ext cx="2290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" y="2296"/>
                        <a:ext cx="2290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201"/>
          <a:stretch/>
        </p:blipFill>
        <p:spPr>
          <a:xfrm>
            <a:off x="0" y="0"/>
            <a:ext cx="17610138" cy="8697416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9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1969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4" y="9110847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7"/>
            <a:ext cx="15705275" cy="1144127"/>
          </a:xfrm>
        </p:spPr>
        <p:txBody>
          <a:bodyPr>
            <a:normAutofit/>
          </a:bodyPr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  <a:lvl2pPr marL="257161" indent="0" algn="ctr">
              <a:buNone/>
              <a:defRPr sz="1125"/>
            </a:lvl2pPr>
            <a:lvl3pPr marL="514322" indent="0" algn="ctr">
              <a:buNone/>
              <a:defRPr sz="1013"/>
            </a:lvl3pPr>
            <a:lvl4pPr marL="771484" indent="0" algn="ctr">
              <a:buNone/>
              <a:defRPr sz="900"/>
            </a:lvl4pPr>
            <a:lvl5pPr marL="1028646" indent="0" algn="ctr">
              <a:buNone/>
              <a:defRPr sz="900"/>
            </a:lvl5pPr>
            <a:lvl6pPr marL="1285807" indent="0" algn="ctr">
              <a:buNone/>
              <a:defRPr sz="900"/>
            </a:lvl6pPr>
            <a:lvl7pPr marL="1542968" indent="0" algn="ctr">
              <a:buNone/>
              <a:defRPr sz="900"/>
            </a:lvl7pPr>
            <a:lvl8pPr marL="1800130" indent="0" algn="ctr">
              <a:buNone/>
              <a:defRPr sz="900"/>
            </a:lvl8pPr>
            <a:lvl9pPr marL="2057291" indent="0" algn="ctr">
              <a:buNone/>
              <a:defRPr sz="9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6"/>
            <a:ext cx="15705275" cy="1950627"/>
          </a:xfrm>
        </p:spPr>
        <p:txBody>
          <a:bodyPr vert="horz" anchor="t">
            <a:normAutofit/>
          </a:bodyPr>
          <a:lstStyle>
            <a:lvl1pPr algn="l">
              <a:defRPr sz="1969" b="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5E98255-A9AD-47A6-9D2C-BA395AEFF94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2466167" y="688527"/>
            <a:ext cx="4243545" cy="124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88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554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403" y="272487"/>
            <a:ext cx="16849366" cy="114308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4395" y="2144696"/>
            <a:ext cx="16641924" cy="66560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89935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554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4548447-2EF3-4FC4-B921-3F26EE0952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9775892"/>
              </p:ext>
            </p:extLst>
          </p:nvPr>
        </p:nvGraphicFramePr>
        <p:xfrm>
          <a:off x="4078" y="1591"/>
          <a:ext cx="407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548447-2EF3-4FC4-B921-3F26EE095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8" y="1591"/>
                        <a:ext cx="407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3823" y="272487"/>
            <a:ext cx="16642497" cy="667315"/>
          </a:xfrm>
        </p:spPr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7274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554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571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554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4655206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BD9961DF-D35B-2881-87EF-948E378B45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199"/>
          <a:stretch/>
        </p:blipFill>
        <p:spPr>
          <a:xfrm>
            <a:off x="0" y="248"/>
            <a:ext cx="17610138" cy="8697169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6" name="Grafik 5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772B1024-1DCE-2446-CCBA-75647356FE2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372699" y="539625"/>
            <a:ext cx="4237439" cy="178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05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7596834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10473524-64B9-C0DC-E29D-A79551DBE6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6" r="11202"/>
          <a:stretch>
            <a:fillRect/>
          </a:stretch>
        </p:blipFill>
        <p:spPr>
          <a:xfrm>
            <a:off x="1" y="-1"/>
            <a:ext cx="17610138" cy="8687324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pic>
        <p:nvPicPr>
          <p:cNvPr id="6" name="Grafik 5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772B1024-1DCE-2446-CCBA-75647356FE2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r="17526"/>
          <a:stretch>
            <a:fillRect/>
          </a:stretch>
        </p:blipFill>
        <p:spPr>
          <a:xfrm>
            <a:off x="13647857" y="440267"/>
            <a:ext cx="3494795" cy="178959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DDC1D270-D9AA-8C3D-CF0C-B40F2F0208E2}"/>
              </a:ext>
            </a:extLst>
          </p:cNvPr>
          <p:cNvSpPr/>
          <p:nvPr userDrawn="1"/>
        </p:nvSpPr>
        <p:spPr>
          <a:xfrm>
            <a:off x="0" y="1"/>
            <a:ext cx="7965410" cy="8660090"/>
          </a:xfrm>
          <a:prstGeom prst="rect">
            <a:avLst/>
          </a:prstGeom>
          <a:gradFill flip="none" rotWithShape="1">
            <a:gsLst>
              <a:gs pos="100000">
                <a:srgbClr val="5C2483">
                  <a:alpha val="0"/>
                </a:srgbClr>
              </a:gs>
              <a:gs pos="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60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973824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581826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350F5C79-6E90-981E-CB4B-DF7A8FE0945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48"/>
            <a:ext cx="17610138" cy="9905505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B017937-E31F-46EB-9665-4607651DFC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2445364" y="688526"/>
            <a:ext cx="4201939" cy="12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68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6531007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201"/>
          <a:stretch/>
        </p:blipFill>
        <p:spPr>
          <a:xfrm>
            <a:off x="0" y="0"/>
            <a:ext cx="17610138" cy="8697416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tx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5E98255-A9AD-47A6-9D2C-BA395AEFF94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2466166" y="688526"/>
            <a:ext cx="4243545" cy="124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11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394" y="272481"/>
            <a:ext cx="16849366" cy="1143089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4393" y="2144689"/>
            <a:ext cx="16641926" cy="665605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18649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9907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104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653595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201"/>
          <a:stretch/>
        </p:blipFill>
        <p:spPr>
          <a:xfrm>
            <a:off x="0" y="0"/>
            <a:ext cx="17610138" cy="9906000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4" name="Grafik 3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080AB4DC-7841-5227-5F58-1176AEA2CC6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372699" y="539625"/>
            <a:ext cx="4237439" cy="1789593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D05B6134-7781-7E99-7628-8E3C8762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0C7A2DF-19F6-26F8-AC09-337004895B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3821" y="1955193"/>
            <a:ext cx="16642499" cy="74119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90123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1986599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-4"/>
          <a:stretch/>
        </p:blipFill>
        <p:spPr>
          <a:xfrm>
            <a:off x="0" y="0"/>
            <a:ext cx="17610138" cy="9906000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87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4655206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BD9961DF-D35B-2881-87EF-948E378B45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199"/>
          <a:stretch/>
        </p:blipFill>
        <p:spPr>
          <a:xfrm>
            <a:off x="0" y="248"/>
            <a:ext cx="17610138" cy="8697169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6" name="Grafik 5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772B1024-1DCE-2446-CCBA-75647356FE2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372699" y="539625"/>
            <a:ext cx="4237439" cy="178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01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7596834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10473524-64B9-C0DC-E29D-A79551DBE6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6" r="11202"/>
          <a:stretch>
            <a:fillRect/>
          </a:stretch>
        </p:blipFill>
        <p:spPr>
          <a:xfrm>
            <a:off x="1" y="-1"/>
            <a:ext cx="17610138" cy="8687324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pic>
        <p:nvPicPr>
          <p:cNvPr id="6" name="Grafik 5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772B1024-1DCE-2446-CCBA-75647356FE2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r="17526"/>
          <a:stretch>
            <a:fillRect/>
          </a:stretch>
        </p:blipFill>
        <p:spPr>
          <a:xfrm>
            <a:off x="13647857" y="440267"/>
            <a:ext cx="3494795" cy="178959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DDC1D270-D9AA-8C3D-CF0C-B40F2F0208E2}"/>
              </a:ext>
            </a:extLst>
          </p:cNvPr>
          <p:cNvSpPr/>
          <p:nvPr userDrawn="1"/>
        </p:nvSpPr>
        <p:spPr>
          <a:xfrm>
            <a:off x="0" y="1"/>
            <a:ext cx="7965410" cy="8660090"/>
          </a:xfrm>
          <a:prstGeom prst="rect">
            <a:avLst/>
          </a:prstGeom>
          <a:gradFill flip="none" rotWithShape="1">
            <a:gsLst>
              <a:gs pos="100000">
                <a:srgbClr val="5C2483">
                  <a:alpha val="0"/>
                </a:srgbClr>
              </a:gs>
              <a:gs pos="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60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718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581826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350F5C79-6E90-981E-CB4B-DF7A8FE0945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48"/>
            <a:ext cx="17610138" cy="9905505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B017937-E31F-46EB-9665-4607651DFC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2445364" y="688526"/>
            <a:ext cx="4201939" cy="12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43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6531007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201"/>
          <a:stretch/>
        </p:blipFill>
        <p:spPr>
          <a:xfrm>
            <a:off x="0" y="0"/>
            <a:ext cx="17610138" cy="8697416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tx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5E98255-A9AD-47A6-9D2C-BA395AEFF94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2466166" y="688526"/>
            <a:ext cx="4243545" cy="124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17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394" y="272481"/>
            <a:ext cx="16849366" cy="1143089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4393" y="2144689"/>
            <a:ext cx="16641926" cy="665605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4147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92616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113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653595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201"/>
          <a:stretch/>
        </p:blipFill>
        <p:spPr>
          <a:xfrm>
            <a:off x="0" y="0"/>
            <a:ext cx="17610138" cy="9906000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4" name="Grafik 3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080AB4DC-7841-5227-5F58-1176AEA2CC6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372699" y="539625"/>
            <a:ext cx="4237439" cy="1789593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D05B6134-7781-7E99-7628-8E3C8762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0C7A2DF-19F6-26F8-AC09-337004895B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3821" y="1955193"/>
            <a:ext cx="16642499" cy="74119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51640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4655206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BD9961DF-D35B-2881-87EF-948E378B45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199"/>
          <a:stretch/>
        </p:blipFill>
        <p:spPr>
          <a:xfrm>
            <a:off x="0" y="248"/>
            <a:ext cx="17610138" cy="8697169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6" name="Grafik 5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772B1024-1DCE-2446-CCBA-75647356FE2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372699" y="539625"/>
            <a:ext cx="4237439" cy="178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43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7596834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10473524-64B9-C0DC-E29D-A79551DBE6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6" r="11202"/>
          <a:stretch>
            <a:fillRect/>
          </a:stretch>
        </p:blipFill>
        <p:spPr>
          <a:xfrm>
            <a:off x="1" y="-1"/>
            <a:ext cx="17610138" cy="8687324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pic>
        <p:nvPicPr>
          <p:cNvPr id="6" name="Grafik 5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772B1024-1DCE-2446-CCBA-75647356FE2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r="17526"/>
          <a:stretch>
            <a:fillRect/>
          </a:stretch>
        </p:blipFill>
        <p:spPr>
          <a:xfrm>
            <a:off x="13647857" y="440267"/>
            <a:ext cx="3494795" cy="178959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DDC1D270-D9AA-8C3D-CF0C-B40F2F0208E2}"/>
              </a:ext>
            </a:extLst>
          </p:cNvPr>
          <p:cNvSpPr/>
          <p:nvPr userDrawn="1"/>
        </p:nvSpPr>
        <p:spPr>
          <a:xfrm>
            <a:off x="0" y="1"/>
            <a:ext cx="7965410" cy="8660090"/>
          </a:xfrm>
          <a:prstGeom prst="rect">
            <a:avLst/>
          </a:prstGeom>
          <a:gradFill flip="none" rotWithShape="1">
            <a:gsLst>
              <a:gs pos="100000">
                <a:srgbClr val="5C2483">
                  <a:alpha val="0"/>
                </a:srgbClr>
              </a:gs>
              <a:gs pos="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60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02805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581826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350F5C79-6E90-981E-CB4B-DF7A8FE0945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48"/>
            <a:ext cx="17610138" cy="9905505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bg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B017937-E31F-46EB-9665-4607651DFC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2445364" y="688526"/>
            <a:ext cx="4201939" cy="12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39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6531007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201"/>
          <a:stretch/>
        </p:blipFill>
        <p:spPr>
          <a:xfrm>
            <a:off x="0" y="0"/>
            <a:ext cx="17610138" cy="8697416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9" descr="PPT_Logo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 bwMode="gray">
          <a:xfrm>
            <a:off x="14481255" y="9110840"/>
            <a:ext cx="2700961" cy="389637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428" y="5369046"/>
            <a:ext cx="15705273" cy="1144127"/>
          </a:xfrm>
        </p:spPr>
        <p:txBody>
          <a:bodyPr>
            <a:normAutofit/>
          </a:bodyPr>
          <a:lstStyle>
            <a:lvl1pPr marL="0" indent="0" algn="l">
              <a:buNone/>
              <a:defRPr sz="2311">
                <a:solidFill>
                  <a:schemeClr val="tx1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900428" y="3288815"/>
            <a:ext cx="15705273" cy="1950627"/>
          </a:xfrm>
        </p:spPr>
        <p:txBody>
          <a:bodyPr vert="horz" anchor="t">
            <a:normAutofit/>
          </a:bodyPr>
          <a:lstStyle>
            <a:lvl1pPr algn="l">
              <a:defRPr sz="5055" b="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5E98255-A9AD-47A6-9D2C-BA395AEFF94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2466166" y="688526"/>
            <a:ext cx="4243545" cy="124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46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394" y="272481"/>
            <a:ext cx="16849366" cy="1143089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4393" y="2144689"/>
            <a:ext cx="16641926" cy="665605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0114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910967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961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1986599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-4"/>
          <a:stretch/>
        </p:blipFill>
        <p:spPr>
          <a:xfrm>
            <a:off x="0" y="0"/>
            <a:ext cx="17610138" cy="9906000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184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653595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350000" imgH="6350000" progId="TCLayout.ActiveDocument.1">
                  <p:embed/>
                </p:oleObj>
              </mc:Choice>
              <mc:Fallback>
                <p:oleObj name="think-cell Folie" r:id="rId4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Grafik 14">
            <a:extLst>
              <a:ext uri="{FF2B5EF4-FFF2-40B4-BE49-F238E27FC236}">
                <a16:creationId xmlns:a16="http://schemas.microsoft.com/office/drawing/2014/main" id="{1F5336D8-BE16-4E6D-A39F-2ACC75940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2201"/>
          <a:stretch/>
        </p:blipFill>
        <p:spPr>
          <a:xfrm>
            <a:off x="0" y="0"/>
            <a:ext cx="17610138" cy="9906000"/>
          </a:xfrm>
          <a:prstGeom prst="rect">
            <a:avLst/>
          </a:prstGeom>
        </p:spPr>
      </p:pic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5055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4" name="Grafik 3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080AB4DC-7841-5227-5F58-1176AEA2CC6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372699" y="539625"/>
            <a:ext cx="4237439" cy="1789593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D05B6134-7781-7E99-7628-8E3C8762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0C7A2DF-19F6-26F8-AC09-337004895B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3821" y="1955193"/>
            <a:ext cx="16642499" cy="74119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7302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ags" Target="../tags/tag1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ags" Target="../tags/tag12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.pn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ags" Target="../tags/tag27.xml"/><Relationship Id="rId5" Type="http://schemas.openxmlformats.org/officeDocument/2006/relationships/slideLayout" Target="../slideLayouts/slideLayout21.xml"/><Relationship Id="rId10" Type="http://schemas.openxmlformats.org/officeDocument/2006/relationships/tags" Target="../tags/tag26.xml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ags" Target="../tags/tag39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8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6.png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952595069"/>
              </p:ext>
            </p:extLst>
          </p:nvPr>
        </p:nvGraphicFramePr>
        <p:xfrm>
          <a:off x="2296" y="2296"/>
          <a:ext cx="2290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1" imgW="6350000" imgH="6350000" progId="TCLayout.ActiveDocument.1">
                  <p:embed/>
                </p:oleObj>
              </mc:Choice>
              <mc:Fallback>
                <p:oleObj name="think-cell Folie" r:id="rId11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" y="2296"/>
                        <a:ext cx="2290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FB607FFD-4CD8-40DB-AC2A-3A7F3601290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9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1238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3823" y="272487"/>
            <a:ext cx="16642497" cy="74944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83823" y="1317257"/>
            <a:ext cx="16642497" cy="7500226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83823" y="1115592"/>
            <a:ext cx="1664249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>
            <a:cxnSpLocks/>
          </p:cNvCxnSpPr>
          <p:nvPr userDrawn="1"/>
        </p:nvCxnSpPr>
        <p:spPr>
          <a:xfrm>
            <a:off x="483822" y="9217474"/>
            <a:ext cx="142497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 userDrawn="1"/>
        </p:nvSpPr>
        <p:spPr>
          <a:xfrm>
            <a:off x="527422" y="9419138"/>
            <a:ext cx="294054" cy="6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989FD945-C36C-4546-B652-364A4DFE48E4}" type="slidenum">
              <a:rPr lang="de-DE" sz="450" smtClean="0"/>
              <a:pPr algn="l"/>
              <a:t>‹Nr.›</a:t>
            </a:fld>
            <a:endParaRPr lang="de-DE" sz="450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262881" y="9419140"/>
            <a:ext cx="13990715" cy="6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21622F12-4124-4DEF-81B5-9C47F75B43E4}" type="datetime4">
              <a:rPr lang="en-US" sz="450" smtClean="0"/>
              <a:pPr/>
              <a:t>May 12, 2026</a:t>
            </a:fld>
            <a:r>
              <a:rPr lang="de-DE" sz="450"/>
              <a:t> · Bertelsmann TECH &amp; DATA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218D33A-407C-77E1-BC01-CCA1740B717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9754" y="9051381"/>
            <a:ext cx="2795010" cy="4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1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514322" rtl="0" eaLnBrk="1" latinLnBrk="0" hangingPunct="1">
        <a:lnSpc>
          <a:spcPct val="90000"/>
        </a:lnSpc>
        <a:spcBef>
          <a:spcPct val="0"/>
        </a:spcBef>
        <a:buNone/>
        <a:defRPr sz="123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685" indent="-102685" algn="l" defTabSz="514322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00014" indent="-97329" algn="l" defTabSz="514322" rtl="0" eaLnBrk="1" latinLnBrk="0" hangingPunct="1">
        <a:lnSpc>
          <a:spcPct val="100000"/>
        </a:lnSpc>
        <a:spcBef>
          <a:spcPts val="338"/>
        </a:spcBef>
        <a:buFont typeface="Symbol" panose="05050102010706020507" pitchFamily="18" charset="2"/>
        <a:buChar char="-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302701" indent="-102685" algn="l" defTabSz="514322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Char char="•"/>
        <a:tabLst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405386" indent="-95543" algn="l" defTabSz="514322" rtl="0" eaLnBrk="1" latinLnBrk="0" hangingPunct="1">
        <a:lnSpc>
          <a:spcPct val="100000"/>
        </a:lnSpc>
        <a:spcBef>
          <a:spcPts val="338"/>
        </a:spcBef>
        <a:buFont typeface="Symbol" panose="05050102010706020507" pitchFamily="18" charset="2"/>
        <a:buChar char="-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501822" indent="-96435" algn="l" defTabSz="514322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388" indent="-128581" algn="l" defTabSz="514322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49" indent="-128581" algn="l" defTabSz="514322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10" indent="-128581" algn="l" defTabSz="514322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872" indent="-128581" algn="l" defTabSz="514322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1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22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484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46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07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2968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30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291" algn="l" defTabSz="514322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042691653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6350000" imgH="6350000" progId="TCLayout.ActiveDocument.1">
                  <p:embed/>
                </p:oleObj>
              </mc:Choice>
              <mc:Fallback>
                <p:oleObj name="think-cell Folie" r:id="rId13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FB607FFD-4CD8-40DB-AC2A-3A7F36012909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3178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3821" y="272481"/>
            <a:ext cx="16642498" cy="114308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83821" y="2144689"/>
            <a:ext cx="16642498" cy="667279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83821" y="1623592"/>
            <a:ext cx="166424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 userDrawn="1"/>
        </p:nvSpPr>
        <p:spPr>
          <a:xfrm>
            <a:off x="527413" y="9419135"/>
            <a:ext cx="294054" cy="3557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989FD945-C36C-4546-B652-364A4DFE48E4}" type="slidenum">
              <a:rPr lang="de-DE" sz="1156" smtClean="0"/>
              <a:pPr algn="l"/>
              <a:t>‹Nr.›</a:t>
            </a:fld>
            <a:endParaRPr lang="de-DE" sz="1156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0A23E5F3-AB58-E66C-989F-40F505DD46E1}"/>
              </a:ext>
            </a:extLst>
          </p:cNvPr>
          <p:cNvCxnSpPr>
            <a:cxnSpLocks/>
          </p:cNvCxnSpPr>
          <p:nvPr userDrawn="1"/>
        </p:nvCxnSpPr>
        <p:spPr>
          <a:xfrm>
            <a:off x="483822" y="9217474"/>
            <a:ext cx="142497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FF584CEE-285E-AA1E-09F7-FEAC4049A0F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027052" y="8882525"/>
            <a:ext cx="2159692" cy="91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1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317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694" indent="-263694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defRPr sz="2311" kern="1200">
          <a:solidFill>
            <a:schemeClr val="tx1"/>
          </a:solidFill>
          <a:latin typeface="+mn-lt"/>
          <a:ea typeface="+mn-ea"/>
          <a:cs typeface="+mn-cs"/>
        </a:defRPr>
      </a:lvl1pPr>
      <a:lvl2pPr marL="513629" indent="-249936" algn="l" defTabSz="1320759" rtl="0" eaLnBrk="1" latinLnBrk="0" hangingPunct="1">
        <a:lnSpc>
          <a:spcPct val="100000"/>
        </a:lnSpc>
        <a:spcBef>
          <a:spcPts val="867"/>
        </a:spcBef>
        <a:buFont typeface="Symbol" panose="05050102010706020507" pitchFamily="18" charset="2"/>
        <a:buChar char="-"/>
        <a:defRPr sz="2311" kern="1200">
          <a:solidFill>
            <a:schemeClr val="tx1"/>
          </a:solidFill>
          <a:latin typeface="+mn-lt"/>
          <a:ea typeface="+mn-ea"/>
          <a:cs typeface="+mn-cs"/>
        </a:defRPr>
      </a:lvl2pPr>
      <a:lvl3pPr marL="777323" indent="-263694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tabLst/>
        <a:defRPr sz="2311" kern="1200">
          <a:solidFill>
            <a:schemeClr val="tx1"/>
          </a:solidFill>
          <a:latin typeface="+mn-lt"/>
          <a:ea typeface="+mn-ea"/>
          <a:cs typeface="+mn-cs"/>
        </a:defRPr>
      </a:lvl3pPr>
      <a:lvl4pPr marL="1041015" indent="-245350" algn="l" defTabSz="1320759" rtl="0" eaLnBrk="1" latinLnBrk="0" hangingPunct="1">
        <a:lnSpc>
          <a:spcPct val="100000"/>
        </a:lnSpc>
        <a:spcBef>
          <a:spcPts val="867"/>
        </a:spcBef>
        <a:buFont typeface="Symbol" panose="05050102010706020507" pitchFamily="18" charset="2"/>
        <a:buChar char="-"/>
        <a:defRPr sz="2311" kern="1200">
          <a:solidFill>
            <a:schemeClr val="tx1"/>
          </a:solidFill>
          <a:latin typeface="+mn-lt"/>
          <a:ea typeface="+mn-ea"/>
          <a:cs typeface="+mn-cs"/>
        </a:defRPr>
      </a:lvl4pPr>
      <a:lvl5pPr marL="1288658" indent="-247642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defRPr sz="2311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475030704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2" imgW="6350000" imgH="6350000" progId="TCLayout.ActiveDocument.1">
                  <p:embed/>
                </p:oleObj>
              </mc:Choice>
              <mc:Fallback>
                <p:oleObj name="think-cell Folie" r:id="rId12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FB607FFD-4CD8-40DB-AC2A-3A7F36012909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3178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3821" y="272481"/>
            <a:ext cx="16642498" cy="114308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83821" y="2144689"/>
            <a:ext cx="16642498" cy="667279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83821" y="1623592"/>
            <a:ext cx="166424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 userDrawn="1"/>
        </p:nvSpPr>
        <p:spPr>
          <a:xfrm>
            <a:off x="527413" y="9419135"/>
            <a:ext cx="294054" cy="3557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989FD945-C36C-4546-B652-364A4DFE48E4}" type="slidenum">
              <a:rPr lang="de-DE" sz="1156" smtClean="0"/>
              <a:pPr algn="l"/>
              <a:t>‹Nr.›</a:t>
            </a:fld>
            <a:endParaRPr lang="de-DE" sz="1156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0A23E5F3-AB58-E66C-989F-40F505DD46E1}"/>
              </a:ext>
            </a:extLst>
          </p:cNvPr>
          <p:cNvCxnSpPr>
            <a:cxnSpLocks/>
          </p:cNvCxnSpPr>
          <p:nvPr userDrawn="1"/>
        </p:nvCxnSpPr>
        <p:spPr>
          <a:xfrm>
            <a:off x="483822" y="9217474"/>
            <a:ext cx="142497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FF584CEE-285E-AA1E-09F7-FEAC4049A0F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027052" y="8882525"/>
            <a:ext cx="2159692" cy="91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78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317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694" indent="-263694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defRPr sz="2311" kern="1200">
          <a:solidFill>
            <a:schemeClr val="tx1"/>
          </a:solidFill>
          <a:latin typeface="+mn-lt"/>
          <a:ea typeface="+mn-ea"/>
          <a:cs typeface="+mn-cs"/>
        </a:defRPr>
      </a:lvl1pPr>
      <a:lvl2pPr marL="513629" indent="-249936" algn="l" defTabSz="1320759" rtl="0" eaLnBrk="1" latinLnBrk="0" hangingPunct="1">
        <a:lnSpc>
          <a:spcPct val="100000"/>
        </a:lnSpc>
        <a:spcBef>
          <a:spcPts val="867"/>
        </a:spcBef>
        <a:buFont typeface="Symbol" panose="05050102010706020507" pitchFamily="18" charset="2"/>
        <a:buChar char="-"/>
        <a:defRPr sz="2311" kern="1200">
          <a:solidFill>
            <a:schemeClr val="tx1"/>
          </a:solidFill>
          <a:latin typeface="+mn-lt"/>
          <a:ea typeface="+mn-ea"/>
          <a:cs typeface="+mn-cs"/>
        </a:defRPr>
      </a:lvl2pPr>
      <a:lvl3pPr marL="777323" indent="-263694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tabLst/>
        <a:defRPr sz="2311" kern="1200">
          <a:solidFill>
            <a:schemeClr val="tx1"/>
          </a:solidFill>
          <a:latin typeface="+mn-lt"/>
          <a:ea typeface="+mn-ea"/>
          <a:cs typeface="+mn-cs"/>
        </a:defRPr>
      </a:lvl3pPr>
      <a:lvl4pPr marL="1041015" indent="-245350" algn="l" defTabSz="1320759" rtl="0" eaLnBrk="1" latinLnBrk="0" hangingPunct="1">
        <a:lnSpc>
          <a:spcPct val="100000"/>
        </a:lnSpc>
        <a:spcBef>
          <a:spcPts val="867"/>
        </a:spcBef>
        <a:buFont typeface="Symbol" panose="05050102010706020507" pitchFamily="18" charset="2"/>
        <a:buChar char="-"/>
        <a:defRPr sz="2311" kern="1200">
          <a:solidFill>
            <a:schemeClr val="tx1"/>
          </a:solidFill>
          <a:latin typeface="+mn-lt"/>
          <a:ea typeface="+mn-ea"/>
          <a:cs typeface="+mn-cs"/>
        </a:defRPr>
      </a:lvl4pPr>
      <a:lvl5pPr marL="1288658" indent="-247642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defRPr sz="2311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230718068"/>
              </p:ext>
            </p:extLst>
          </p:nvPr>
        </p:nvGraphicFramePr>
        <p:xfrm>
          <a:off x="2295" y="2295"/>
          <a:ext cx="2292" cy="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6350000" imgH="6350000" progId="TCLayout.ActiveDocument.1">
                  <p:embed/>
                </p:oleObj>
              </mc:Choice>
              <mc:Fallback>
                <p:oleObj name="think-cell Folie" r:id="rId13" imgW="6350000" imgH="635000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" y="2295"/>
                        <a:ext cx="2292" cy="22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FB607FFD-4CD8-40DB-AC2A-3A7F36012909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229299" cy="229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3178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3821" y="272481"/>
            <a:ext cx="16642498" cy="114308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83821" y="2144689"/>
            <a:ext cx="16642498" cy="667279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83821" y="1623592"/>
            <a:ext cx="166424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 userDrawn="1"/>
        </p:nvSpPr>
        <p:spPr>
          <a:xfrm>
            <a:off x="527413" y="9419135"/>
            <a:ext cx="294054" cy="3557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989FD945-C36C-4546-B652-364A4DFE48E4}" type="slidenum">
              <a:rPr lang="de-DE" sz="1156" smtClean="0"/>
              <a:pPr algn="l"/>
              <a:t>‹Nr.›</a:t>
            </a:fld>
            <a:endParaRPr lang="de-DE" sz="1156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0A23E5F3-AB58-E66C-989F-40F505DD46E1}"/>
              </a:ext>
            </a:extLst>
          </p:cNvPr>
          <p:cNvCxnSpPr>
            <a:cxnSpLocks/>
          </p:cNvCxnSpPr>
          <p:nvPr userDrawn="1"/>
        </p:nvCxnSpPr>
        <p:spPr>
          <a:xfrm>
            <a:off x="483822" y="9217474"/>
            <a:ext cx="142497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FF584CEE-285E-AA1E-09F7-FEAC4049A0F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027052" y="8882525"/>
            <a:ext cx="2159692" cy="91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0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317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694" indent="-263694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defRPr sz="2311" kern="1200">
          <a:solidFill>
            <a:schemeClr val="tx1"/>
          </a:solidFill>
          <a:latin typeface="+mn-lt"/>
          <a:ea typeface="+mn-ea"/>
          <a:cs typeface="+mn-cs"/>
        </a:defRPr>
      </a:lvl1pPr>
      <a:lvl2pPr marL="513629" indent="-249936" algn="l" defTabSz="1320759" rtl="0" eaLnBrk="1" latinLnBrk="0" hangingPunct="1">
        <a:lnSpc>
          <a:spcPct val="100000"/>
        </a:lnSpc>
        <a:spcBef>
          <a:spcPts val="867"/>
        </a:spcBef>
        <a:buFont typeface="Symbol" panose="05050102010706020507" pitchFamily="18" charset="2"/>
        <a:buChar char="-"/>
        <a:defRPr sz="2311" kern="1200">
          <a:solidFill>
            <a:schemeClr val="tx1"/>
          </a:solidFill>
          <a:latin typeface="+mn-lt"/>
          <a:ea typeface="+mn-ea"/>
          <a:cs typeface="+mn-cs"/>
        </a:defRPr>
      </a:lvl2pPr>
      <a:lvl3pPr marL="777323" indent="-263694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tabLst/>
        <a:defRPr sz="2311" kern="1200">
          <a:solidFill>
            <a:schemeClr val="tx1"/>
          </a:solidFill>
          <a:latin typeface="+mn-lt"/>
          <a:ea typeface="+mn-ea"/>
          <a:cs typeface="+mn-cs"/>
        </a:defRPr>
      </a:lvl3pPr>
      <a:lvl4pPr marL="1041015" indent="-245350" algn="l" defTabSz="1320759" rtl="0" eaLnBrk="1" latinLnBrk="0" hangingPunct="1">
        <a:lnSpc>
          <a:spcPct val="100000"/>
        </a:lnSpc>
        <a:spcBef>
          <a:spcPts val="867"/>
        </a:spcBef>
        <a:buFont typeface="Symbol" panose="05050102010706020507" pitchFamily="18" charset="2"/>
        <a:buChar char="-"/>
        <a:defRPr sz="2311" kern="1200">
          <a:solidFill>
            <a:schemeClr val="tx1"/>
          </a:solidFill>
          <a:latin typeface="+mn-lt"/>
          <a:ea typeface="+mn-ea"/>
          <a:cs typeface="+mn-cs"/>
        </a:defRPr>
      </a:lvl4pPr>
      <a:lvl5pPr marL="1288658" indent="-247642" algn="l" defTabSz="1320759" rtl="0" eaLnBrk="1" latinLnBrk="0" hangingPunct="1">
        <a:lnSpc>
          <a:spcPct val="100000"/>
        </a:lnSpc>
        <a:spcBef>
          <a:spcPts val="867"/>
        </a:spcBef>
        <a:buFont typeface="Arial" panose="020B0604020202020204" pitchFamily="34" charset="0"/>
        <a:buChar char="•"/>
        <a:defRPr sz="2311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5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3.xml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4.xml"/><Relationship Id="rId5" Type="http://schemas.openxmlformats.org/officeDocument/2006/relationships/image" Target="../media/image11.jpeg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5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56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57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58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9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0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1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3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4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36D7A9B-3A77-6AA1-35BA-39CD6F741AC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981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6D7A9B-3A77-6AA1-35BA-39CD6F741A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Untertitel 1">
            <a:extLst>
              <a:ext uri="{FF2B5EF4-FFF2-40B4-BE49-F238E27FC236}">
                <a16:creationId xmlns:a16="http://schemas.microsoft.com/office/drawing/2014/main" id="{2F911D22-CD40-BD2F-DF9F-9D5E1A846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May 2026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7B4E09-AAB7-630F-3655-5A5EC917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Vibe </a:t>
            </a:r>
            <a:r>
              <a:rPr lang="de-DE" err="1"/>
              <a:t>to</a:t>
            </a:r>
            <a:r>
              <a:rPr lang="de-DE"/>
              <a:t> Live</a:t>
            </a:r>
          </a:p>
        </p:txBody>
      </p:sp>
    </p:spTree>
    <p:extLst>
      <p:ext uri="{BB962C8B-B14F-4D97-AF65-F5344CB8AC3E}">
        <p14:creationId xmlns:p14="http://schemas.microsoft.com/office/powerpoint/2010/main" val="2302905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7B9E53AB-0E52-957E-D77A-70673D5F6B5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9960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9E53AB-0E52-957E-D77A-70673D5F6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71E4CBB-E5B8-84F4-D58C-39DF35F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IN"/>
              <a:t>Overview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F9270AB-4D8A-4E8F-DAE5-0E4F79AFD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481300"/>
              </p:ext>
            </p:extLst>
          </p:nvPr>
        </p:nvGraphicFramePr>
        <p:xfrm>
          <a:off x="483823" y="1695450"/>
          <a:ext cx="16642496" cy="7626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624">
                  <a:extLst>
                    <a:ext uri="{9D8B030D-6E8A-4147-A177-3AD203B41FA5}">
                      <a16:colId xmlns:a16="http://schemas.microsoft.com/office/drawing/2014/main" val="3822553810"/>
                    </a:ext>
                  </a:extLst>
                </a:gridCol>
                <a:gridCol w="1816140">
                  <a:extLst>
                    <a:ext uri="{9D8B030D-6E8A-4147-A177-3AD203B41FA5}">
                      <a16:colId xmlns:a16="http://schemas.microsoft.com/office/drawing/2014/main" val="1928952808"/>
                    </a:ext>
                  </a:extLst>
                </a:gridCol>
                <a:gridCol w="6505108">
                  <a:extLst>
                    <a:ext uri="{9D8B030D-6E8A-4147-A177-3AD203B41FA5}">
                      <a16:colId xmlns:a16="http://schemas.microsoft.com/office/drawing/2014/main" val="2069372098"/>
                    </a:ext>
                  </a:extLst>
                </a:gridCol>
                <a:gridCol w="4160624">
                  <a:extLst>
                    <a:ext uri="{9D8B030D-6E8A-4147-A177-3AD203B41FA5}">
                      <a16:colId xmlns:a16="http://schemas.microsoft.com/office/drawing/2014/main" val="1678506101"/>
                    </a:ext>
                  </a:extLst>
                </a:gridCol>
              </a:tblGrid>
              <a:tr h="355579">
                <a:tc>
                  <a:txBody>
                    <a:bodyPr/>
                    <a:lstStyle/>
                    <a:p>
                      <a:r>
                        <a:rPr lang="en-IN" sz="1200" err="1"/>
                        <a:t>Kapitel</a:t>
                      </a:r>
                      <a:endParaRPr lang="en-IN" sz="12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Seiten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 err="1"/>
                        <a:t>Themen</a:t>
                      </a:r>
                      <a:endParaRPr lang="en-IN" sz="12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 err="1"/>
                        <a:t>Personen</a:t>
                      </a:r>
                      <a:endParaRPr lang="en-IN" sz="120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630731019"/>
                  </a:ext>
                </a:extLst>
              </a:tr>
              <a:tr h="1825809">
                <a:tc>
                  <a:txBody>
                    <a:bodyPr/>
                    <a:lstStyle/>
                    <a:p>
                      <a:r>
                        <a:rPr lang="en-IN" sz="1200" b="1" err="1"/>
                        <a:t>Kapitel</a:t>
                      </a:r>
                      <a:r>
                        <a:rPr lang="en-IN" sz="1200" b="1"/>
                        <a:t> 1: </a:t>
                      </a:r>
                      <a:r>
                        <a:rPr lang="en-IN" sz="1200" b="1" err="1"/>
                        <a:t>Einführung</a:t>
                      </a:r>
                      <a:endParaRPr lang="en-IN" sz="1200" b="1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Motivation &amp; ‘Geschichte’ (vertical timeline)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Was ändert sich durch Vibe Coding (Beginner vs. Expert)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VibeCoding -&gt; Begriffserläuterung; Psycologie -&gt; Flow Theorie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Entwickeln mit Agenten -&gt; Auslagerung an Agenten)</a:t>
                      </a:r>
                    </a:p>
                    <a:p>
                      <a:pPr marL="0" marR="0" lvl="0" indent="0" algn="l" defTabSz="5143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/>
                        <a:t>-&gt; Skills (From coding to fleet mgmt.)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2-3 Beispiele (Nothing great was build alone(?))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Allg. Was sind aktuelle die größten Herausforderungen/ Bottlenecks in der SW Dev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Aktuelle Grenzen im Agentic Coding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Agenten/Skill/Co-work Architecture </a:t>
                      </a:r>
                    </a:p>
                    <a:p>
                      <a:endParaRPr lang="en-IN" sz="12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Marcus, Lars, Claudia</a:t>
                      </a: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749777689"/>
                  </a:ext>
                </a:extLst>
              </a:tr>
              <a:tr h="760292">
                <a:tc>
                  <a:txBody>
                    <a:bodyPr/>
                    <a:lstStyle/>
                    <a:p>
                      <a:r>
                        <a:rPr lang="en-IN" sz="1200" b="1" err="1"/>
                        <a:t>Kapitel</a:t>
                      </a:r>
                      <a:r>
                        <a:rPr lang="en-IN" sz="1200" b="1"/>
                        <a:t> 2: Methodological Approach &amp; Ecosystem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171450" marR="0" lvl="0" indent="-171450" algn="l" defTabSz="5143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200"/>
                        <a:t>Wie </a:t>
                      </a:r>
                      <a:r>
                        <a:rPr lang="en-IN" sz="1200" err="1"/>
                        <a:t>wird</a:t>
                      </a:r>
                      <a:r>
                        <a:rPr lang="en-IN" sz="1200"/>
                        <a:t> der SW Workflow disrupted? Was </a:t>
                      </a:r>
                      <a:r>
                        <a:rPr lang="en-IN" sz="1200" err="1"/>
                        <a:t>ist</a:t>
                      </a:r>
                      <a:r>
                        <a:rPr lang="en-IN" sz="1200"/>
                        <a:t> der WF? </a:t>
                      </a:r>
                      <a:r>
                        <a:rPr lang="en-IN" sz="1200" err="1"/>
                        <a:t>Methodologisches</a:t>
                      </a:r>
                      <a:r>
                        <a:rPr lang="en-IN" sz="1200"/>
                        <a:t> </a:t>
                      </a:r>
                      <a:r>
                        <a:rPr lang="en-IN" sz="1200" err="1"/>
                        <a:t>Vorgehen</a:t>
                      </a:r>
                      <a:r>
                        <a:rPr lang="en-IN" sz="1200"/>
                        <a:t> (</a:t>
                      </a:r>
                      <a:r>
                        <a:rPr lang="en-IN" sz="1200" err="1"/>
                        <a:t>ie</a:t>
                      </a:r>
                      <a:r>
                        <a:rPr lang="en-IN" sz="1200"/>
                        <a:t> spec-driven) (Flowcharts)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Software engineering workflow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Focus not only on vibe </a:t>
                      </a:r>
                      <a:r>
                        <a:rPr lang="en-IN" sz="1200" err="1"/>
                        <a:t>codings</a:t>
                      </a:r>
                      <a:r>
                        <a:rPr lang="en-IN" sz="1200"/>
                        <a:t> as a phenomenon, but as part of productive workflows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511380926"/>
                  </a:ext>
                </a:extLst>
              </a:tr>
              <a:tr h="760292">
                <a:tc>
                  <a:txBody>
                    <a:bodyPr/>
                    <a:lstStyle/>
                    <a:p>
                      <a:r>
                        <a:rPr lang="en-IN" sz="1200" b="1" err="1"/>
                        <a:t>Kapitel</a:t>
                      </a:r>
                      <a:r>
                        <a:rPr lang="en-IN" sz="1200" b="1"/>
                        <a:t> 3: Testimonials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30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Profile (Background) 2. Setup (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Vgl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Gaming setup;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Spinnennetzvisualisierung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3. Was hast du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schon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vibe coded? (Screenshot) 4. Best Prompt 5. Workflow(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wie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vorgegangen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?) 6. Was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funktioniert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? 7. Was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funktioniert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noch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nicht? 8. Wie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entwickelt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sich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der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Beruf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?/ Was 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brauche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D6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ich in Zukunft? (Change)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Waldemar, Lion, Lars</a:t>
                      </a: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461634145"/>
                  </a:ext>
                </a:extLst>
              </a:tr>
              <a:tr h="355579">
                <a:tc>
                  <a:txBody>
                    <a:bodyPr/>
                    <a:lstStyle/>
                    <a:p>
                      <a:r>
                        <a:rPr lang="en-IN" sz="1200" b="1" strike="noStrike" err="1"/>
                        <a:t>Kapitel</a:t>
                      </a:r>
                      <a:r>
                        <a:rPr lang="en-IN" sz="1200" b="1" strike="noStrike"/>
                        <a:t> 4.1: Workflow Transformation | Define &amp; Plan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noStrike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strike="noStrike"/>
                        <a:t>Was hat </a:t>
                      </a:r>
                      <a:r>
                        <a:rPr lang="en-IN" sz="1200" strike="noStrike" err="1"/>
                        <a:t>sich</a:t>
                      </a:r>
                      <a:r>
                        <a:rPr lang="en-IN" sz="1200" strike="noStrike"/>
                        <a:t> </a:t>
                      </a:r>
                      <a:r>
                        <a:rPr lang="en-IN" sz="1200" strike="noStrike" err="1"/>
                        <a:t>verändert</a:t>
                      </a:r>
                      <a:r>
                        <a:rPr lang="en-IN" sz="1200" strike="noStrike"/>
                        <a:t>? Wie </a:t>
                      </a:r>
                      <a:r>
                        <a:rPr lang="en-IN" sz="1200" strike="noStrike" err="1"/>
                        <a:t>ändert</a:t>
                      </a:r>
                      <a:r>
                        <a:rPr lang="en-IN" sz="1200" strike="noStrike"/>
                        <a:t> </a:t>
                      </a:r>
                      <a:r>
                        <a:rPr lang="en-IN" sz="1200" strike="noStrike" err="1"/>
                        <a:t>sich</a:t>
                      </a:r>
                      <a:r>
                        <a:rPr lang="en-IN" sz="1200" strike="noStrike"/>
                        <a:t> das Game?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sngStrike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424921618"/>
                  </a:ext>
                </a:extLst>
              </a:tr>
              <a:tr h="405120">
                <a:tc>
                  <a:txBody>
                    <a:bodyPr/>
                    <a:lstStyle/>
                    <a:p>
                      <a:r>
                        <a:rPr lang="en-IN" sz="1200" b="1" strike="noStrike" err="1"/>
                        <a:t>Kapitel</a:t>
                      </a:r>
                      <a:r>
                        <a:rPr lang="en-IN" sz="1200" b="1" strike="noStrike"/>
                        <a:t> 4.2: Workflow Transformation | Develop &amp; Build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noStrike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5143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strike="noStrike"/>
                        <a:t>Was hat </a:t>
                      </a:r>
                      <a:r>
                        <a:rPr lang="en-IN" sz="1200" strike="noStrike" err="1"/>
                        <a:t>sich</a:t>
                      </a:r>
                      <a:r>
                        <a:rPr lang="en-IN" sz="1200" strike="noStrike"/>
                        <a:t> </a:t>
                      </a:r>
                      <a:r>
                        <a:rPr lang="en-IN" sz="1200" strike="noStrike" err="1"/>
                        <a:t>verändert</a:t>
                      </a:r>
                      <a:r>
                        <a:rPr lang="en-IN" sz="1200" strike="noStrike"/>
                        <a:t>?</a:t>
                      </a:r>
                    </a:p>
                    <a:p>
                      <a:endParaRPr lang="en-IN" sz="1200" strike="noStrike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sngStrike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952877832"/>
                  </a:ext>
                </a:extLst>
              </a:tr>
              <a:tr h="405120">
                <a:tc>
                  <a:txBody>
                    <a:bodyPr/>
                    <a:lstStyle/>
                    <a:p>
                      <a:r>
                        <a:rPr lang="en-IN" sz="1200" b="1" strike="noStrike" err="1"/>
                        <a:t>Kapitel</a:t>
                      </a:r>
                      <a:r>
                        <a:rPr lang="en-IN" sz="1200" b="1" strike="noStrike"/>
                        <a:t> 4.3: Workflow Transformation | Test &amp; Validate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noStrike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5143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strike="noStrike"/>
                        <a:t>Was hat </a:t>
                      </a:r>
                      <a:r>
                        <a:rPr lang="en-IN" sz="1200" strike="noStrike" err="1"/>
                        <a:t>sich</a:t>
                      </a:r>
                      <a:r>
                        <a:rPr lang="en-IN" sz="1200" strike="noStrike"/>
                        <a:t> </a:t>
                      </a:r>
                      <a:r>
                        <a:rPr lang="en-IN" sz="1200" strike="noStrike" err="1"/>
                        <a:t>verändert</a:t>
                      </a:r>
                      <a:r>
                        <a:rPr lang="en-IN" sz="1200" strike="noStrike"/>
                        <a:t>?</a:t>
                      </a:r>
                    </a:p>
                    <a:p>
                      <a:endParaRPr lang="en-IN" sz="1200" strike="noStrike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sngStrike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016678210"/>
                  </a:ext>
                </a:extLst>
              </a:tr>
              <a:tr h="405120">
                <a:tc>
                  <a:txBody>
                    <a:bodyPr/>
                    <a:lstStyle/>
                    <a:p>
                      <a:r>
                        <a:rPr lang="en-IN" sz="1200" b="1" strike="noStrike" err="1"/>
                        <a:t>Kapitel</a:t>
                      </a:r>
                      <a:r>
                        <a:rPr lang="en-IN" sz="1200" b="1" strike="noStrike"/>
                        <a:t> 4.4: Workflow Transformation | Release &amp; Deploy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noStrike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5143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strike="noStrike"/>
                        <a:t>Was hat </a:t>
                      </a:r>
                      <a:r>
                        <a:rPr lang="en-IN" sz="1200" strike="noStrike" err="1"/>
                        <a:t>sich</a:t>
                      </a:r>
                      <a:r>
                        <a:rPr lang="en-IN" sz="1200" strike="noStrike"/>
                        <a:t> </a:t>
                      </a:r>
                      <a:r>
                        <a:rPr lang="en-IN" sz="1200" strike="noStrike" err="1"/>
                        <a:t>verändert</a:t>
                      </a:r>
                      <a:r>
                        <a:rPr lang="en-IN" sz="1200" strike="noStrike"/>
                        <a:t>?</a:t>
                      </a:r>
                    </a:p>
                    <a:p>
                      <a:endParaRPr lang="en-IN" sz="1200" strike="noStrike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 strike="sngStrike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619485649"/>
                  </a:ext>
                </a:extLst>
              </a:tr>
              <a:tr h="582706">
                <a:tc>
                  <a:txBody>
                    <a:bodyPr/>
                    <a:lstStyle/>
                    <a:p>
                      <a:r>
                        <a:rPr lang="en-IN" sz="1200" b="1" err="1"/>
                        <a:t>Kapitel</a:t>
                      </a:r>
                      <a:r>
                        <a:rPr lang="en-IN" sz="1200" b="1"/>
                        <a:t> 4.5: </a:t>
                      </a:r>
                      <a:r>
                        <a:rPr lang="en-IN" sz="1200" b="1" strike="noStrike"/>
                        <a:t>Workflow Transformation | </a:t>
                      </a:r>
                      <a:r>
                        <a:rPr lang="en-IN" sz="1200" b="1"/>
                        <a:t>Security Aspects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2-3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Warum ist Security ein Thema?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Neue Risiken (Propabalistisch)/ mehr angreifer/ mehr Abwehr -&gt; Ressource battle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Secure Coding Guide 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Ralph</a:t>
                      </a:r>
                    </a:p>
                    <a:p>
                      <a:r>
                        <a:rPr lang="en-IN" sz="1200"/>
                        <a:t>Z-CIT (Johannes Hermanns)</a:t>
                      </a: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683842007"/>
                  </a:ext>
                </a:extLst>
              </a:tr>
              <a:tr h="582706">
                <a:tc>
                  <a:txBody>
                    <a:bodyPr/>
                    <a:lstStyle/>
                    <a:p>
                      <a:r>
                        <a:rPr lang="en-IN" sz="1200" b="1" err="1"/>
                        <a:t>Kapitel</a:t>
                      </a:r>
                      <a:r>
                        <a:rPr lang="en-IN" sz="1200" b="1"/>
                        <a:t> 4.6: </a:t>
                      </a:r>
                      <a:r>
                        <a:rPr lang="en-IN" sz="1200" b="1" strike="noStrike"/>
                        <a:t>Workflow Transformation | </a:t>
                      </a:r>
                      <a:r>
                        <a:rPr lang="en-IN" sz="1200" b="1"/>
                        <a:t>How to measure success? 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2-3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Mögliche neue KPIs</a:t>
                      </a:r>
                    </a:p>
                    <a:p>
                      <a:pPr marL="171450" marR="0" lvl="0" indent="-171450" algn="l" defTabSz="5143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200"/>
                        <a:t>Entwicklung Tokenverbrauch/ Kosten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IN" sz="12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Waldemar, Ralph</a:t>
                      </a: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300657545"/>
                  </a:ext>
                </a:extLst>
              </a:tr>
              <a:tr h="355579">
                <a:tc>
                  <a:txBody>
                    <a:bodyPr/>
                    <a:lstStyle/>
                    <a:p>
                      <a:r>
                        <a:rPr lang="en-IN" sz="1200" b="1" err="1"/>
                        <a:t>Kapitel</a:t>
                      </a:r>
                      <a:r>
                        <a:rPr lang="en-IN" sz="1200" b="1"/>
                        <a:t> 5: Outlook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2-3 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err="1"/>
                        <a:t>Veränderte</a:t>
                      </a:r>
                      <a:r>
                        <a:rPr lang="en-IN" sz="1200"/>
                        <a:t> </a:t>
                      </a:r>
                      <a:r>
                        <a:rPr lang="en-IN" sz="1200" err="1"/>
                        <a:t>Rollenmodelle</a:t>
                      </a:r>
                      <a:r>
                        <a:rPr lang="en-IN" sz="1200"/>
                        <a:t> &amp; </a:t>
                      </a:r>
                      <a:r>
                        <a:rPr lang="en-IN" sz="1200" err="1"/>
                        <a:t>Teamkonstellationen</a:t>
                      </a:r>
                      <a:endParaRPr lang="en-IN" sz="12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494927539"/>
                  </a:ext>
                </a:extLst>
              </a:tr>
              <a:tr h="661730">
                <a:tc>
                  <a:txBody>
                    <a:bodyPr/>
                    <a:lstStyle/>
                    <a:p>
                      <a:r>
                        <a:rPr lang="en-IN" sz="1200" b="1" err="1"/>
                        <a:t>Kapitel</a:t>
                      </a:r>
                      <a:r>
                        <a:rPr lang="en-IN" sz="1200" b="1"/>
                        <a:t> 6: Cheat Sheet “Vibe to Live” &amp; Best Practices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1-2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Link to Repo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Skills &amp; Workflows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/>
                        <a:t>Best Practices Overview 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Ralph</a:t>
                      </a: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640598948"/>
                  </a:ext>
                </a:extLst>
              </a:tr>
            </a:tbl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D6DFAC16-5131-DCF1-F772-E8055B078083}"/>
              </a:ext>
            </a:extLst>
          </p:cNvPr>
          <p:cNvSpPr/>
          <p:nvPr/>
        </p:nvSpPr>
        <p:spPr>
          <a:xfrm>
            <a:off x="483823" y="9340965"/>
            <a:ext cx="3852862" cy="687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>
                <a:solidFill>
                  <a:schemeClr val="tx1"/>
                </a:solidFill>
              </a:rPr>
              <a:t>Optional Divisional Outlook: </a:t>
            </a:r>
            <a:r>
              <a:rPr lang="en-IN" sz="1050" i="1">
                <a:solidFill>
                  <a:schemeClr val="tx1"/>
                </a:solidFill>
              </a:rPr>
              <a:t>Wo </a:t>
            </a:r>
            <a:r>
              <a:rPr lang="en-IN" sz="1050" i="1" err="1">
                <a:solidFill>
                  <a:schemeClr val="tx1"/>
                </a:solidFill>
              </a:rPr>
              <a:t>wollt</a:t>
            </a:r>
            <a:r>
              <a:rPr lang="en-IN" sz="1050" i="1">
                <a:solidFill>
                  <a:schemeClr val="tx1"/>
                </a:solidFill>
              </a:rPr>
              <a:t> </a:t>
            </a:r>
            <a:r>
              <a:rPr lang="en-IN" sz="1050" i="1" err="1">
                <a:solidFill>
                  <a:schemeClr val="tx1"/>
                </a:solidFill>
              </a:rPr>
              <a:t>ihr</a:t>
            </a:r>
            <a:r>
              <a:rPr lang="en-IN" sz="1050" i="1">
                <a:solidFill>
                  <a:schemeClr val="tx1"/>
                </a:solidFill>
              </a:rPr>
              <a:t> </a:t>
            </a:r>
            <a:r>
              <a:rPr lang="en-IN" sz="1050" i="1" err="1">
                <a:solidFill>
                  <a:schemeClr val="tx1"/>
                </a:solidFill>
              </a:rPr>
              <a:t>damit</a:t>
            </a:r>
            <a:r>
              <a:rPr lang="en-IN" sz="1050" i="1">
                <a:solidFill>
                  <a:schemeClr val="tx1"/>
                </a:solidFill>
              </a:rPr>
              <a:t> </a:t>
            </a:r>
            <a:r>
              <a:rPr lang="en-IN" sz="1050" i="1" err="1">
                <a:solidFill>
                  <a:schemeClr val="tx1"/>
                </a:solidFill>
              </a:rPr>
              <a:t>hin</a:t>
            </a:r>
            <a:r>
              <a:rPr lang="en-IN" sz="1050" i="1">
                <a:solidFill>
                  <a:schemeClr val="tx1"/>
                </a:solidFill>
              </a:rPr>
              <a:t>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i="1">
                <a:solidFill>
                  <a:schemeClr val="tx1"/>
                </a:solidFill>
              </a:rPr>
              <a:t>Wie </a:t>
            </a:r>
            <a:r>
              <a:rPr lang="en-IN" sz="1050" i="1" err="1">
                <a:solidFill>
                  <a:schemeClr val="tx1"/>
                </a:solidFill>
              </a:rPr>
              <a:t>ändert</a:t>
            </a:r>
            <a:r>
              <a:rPr lang="en-IN" sz="1050" i="1">
                <a:solidFill>
                  <a:schemeClr val="tx1"/>
                </a:solidFill>
              </a:rPr>
              <a:t> </a:t>
            </a:r>
            <a:r>
              <a:rPr lang="en-IN" sz="1050" i="1" err="1">
                <a:solidFill>
                  <a:schemeClr val="tx1"/>
                </a:solidFill>
              </a:rPr>
              <a:t>sich</a:t>
            </a:r>
            <a:r>
              <a:rPr lang="en-IN" sz="1050" i="1">
                <a:solidFill>
                  <a:schemeClr val="tx1"/>
                </a:solidFill>
              </a:rPr>
              <a:t> die </a:t>
            </a:r>
            <a:r>
              <a:rPr lang="en-IN" sz="1050" i="1" err="1">
                <a:solidFill>
                  <a:schemeClr val="tx1"/>
                </a:solidFill>
              </a:rPr>
              <a:t>Strategie</a:t>
            </a:r>
            <a:r>
              <a:rPr lang="en-IN" sz="1050" i="1">
                <a:solidFill>
                  <a:schemeClr val="tx1"/>
                </a:solidFill>
              </a:rPr>
              <a:t>? (</a:t>
            </a:r>
            <a:r>
              <a:rPr lang="en-IN" sz="1050" i="1" err="1">
                <a:solidFill>
                  <a:schemeClr val="tx1"/>
                </a:solidFill>
              </a:rPr>
              <a:t>allgemeine</a:t>
            </a:r>
            <a:r>
              <a:rPr lang="en-IN" sz="1050" i="1">
                <a:solidFill>
                  <a:schemeClr val="tx1"/>
                </a:solidFill>
              </a:rPr>
              <a:t> </a:t>
            </a:r>
            <a:r>
              <a:rPr lang="en-IN" sz="1050" i="1" err="1">
                <a:solidFill>
                  <a:schemeClr val="tx1"/>
                </a:solidFill>
              </a:rPr>
              <a:t>Strategieanpassungen</a:t>
            </a:r>
            <a:r>
              <a:rPr lang="en-IN" sz="1050" i="1">
                <a:solidFill>
                  <a:schemeClr val="tx1"/>
                </a:solidFill>
              </a:rPr>
              <a:t>)</a:t>
            </a:r>
          </a:p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01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31187BA-F138-138E-C934-81D5A4E9278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3279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1187BA-F138-138E-C934-81D5A4E927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hteck 24">
            <a:extLst>
              <a:ext uri="{FF2B5EF4-FFF2-40B4-BE49-F238E27FC236}">
                <a16:creationId xmlns:a16="http://schemas.microsoft.com/office/drawing/2014/main" id="{3D62694B-6271-7149-1EF7-52B6033A292E}"/>
              </a:ext>
            </a:extLst>
          </p:cNvPr>
          <p:cNvSpPr/>
          <p:nvPr/>
        </p:nvSpPr>
        <p:spPr>
          <a:xfrm>
            <a:off x="487363" y="1981200"/>
            <a:ext cx="16635412" cy="6705600"/>
          </a:xfrm>
          <a:prstGeom prst="rect">
            <a:avLst/>
          </a:prstGeom>
          <a:gradFill>
            <a:gsLst>
              <a:gs pos="24000">
                <a:srgbClr val="5C2483">
                  <a:alpha val="40000"/>
                </a:srgbClr>
              </a:gs>
              <a:gs pos="66000">
                <a:srgbClr val="B10058">
                  <a:alpha val="40000"/>
                </a:srgb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5858CB-A1FA-6862-877B-E1A6CE92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IN"/>
              <a:t>Proposed Structural Framework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3C461AC-48B1-F94D-BC6C-0DADFCDF180A}"/>
              </a:ext>
            </a:extLst>
          </p:cNvPr>
          <p:cNvGrpSpPr/>
          <p:nvPr/>
        </p:nvGrpSpPr>
        <p:grpSpPr>
          <a:xfrm>
            <a:off x="759031" y="2239619"/>
            <a:ext cx="16089108" cy="6188762"/>
            <a:chOff x="484392" y="2174188"/>
            <a:chExt cx="16638383" cy="6608414"/>
          </a:xfrm>
          <a:solidFill>
            <a:schemeClr val="bg1">
              <a:alpha val="60000"/>
            </a:schemeClr>
          </a:solidFill>
        </p:grpSpPr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38A79792-9E80-A0B0-6C34-837BB9CE8B0F}"/>
                </a:ext>
              </a:extLst>
            </p:cNvPr>
            <p:cNvSpPr/>
            <p:nvPr/>
          </p:nvSpPr>
          <p:spPr>
            <a:xfrm>
              <a:off x="484394" y="2174188"/>
              <a:ext cx="2592000" cy="4506834"/>
            </a:xfrm>
            <a:prstGeom prst="roundRect">
              <a:avLst>
                <a:gd name="adj" fmla="val 1078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NettoOT" panose="02010504010101010104" pitchFamily="50" charset="0"/>
                  <a:ea typeface="+mn-ea"/>
                  <a:cs typeface="+mn-cs"/>
                </a:rPr>
                <a:t>01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Define &amp; Plan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srgbClr val="002D64"/>
                  </a:solidFill>
                  <a:latin typeface="+mj-lt"/>
                </a:rPr>
                <a:t>Risk analysis and strategic planning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</p:txBody>
        </p:sp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3BC21CFC-EDFE-63BD-CB04-0B7D1117034A}"/>
                </a:ext>
              </a:extLst>
            </p:cNvPr>
            <p:cNvSpPr/>
            <p:nvPr/>
          </p:nvSpPr>
          <p:spPr>
            <a:xfrm>
              <a:off x="6102946" y="2174188"/>
              <a:ext cx="2592000" cy="4506834"/>
            </a:xfrm>
            <a:prstGeom prst="roundRect">
              <a:avLst>
                <a:gd name="adj" fmla="val 1078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NettoOT" panose="02010504010101010104" pitchFamily="50" charset="0"/>
                  <a:ea typeface="+mn-ea"/>
                  <a:cs typeface="+mn-cs"/>
                </a:rPr>
                <a:t>03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Test &amp; Validate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lang="en-US" sz="1400">
                  <a:solidFill>
                    <a:srgbClr val="002D64"/>
                  </a:solidFill>
                  <a:latin typeface="+mj-lt"/>
                </a:rPr>
                <a:t>Automated security checks and compliance validation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Predictive testing and performance assurance</a:t>
              </a:r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BC43D806-7EAA-4137-93BF-01464E81C49C}"/>
                </a:ext>
              </a:extLst>
            </p:cNvPr>
            <p:cNvSpPr/>
            <p:nvPr/>
          </p:nvSpPr>
          <p:spPr>
            <a:xfrm>
              <a:off x="11721498" y="2174188"/>
              <a:ext cx="2592000" cy="4506834"/>
            </a:xfrm>
            <a:prstGeom prst="roundRect">
              <a:avLst>
                <a:gd name="adj" fmla="val 1078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NettoOT" panose="02010504010101010104" pitchFamily="50" charset="0"/>
                  <a:ea typeface="+mn-ea"/>
                  <a:cs typeface="+mn-cs"/>
                </a:rPr>
                <a:t>05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Monitor &amp; Secure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lang="en-US" sz="1400">
                  <a:solidFill>
                    <a:srgbClr val="002D64"/>
                  </a:solidFill>
                  <a:latin typeface="+mj-lt"/>
                </a:rPr>
                <a:t>Proactive threat detection and system monitoring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Cloud security and infrastructure protection</a:t>
              </a:r>
            </a:p>
          </p:txBody>
        </p: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7CB35CEF-3A5D-7000-C684-B440D108EF7A}"/>
                </a:ext>
              </a:extLst>
            </p:cNvPr>
            <p:cNvSpPr/>
            <p:nvPr/>
          </p:nvSpPr>
          <p:spPr>
            <a:xfrm>
              <a:off x="14530775" y="2174188"/>
              <a:ext cx="2592000" cy="4506834"/>
            </a:xfrm>
            <a:prstGeom prst="roundRect">
              <a:avLst>
                <a:gd name="adj" fmla="val 1078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NettoOT" panose="02010504010101010104" pitchFamily="50" charset="0"/>
                  <a:ea typeface="+mn-ea"/>
                  <a:cs typeface="+mn-cs"/>
                </a:rPr>
                <a:t>06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Optimize &amp; Improve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lang="en-US" sz="1400">
                  <a:solidFill>
                    <a:srgbClr val="002D64"/>
                  </a:solidFill>
                  <a:latin typeface="+mj-lt"/>
                </a:rPr>
                <a:t>Adaptive learning and process optimization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Intelligent debugging and fault resolution</a:t>
              </a: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F3E9BE66-961C-87D2-B6B7-F2E9A7D4CEBC}"/>
                </a:ext>
              </a:extLst>
            </p:cNvPr>
            <p:cNvSpPr/>
            <p:nvPr/>
          </p:nvSpPr>
          <p:spPr>
            <a:xfrm>
              <a:off x="484393" y="6839594"/>
              <a:ext cx="16638381" cy="89221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>
                  <a:solidFill>
                    <a:schemeClr val="tx1"/>
                  </a:solidFill>
                </a:rPr>
                <a:t>Ecosystem: AI Players across SWE Cycle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BC1B5B96-EC1B-BDBF-DC25-E55AA4BE0A8F}"/>
                </a:ext>
              </a:extLst>
            </p:cNvPr>
            <p:cNvSpPr/>
            <p:nvPr/>
          </p:nvSpPr>
          <p:spPr>
            <a:xfrm>
              <a:off x="484392" y="7890384"/>
              <a:ext cx="16638381" cy="89221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>
                  <a:solidFill>
                    <a:schemeClr val="tx1"/>
                  </a:solidFill>
                </a:rPr>
                <a:t>+ Human Builders (Testimonials)</a:t>
              </a:r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3C3CEA5E-8958-55EC-97F1-F4AF0CDE4A8F}"/>
                </a:ext>
              </a:extLst>
            </p:cNvPr>
            <p:cNvSpPr/>
            <p:nvPr/>
          </p:nvSpPr>
          <p:spPr>
            <a:xfrm>
              <a:off x="3293670" y="2174188"/>
              <a:ext cx="2592000" cy="4506834"/>
            </a:xfrm>
            <a:prstGeom prst="roundRect">
              <a:avLst>
                <a:gd name="adj" fmla="val 1078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NettoOT" panose="02010504010101010104" pitchFamily="50" charset="0"/>
                  <a:ea typeface="+mn-ea"/>
                  <a:cs typeface="+mn-cs"/>
                </a:rPr>
                <a:t>02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Develop &amp; Build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Smart development and secure cording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lang="en-US" sz="1400">
                  <a:solidFill>
                    <a:srgbClr val="002D64"/>
                  </a:solidFill>
                  <a:latin typeface="+mj-lt"/>
                </a:rPr>
                <a:t>Streamlined development and CI/CD automation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40247677-3121-90E8-36A5-17EC99426E55}"/>
                </a:ext>
              </a:extLst>
            </p:cNvPr>
            <p:cNvSpPr/>
            <p:nvPr/>
          </p:nvSpPr>
          <p:spPr>
            <a:xfrm>
              <a:off x="8912222" y="2174188"/>
              <a:ext cx="2592000" cy="4506834"/>
            </a:xfrm>
            <a:prstGeom prst="roundRect">
              <a:avLst>
                <a:gd name="adj" fmla="val 1078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NettoOT" panose="02010504010101010104" pitchFamily="50" charset="0"/>
                  <a:ea typeface="+mn-ea"/>
                  <a:cs typeface="+mn-cs"/>
                </a:rPr>
                <a:t>04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Release &amp; Deploy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D64"/>
                </a:solidFill>
                <a:effectLst/>
                <a:uLnTx/>
                <a:uFillTx/>
                <a:latin typeface="NettoOT" panose="02010504010101010104" pitchFamily="50" charset="0"/>
                <a:ea typeface="+mn-ea"/>
                <a:cs typeface="+mn-cs"/>
              </a:endParaRP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lang="en-US" sz="1400">
                  <a:solidFill>
                    <a:srgbClr val="002D64"/>
                  </a:solidFill>
                  <a:latin typeface="+mj-lt"/>
                </a:rPr>
                <a:t>Optimized release and deployment strategies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D6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Ensuring integrity and compliance in deployments</a:t>
              </a:r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id="{C309D262-B842-0D60-98C7-5005D3CB8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9162"/>
            <a:ext cx="5724525" cy="320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66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D8E5-BAD1-AC2C-C1AC-04B30BAB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9FAE0ACB-E868-3EAC-D444-236876C538C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294" y="2442"/>
          <a:ext cx="2294" cy="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AE0ACB-E868-3EAC-D444-236876C53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4" y="2442"/>
                        <a:ext cx="2294" cy="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11E46880-0528-174D-F452-D6BA456A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normAutofit/>
          </a:bodyPr>
          <a:lstStyle/>
          <a:p>
            <a:r>
              <a:rPr lang="en-US" sz="4044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207878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48CDAF-917F-265B-1A85-38E0935EF9F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112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48CDAF-917F-265B-1A85-38E0935EF9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8976E331-6B05-09D3-0B3A-32708D95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IN"/>
              <a:t>[Motivation]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4AE965F-7B63-23CB-9D37-E6BDB886B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74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686BB77-D400-CB89-7BA1-28B1C1ACCC0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3538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86BB77-D400-CB89-7BA1-28B1C1ACCC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797762B-5444-1156-39A0-3A978FC6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IN"/>
              <a:t>[Historical Overview – Timeline]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B7790A-D261-8BAE-704D-56A892521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824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D2C486-B1D4-3412-AF3B-761CC007E8F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432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D2C486-B1D4-3412-AF3B-761CC007E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6C4B163-2054-2EFD-48BB-2B1DF5F1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IN"/>
              <a:t>[Nothing great built alone – showcases]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E56B83-B7D6-BBD6-C220-0600C0F73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96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2F756-4FD2-A20D-3F36-909CD67C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A31ED2A-84A3-5F13-DA1A-DAFEE423EC0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8775586"/>
              </p:ext>
            </p:extLst>
          </p:nvPr>
        </p:nvGraphicFramePr>
        <p:xfrm>
          <a:off x="2294" y="2442"/>
          <a:ext cx="2294" cy="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31ED2A-84A3-5F13-DA1A-DAFEE423EC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4" y="2442"/>
                        <a:ext cx="2294" cy="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7FDD017-6D26-4980-343B-9174D1C1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normAutofit/>
          </a:bodyPr>
          <a:lstStyle/>
          <a:p>
            <a:r>
              <a:rPr lang="en-US" sz="4044"/>
              <a:t>Methodological Approach &amp; Framework</a:t>
            </a:r>
          </a:p>
        </p:txBody>
      </p:sp>
    </p:spTree>
    <p:extLst>
      <p:ext uri="{BB962C8B-B14F-4D97-AF65-F5344CB8AC3E}">
        <p14:creationId xmlns:p14="http://schemas.microsoft.com/office/powerpoint/2010/main" val="991632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80F59-2902-009A-9E8A-F9A27571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B202B1-504C-C169-8304-2C559B81F80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294" y="2442"/>
          <a:ext cx="2294" cy="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B202B1-504C-C169-8304-2C559B81F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4" y="2442"/>
                        <a:ext cx="2294" cy="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01381B7-A898-821C-713F-A1E2E26C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normAutofit/>
          </a:bodyPr>
          <a:lstStyle/>
          <a:p>
            <a:r>
              <a:rPr lang="en-US" sz="4044"/>
              <a:t>Testimonials</a:t>
            </a:r>
          </a:p>
        </p:txBody>
      </p:sp>
    </p:spTree>
    <p:extLst>
      <p:ext uri="{BB962C8B-B14F-4D97-AF65-F5344CB8AC3E}">
        <p14:creationId xmlns:p14="http://schemas.microsoft.com/office/powerpoint/2010/main" val="182502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91272-E75E-D304-0B8E-23893BD9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FCCD064-0E71-6974-3192-FC0921205A5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294" y="2442"/>
          <a:ext cx="2294" cy="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CCD064-0E71-6974-3192-FC0921205A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4" y="2442"/>
                        <a:ext cx="2294" cy="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915ED4D9-518C-9E49-BE46-74F81552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normAutofit/>
          </a:bodyPr>
          <a:lstStyle/>
          <a:p>
            <a:r>
              <a:rPr lang="en-US" sz="4044"/>
              <a:t>Workflow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911520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F9B9-A693-D1C9-92EC-5AABAFD0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610F83A4-D485-8CB6-3BD8-755EE2E91CE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294" y="2442"/>
          <a:ext cx="2294" cy="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0F83A4-D485-8CB6-3BD8-755EE2E91C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4" y="2442"/>
                        <a:ext cx="2294" cy="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FE9D7E-1EF7-6DB9-3CD8-5B8927193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normAutofit/>
          </a:bodyPr>
          <a:lstStyle/>
          <a:p>
            <a:r>
              <a:rPr lang="en-US" sz="4044"/>
              <a:t>Outlook</a:t>
            </a:r>
          </a:p>
        </p:txBody>
      </p:sp>
    </p:spTree>
    <p:extLst>
      <p:ext uri="{BB962C8B-B14F-4D97-AF65-F5344CB8AC3E}">
        <p14:creationId xmlns:p14="http://schemas.microsoft.com/office/powerpoint/2010/main" val="416785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9738-F66D-2DB7-6264-A007A20C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10CD1E0-3B13-1C37-5A76-7BC042A5F4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294" y="2442"/>
          <a:ext cx="2294" cy="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0CD1E0-3B13-1C37-5A76-7BC042A5F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4" y="2442"/>
                        <a:ext cx="2294" cy="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E929DF9-322D-222A-6758-03B2DA01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normAutofit/>
          </a:bodyPr>
          <a:lstStyle/>
          <a:p>
            <a:r>
              <a:rPr lang="en-US" sz="4044"/>
              <a:t>Cheat Sheet &amp;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271012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3E8566-8AA0-C6CF-B150-B997211ADCF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2199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3E8566-8AA0-C6CF-B150-B997211ADC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56FDDB6A-71A8-A10F-CD2C-800A3204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428" y="3977687"/>
            <a:ext cx="15705273" cy="1950627"/>
          </a:xfrm>
        </p:spPr>
        <p:txBody>
          <a:bodyPr vert="horz" rIns="0" anchor="ctr"/>
          <a:lstStyle/>
          <a:p>
            <a:r>
              <a:rPr lang="en-IN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344154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6654705"/>
              </p:ext>
            </p:extLst>
          </p:nvPr>
        </p:nvGraphicFramePr>
        <p:xfrm>
          <a:off x="5376963" y="3025081"/>
          <a:ext cx="892" cy="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6350000" imgH="6350000" progId="TCLayout.ActiveDocument.1">
                  <p:embed/>
                </p:oleObj>
              </mc:Choice>
              <mc:Fallback>
                <p:oleObj name="think-cell Folie" r:id="rId5" imgW="6350000" imgH="6350000" progId="TCLayout.ActiveDocument.1">
                  <p:embed/>
                  <p:pic>
                    <p:nvPicPr>
                      <p:cNvPr id="13" name="Objekt 1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963" y="3025081"/>
                        <a:ext cx="892" cy="8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B584F1A-07F2-4A53-A432-B25656CE5E4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6072" y="3024191"/>
            <a:ext cx="89297" cy="89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514322">
              <a:defRPr/>
            </a:pPr>
            <a:endParaRPr lang="en-US" sz="1238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r>
              <a:rPr lang="en-US" sz="1350"/>
              <a:t>Brainstorming Booklet</a:t>
            </a:r>
            <a:br>
              <a:rPr lang="en-US" sz="1350"/>
            </a:br>
            <a:endParaRPr lang="en-US"/>
          </a:p>
        </p:txBody>
      </p:sp>
      <p:sp>
        <p:nvSpPr>
          <p:cNvPr id="21" name="Textfeld 20"/>
          <p:cNvSpPr txBox="1"/>
          <p:nvPr/>
        </p:nvSpPr>
        <p:spPr>
          <a:xfrm>
            <a:off x="6010262" y="3656860"/>
            <a:ext cx="4739027" cy="26935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defTabSz="514322">
              <a:spcBef>
                <a:spcPts val="338"/>
              </a:spcBef>
              <a:defRPr/>
            </a:pPr>
            <a:r>
              <a:rPr lang="en-US" sz="675" b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b="1">
                <a:solidFill>
                  <a:srgbClr val="002D64"/>
                </a:solidFill>
                <a:latin typeface="Arial"/>
              </a:rPr>
              <a:t> 1: </a:t>
            </a:r>
            <a:r>
              <a:rPr lang="en-US" sz="675" b="1" err="1">
                <a:solidFill>
                  <a:srgbClr val="002D64"/>
                </a:solidFill>
                <a:latin typeface="Arial"/>
              </a:rPr>
              <a:t>Einführung</a:t>
            </a:r>
            <a:endParaRPr lang="en-US" sz="675" b="1">
              <a:solidFill>
                <a:srgbClr val="002D64"/>
              </a:solidFill>
              <a:latin typeface="Arial"/>
            </a:endParaRP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Motivation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‘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Geschichte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’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VibeCoding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-&gt;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Begriffserläuterung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;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Psycologie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-&gt; Flow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Theorie</a:t>
            </a:r>
            <a:endParaRPr lang="en-US" sz="675">
              <a:solidFill>
                <a:srgbClr val="002D64"/>
              </a:solidFill>
              <a:latin typeface="Arial"/>
            </a:endParaRP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Entwicklung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Tokenverbrauch</a:t>
            </a:r>
            <a:r>
              <a:rPr lang="en-US" sz="675">
                <a:solidFill>
                  <a:srgbClr val="002D64"/>
                </a:solidFill>
                <a:latin typeface="Arial"/>
              </a:rPr>
              <a:t>/ Kosten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Wie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wird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der SW Workflow disrupted? Was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ist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der WF?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Struktur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-&gt; SW Workflow Idea 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2-3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Beispiele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(Nothing great was build alone(?))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Allg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. Was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sind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aktuelle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die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größten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Herausforderungen</a:t>
            </a:r>
            <a:r>
              <a:rPr lang="en-US" sz="675">
                <a:solidFill>
                  <a:srgbClr val="002D64"/>
                </a:solidFill>
                <a:latin typeface="Arial"/>
              </a:rPr>
              <a:t>/ Bottlenecks in der SW Dev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Aktuelle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Grenzen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im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Agentic Coding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 b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b="1">
                <a:solidFill>
                  <a:srgbClr val="002D64"/>
                </a:solidFill>
                <a:latin typeface="Arial"/>
              </a:rPr>
              <a:t> 2: Ecosystem </a:t>
            </a:r>
            <a:r>
              <a:rPr lang="en-US" sz="675">
                <a:solidFill>
                  <a:srgbClr val="002D64"/>
                </a:solidFill>
                <a:latin typeface="Arial"/>
              </a:rPr>
              <a:t>(15-20 Seiten) (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Wodurch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verändert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sich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der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Prozess</a:t>
            </a:r>
            <a:r>
              <a:rPr lang="en-US" sz="675">
                <a:solidFill>
                  <a:srgbClr val="002D64"/>
                </a:solidFill>
                <a:latin typeface="Arial"/>
              </a:rPr>
              <a:t>? (Tools))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 b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b="1">
                <a:solidFill>
                  <a:srgbClr val="002D64"/>
                </a:solidFill>
                <a:latin typeface="Arial"/>
              </a:rPr>
              <a:t> 3: Testimonials </a:t>
            </a:r>
            <a:r>
              <a:rPr lang="en-US" sz="675">
                <a:solidFill>
                  <a:srgbClr val="002D64"/>
                </a:solidFill>
                <a:latin typeface="Arial"/>
              </a:rPr>
              <a:t>(30 Seiten) (Wie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wird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die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Veränderung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gelebt</a:t>
            </a:r>
            <a:r>
              <a:rPr lang="en-US" sz="675">
                <a:solidFill>
                  <a:srgbClr val="002D64"/>
                </a:solidFill>
                <a:latin typeface="Arial"/>
              </a:rPr>
              <a:t>?)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Testimonials – Waldemar/ Lion/ Lars(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Riverty</a:t>
            </a:r>
            <a:r>
              <a:rPr lang="en-US" sz="675">
                <a:solidFill>
                  <a:srgbClr val="002D64"/>
                </a:solidFill>
                <a:latin typeface="Arial"/>
              </a:rPr>
              <a:t>)/ 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Milan</a:t>
            </a:r>
            <a:r>
              <a:rPr lang="en-US" sz="675">
                <a:solidFill>
                  <a:srgbClr val="002D64"/>
                </a:solidFill>
                <a:latin typeface="Arial"/>
              </a:rPr>
              <a:t>/ PRH(Ines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Piniero</a:t>
            </a:r>
            <a:r>
              <a:rPr lang="en-US" sz="675">
                <a:solidFill>
                  <a:srgbClr val="002D64"/>
                </a:solidFill>
                <a:latin typeface="Arial"/>
              </a:rPr>
              <a:t>)/ EDU/ ASYS/ BMG/ RTL/ Arvato/ BMS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>
                <a:solidFill>
                  <a:srgbClr val="002D64"/>
                </a:solidFill>
                <a:latin typeface="Arial"/>
              </a:rPr>
              <a:t>		1. Profile (Background) 2. Setup (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Vgl</a:t>
            </a:r>
            <a:r>
              <a:rPr lang="en-US" sz="675">
                <a:solidFill>
                  <a:srgbClr val="002D64"/>
                </a:solidFill>
                <a:latin typeface="Arial"/>
              </a:rPr>
              <a:t>. Gaming setup;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Spinnennetzvisualisierung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) 3. Was hast du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schon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vibe coded? (Screenshot) 4. Best Prompt 5. Workflow(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wie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vorgegangen</a:t>
            </a:r>
            <a:r>
              <a:rPr lang="en-US" sz="675">
                <a:solidFill>
                  <a:srgbClr val="002D64"/>
                </a:solidFill>
                <a:latin typeface="Arial"/>
              </a:rPr>
              <a:t>?) 6. Was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funktioniert</a:t>
            </a:r>
            <a:r>
              <a:rPr lang="en-US" sz="675">
                <a:solidFill>
                  <a:srgbClr val="002D64"/>
                </a:solidFill>
                <a:latin typeface="Arial"/>
              </a:rPr>
              <a:t>? 7. Was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funktioniert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noch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nicht? 8. Wie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entwickelt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sich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der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Beruf</a:t>
            </a:r>
            <a:r>
              <a:rPr lang="en-US" sz="675">
                <a:solidFill>
                  <a:srgbClr val="002D64"/>
                </a:solidFill>
                <a:latin typeface="Arial"/>
              </a:rPr>
              <a:t>?/ Was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brauche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ich in Zukunft? (Change)</a:t>
            </a:r>
          </a:p>
          <a:p>
            <a:pPr defTabSz="514322">
              <a:spcBef>
                <a:spcPts val="338"/>
              </a:spcBef>
              <a:defRPr/>
            </a:pPr>
            <a:endParaRPr lang="en-US" sz="675">
              <a:solidFill>
                <a:srgbClr val="002D64"/>
              </a:solidFill>
              <a:latin typeface="Arial"/>
            </a:endParaRPr>
          </a:p>
          <a:p>
            <a:pPr defTabSz="514322">
              <a:spcBef>
                <a:spcPts val="338"/>
              </a:spcBef>
              <a:defRPr/>
            </a:pPr>
            <a:r>
              <a:rPr lang="en-US" sz="675" i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4: Wo </a:t>
            </a:r>
            <a:r>
              <a:rPr lang="en-US" sz="675" i="1" err="1">
                <a:solidFill>
                  <a:srgbClr val="002D64"/>
                </a:solidFill>
                <a:latin typeface="Arial"/>
              </a:rPr>
              <a:t>wollt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i="1" err="1">
                <a:solidFill>
                  <a:srgbClr val="002D64"/>
                </a:solidFill>
                <a:latin typeface="Arial"/>
              </a:rPr>
              <a:t>ihr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i="1" err="1">
                <a:solidFill>
                  <a:srgbClr val="002D64"/>
                </a:solidFill>
                <a:latin typeface="Arial"/>
              </a:rPr>
              <a:t>damit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i="1" err="1">
                <a:solidFill>
                  <a:srgbClr val="002D64"/>
                </a:solidFill>
                <a:latin typeface="Arial"/>
              </a:rPr>
              <a:t>hin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? (Divisions) </a:t>
            </a:r>
            <a:r>
              <a:rPr lang="en-US" sz="675">
                <a:solidFill>
                  <a:srgbClr val="002D64"/>
                </a:solidFill>
                <a:latin typeface="Arial"/>
              </a:rPr>
              <a:t>(Wie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ändert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sich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die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Strategie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?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Allg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.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Strategieanpassung</a:t>
            </a:r>
            <a:r>
              <a:rPr lang="en-US" sz="675">
                <a:solidFill>
                  <a:srgbClr val="002D64"/>
                </a:solidFill>
                <a:latin typeface="Arial"/>
              </a:rPr>
              <a:t>)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 i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5: Security Aspects (</a:t>
            </a:r>
            <a:r>
              <a:rPr lang="en-US" sz="675" i="1" err="1">
                <a:solidFill>
                  <a:srgbClr val="002D64"/>
                </a:solidFill>
                <a:latin typeface="Arial"/>
              </a:rPr>
              <a:t>Warum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i="1" err="1">
                <a:solidFill>
                  <a:srgbClr val="002D64"/>
                </a:solidFill>
                <a:latin typeface="Arial"/>
              </a:rPr>
              <a:t>ist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security </a:t>
            </a:r>
            <a:r>
              <a:rPr lang="en-US" sz="675" i="1" err="1">
                <a:solidFill>
                  <a:srgbClr val="002D64"/>
                </a:solidFill>
                <a:latin typeface="Arial"/>
              </a:rPr>
              <a:t>ein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Thema? Secure Coding Guide)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 i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6: How to measure success?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 b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b="1">
                <a:solidFill>
                  <a:srgbClr val="002D64"/>
                </a:solidFill>
                <a:latin typeface="Arial"/>
              </a:rPr>
              <a:t> 7: </a:t>
            </a:r>
            <a:r>
              <a:rPr lang="en-US" sz="675" b="1" err="1">
                <a:solidFill>
                  <a:srgbClr val="002D64"/>
                </a:solidFill>
                <a:latin typeface="Arial"/>
              </a:rPr>
              <a:t>Ausblick</a:t>
            </a:r>
            <a:r>
              <a:rPr lang="en-US" sz="675" b="1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>
                <a:solidFill>
                  <a:srgbClr val="002D64"/>
                </a:solidFill>
                <a:latin typeface="Arial"/>
              </a:rPr>
              <a:t>(2-3 Seiten) (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veränderte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 </a:t>
            </a:r>
            <a:r>
              <a:rPr lang="en-US" sz="675" err="1">
                <a:solidFill>
                  <a:srgbClr val="002D64"/>
                </a:solidFill>
                <a:latin typeface="Arial"/>
              </a:rPr>
              <a:t>Rollenmodelle</a:t>
            </a:r>
            <a:r>
              <a:rPr lang="en-US" sz="675">
                <a:solidFill>
                  <a:srgbClr val="002D64"/>
                </a:solidFill>
                <a:latin typeface="Arial"/>
              </a:rPr>
              <a:t>)</a:t>
            </a:r>
          </a:p>
          <a:p>
            <a:pPr defTabSz="514322">
              <a:spcBef>
                <a:spcPts val="338"/>
              </a:spcBef>
              <a:defRPr/>
            </a:pPr>
            <a:r>
              <a:rPr lang="en-US" sz="675" i="1" err="1">
                <a:solidFill>
                  <a:srgbClr val="002D64"/>
                </a:solidFill>
                <a:latin typeface="Arial"/>
              </a:rPr>
              <a:t>Kapitel</a:t>
            </a:r>
            <a:r>
              <a:rPr lang="en-US" sz="675" i="1">
                <a:solidFill>
                  <a:srgbClr val="002D64"/>
                </a:solidFill>
                <a:latin typeface="Arial"/>
              </a:rPr>
              <a:t> 8: Cheat Sheet Vibe to Live (Link to Repo; Skills; Workflows) &amp; Best Practices </a:t>
            </a:r>
          </a:p>
        </p:txBody>
      </p:sp>
    </p:spTree>
    <p:extLst>
      <p:ext uri="{BB962C8B-B14F-4D97-AF65-F5344CB8AC3E}">
        <p14:creationId xmlns:p14="http://schemas.microsoft.com/office/powerpoint/2010/main" val="32883436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8wfw.V8Ndq1NgIjqkkn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8wfw.V8Ndq1NgIjqkkn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8wfw.V8Ndq1NgIjqkkn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8wfw.V8Ndq1NgIjqkkn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yBt96MRBWNmVVOawka4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p3CSv7Ii2t4aA0WbwWcA"/>
</p:tagLst>
</file>

<file path=ppt/theme/theme1.xml><?xml version="1.0" encoding="utf-8"?>
<a:theme xmlns:a="http://schemas.openxmlformats.org/drawingml/2006/main" name="Larissa">
  <a:themeElements>
    <a:clrScheme name="Benutzerdefiniert 16">
      <a:dk1>
        <a:srgbClr val="002D64"/>
      </a:dk1>
      <a:lt1>
        <a:srgbClr val="FFFFFF"/>
      </a:lt1>
      <a:dk2>
        <a:srgbClr val="415F8C"/>
      </a:dk2>
      <a:lt2>
        <a:srgbClr val="002D64"/>
      </a:lt2>
      <a:accent1>
        <a:srgbClr val="AFBED2"/>
      </a:accent1>
      <a:accent2>
        <a:srgbClr val="646464"/>
      </a:accent2>
      <a:accent3>
        <a:srgbClr val="008CA0"/>
      </a:accent3>
      <a:accent4>
        <a:srgbClr val="491A66"/>
      </a:accent4>
      <a:accent5>
        <a:srgbClr val="AF0055"/>
      </a:accent5>
      <a:accent6>
        <a:srgbClr val="FF7F00"/>
      </a:accent6>
      <a:hlink>
        <a:srgbClr val="008CA0"/>
      </a:hlink>
      <a:folHlink>
        <a:srgbClr val="002D6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noAutofit/>
      </a:bodyPr>
      <a:lstStyle>
        <a:defPPr>
          <a:spcBef>
            <a:spcPts val="600"/>
          </a:spcBef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6" id="{EB7C611A-846D-40CF-A989-A7BA9FB7EF06}" vid="{9C93D057-3D3D-4595-880C-CD20F4084D9C}"/>
    </a:ext>
  </a:extLst>
</a:theme>
</file>

<file path=ppt/theme/theme2.xml><?xml version="1.0" encoding="utf-8"?>
<a:theme xmlns:a="http://schemas.openxmlformats.org/drawingml/2006/main" name="2_Larissa">
  <a:themeElements>
    <a:clrScheme name="Benutzerdefiniert 16">
      <a:dk1>
        <a:srgbClr val="002D64"/>
      </a:dk1>
      <a:lt1>
        <a:srgbClr val="FFFFFF"/>
      </a:lt1>
      <a:dk2>
        <a:srgbClr val="415F8C"/>
      </a:dk2>
      <a:lt2>
        <a:srgbClr val="002D64"/>
      </a:lt2>
      <a:accent1>
        <a:srgbClr val="AFBED2"/>
      </a:accent1>
      <a:accent2>
        <a:srgbClr val="646464"/>
      </a:accent2>
      <a:accent3>
        <a:srgbClr val="008CA0"/>
      </a:accent3>
      <a:accent4>
        <a:srgbClr val="491A66"/>
      </a:accent4>
      <a:accent5>
        <a:srgbClr val="AF0055"/>
      </a:accent5>
      <a:accent6>
        <a:srgbClr val="FF7F00"/>
      </a:accent6>
      <a:hlink>
        <a:srgbClr val="008CA0"/>
      </a:hlink>
      <a:folHlink>
        <a:srgbClr val="002D6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noAutofit/>
      </a:bodyPr>
      <a:lstStyle>
        <a:defPPr>
          <a:spcBef>
            <a:spcPts val="600"/>
          </a:spcBef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rtelsmann_PPT_Master_2014_16zu9_Entwurf_angepasst.pptx" id="{88DDA2CA-EC14-4BAE-83E5-03BB985E7EB5}" vid="{5EF44A50-BD4C-4C4D-8F14-7D7BCA814813}"/>
    </a:ext>
  </a:extLst>
</a:theme>
</file>

<file path=ppt/theme/theme3.xml><?xml version="1.0" encoding="utf-8"?>
<a:theme xmlns:a="http://schemas.openxmlformats.org/drawingml/2006/main" name="1_Larissa">
  <a:themeElements>
    <a:clrScheme name="Benutzerdefiniert 16">
      <a:dk1>
        <a:srgbClr val="002D64"/>
      </a:dk1>
      <a:lt1>
        <a:srgbClr val="FFFFFF"/>
      </a:lt1>
      <a:dk2>
        <a:srgbClr val="415F8C"/>
      </a:dk2>
      <a:lt2>
        <a:srgbClr val="002D64"/>
      </a:lt2>
      <a:accent1>
        <a:srgbClr val="AFBED2"/>
      </a:accent1>
      <a:accent2>
        <a:srgbClr val="646464"/>
      </a:accent2>
      <a:accent3>
        <a:srgbClr val="008CA0"/>
      </a:accent3>
      <a:accent4>
        <a:srgbClr val="491A66"/>
      </a:accent4>
      <a:accent5>
        <a:srgbClr val="AF0055"/>
      </a:accent5>
      <a:accent6>
        <a:srgbClr val="FF7F00"/>
      </a:accent6>
      <a:hlink>
        <a:srgbClr val="008CA0"/>
      </a:hlink>
      <a:folHlink>
        <a:srgbClr val="002D6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noAutofit/>
      </a:bodyPr>
      <a:lstStyle>
        <a:defPPr>
          <a:spcBef>
            <a:spcPts val="600"/>
          </a:spcBef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rtelsmann_PPT_Master_2014_16zu9_Entwurf_angepasst.pptx" id="{88DDA2CA-EC14-4BAE-83E5-03BB985E7EB5}" vid="{5EF44A50-BD4C-4C4D-8F14-7D7BCA814813}"/>
    </a:ext>
  </a:extLst>
</a:theme>
</file>

<file path=ppt/theme/theme4.xml><?xml version="1.0" encoding="utf-8"?>
<a:theme xmlns:a="http://schemas.openxmlformats.org/drawingml/2006/main" name="3_Larissa">
  <a:themeElements>
    <a:clrScheme name="Benutzerdefiniert 16">
      <a:dk1>
        <a:srgbClr val="002D64"/>
      </a:dk1>
      <a:lt1>
        <a:srgbClr val="FFFFFF"/>
      </a:lt1>
      <a:dk2>
        <a:srgbClr val="415F8C"/>
      </a:dk2>
      <a:lt2>
        <a:srgbClr val="002D64"/>
      </a:lt2>
      <a:accent1>
        <a:srgbClr val="AFBED2"/>
      </a:accent1>
      <a:accent2>
        <a:srgbClr val="646464"/>
      </a:accent2>
      <a:accent3>
        <a:srgbClr val="008CA0"/>
      </a:accent3>
      <a:accent4>
        <a:srgbClr val="491A66"/>
      </a:accent4>
      <a:accent5>
        <a:srgbClr val="AF0055"/>
      </a:accent5>
      <a:accent6>
        <a:srgbClr val="FF7F00"/>
      </a:accent6>
      <a:hlink>
        <a:srgbClr val="008CA0"/>
      </a:hlink>
      <a:folHlink>
        <a:srgbClr val="002D6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noAutofit/>
      </a:bodyPr>
      <a:lstStyle>
        <a:defPPr>
          <a:spcBef>
            <a:spcPts val="600"/>
          </a:spcBef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rtelsmann_PPT_Master_2014_16zu9_Entwurf_angepasst.pptx" id="{88DDA2CA-EC14-4BAE-83E5-03BB985E7EB5}" vid="{5EF44A50-BD4C-4C4D-8F14-7D7BCA814813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97020CB4774BB3DA12ED5041D9E4" ma:contentTypeVersion="14" ma:contentTypeDescription="Create a new document." ma:contentTypeScope="" ma:versionID="4947269b5a2cb7566d06434849a9258b">
  <xsd:schema xmlns:xsd="http://www.w3.org/2001/XMLSchema" xmlns:xs="http://www.w3.org/2001/XMLSchema" xmlns:p="http://schemas.microsoft.com/office/2006/metadata/properties" xmlns:ns2="cccd2949-8f20-4b95-903b-117b54bf46af" xmlns:ns3="c4f96c1e-8012-4da5-96ea-d0ebc4018a7b" targetNamespace="http://schemas.microsoft.com/office/2006/metadata/properties" ma:root="true" ma:fieldsID="82b8ed764de8ccdb198cb24522bec840" ns2:_="" ns3:_="">
    <xsd:import namespace="cccd2949-8f20-4b95-903b-117b54bf46af"/>
    <xsd:import namespace="c4f96c1e-8012-4da5-96ea-d0ebc4018a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cd2949-8f20-4b95-903b-117b54bf46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5881c09-cf89-46b6-95b9-73984ece9c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f96c1e-8012-4da5-96ea-d0ebc4018a7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4b1c25e-452e-49c3-a3f0-125db96e1bdd}" ma:internalName="TaxCatchAll" ma:showField="CatchAllData" ma:web="c4f96c1e-8012-4da5-96ea-d0ebc4018a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4f96c1e-8012-4da5-96ea-d0ebc4018a7b" xsi:nil="true"/>
    <lcf76f155ced4ddcb4097134ff3c332f xmlns="cccd2949-8f20-4b95-903b-117b54bf46a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68F0AAE-AA60-4CB4-A367-19D96CE13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172725-C48D-497E-BF23-E664E9BC111C}">
  <ds:schemaRefs>
    <ds:schemaRef ds:uri="c4f96c1e-8012-4da5-96ea-d0ebc4018a7b"/>
    <ds:schemaRef ds:uri="cccd2949-8f20-4b95-903b-117b54bf46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09E5052-0278-4815-B30A-C1BCCB8C5AF8}">
  <ds:schemaRefs>
    <ds:schemaRef ds:uri="c4f96c1e-8012-4da5-96ea-d0ebc4018a7b"/>
    <ds:schemaRef ds:uri="cccd2949-8f20-4b95-903b-117b54bf46a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Benutzerdefiniert</PresentationFormat>
  <Slides>14</Slides>
  <Notes>7</Notes>
  <HiddenSlides>1</HiddenSlides>
  <ScaleCrop>false</ScaleCrop>
  <HeadingPairs>
    <vt:vector size="4" baseType="variant">
      <vt:variant>
        <vt:lpstr>Design</vt:lpstr>
      </vt:variant>
      <vt:variant>
        <vt:i4>4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Larissa</vt:lpstr>
      <vt:lpstr>2_Larissa</vt:lpstr>
      <vt:lpstr>1_Larissa</vt:lpstr>
      <vt:lpstr>3_Larissa</vt:lpstr>
      <vt:lpstr>Vibe to Live</vt:lpstr>
      <vt:lpstr>Overview</vt:lpstr>
      <vt:lpstr>Proposed Structural Framework</vt:lpstr>
      <vt:lpstr>Introduction</vt:lpstr>
      <vt:lpstr>[Motivation]</vt:lpstr>
      <vt:lpstr>[Historical Overview – Timeline] </vt:lpstr>
      <vt:lpstr>[Nothing great built alone – showcases]</vt:lpstr>
      <vt:lpstr>Methodological Approach &amp; Framework</vt:lpstr>
      <vt:lpstr>Testimonials</vt:lpstr>
      <vt:lpstr>Workflow Transformations</vt:lpstr>
      <vt:lpstr>Outlook</vt:lpstr>
      <vt:lpstr>Cheat Sheet &amp; Best Practices</vt:lpstr>
      <vt:lpstr>BACKUP</vt:lpstr>
      <vt:lpstr>Brainstorming Booklet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Park-Scheld, Claudia</dc:creator>
  <cp:revision>4</cp:revision>
  <dcterms:created xsi:type="dcterms:W3CDTF">2026-05-04T09:29:48Z</dcterms:created>
  <dcterms:modified xsi:type="dcterms:W3CDTF">2026-05-12T14:06:41Z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1eb46ce-67e3-4023-9bb7-2cf97845c0ca_Enabled">
    <vt:lpwstr>true</vt:lpwstr>
  </property>
  <property fmtid="{D5CDD505-2E9C-101B-9397-08002B2CF9AE}" pid="3" name="MSIP_Label_d1eb46ce-67e3-4023-9bb7-2cf97845c0ca_SetDate">
    <vt:lpwstr>2026-05-04T09:30:56Z</vt:lpwstr>
  </property>
  <property fmtid="{D5CDD505-2E9C-101B-9397-08002B2CF9AE}" pid="4" name="MSIP_Label_d1eb46ce-67e3-4023-9bb7-2cf97845c0ca_Method">
    <vt:lpwstr>Standard</vt:lpwstr>
  </property>
  <property fmtid="{D5CDD505-2E9C-101B-9397-08002B2CF9AE}" pid="5" name="MSIP_Label_d1eb46ce-67e3-4023-9bb7-2cf97845c0ca_Name">
    <vt:lpwstr>d1eb46ce-67e3-4023-9bb7-2cf97845c0ca</vt:lpwstr>
  </property>
  <property fmtid="{D5CDD505-2E9C-101B-9397-08002B2CF9AE}" pid="6" name="MSIP_Label_d1eb46ce-67e3-4023-9bb7-2cf97845c0ca_SiteId">
    <vt:lpwstr>1ca8bd94-3c97-4fc6-8955-bad266b43f0b</vt:lpwstr>
  </property>
  <property fmtid="{D5CDD505-2E9C-101B-9397-08002B2CF9AE}" pid="7" name="MSIP_Label_d1eb46ce-67e3-4023-9bb7-2cf97845c0ca_ActionId">
    <vt:lpwstr>8217d176-07e0-480d-9435-8574c19f8e25</vt:lpwstr>
  </property>
  <property fmtid="{D5CDD505-2E9C-101B-9397-08002B2CF9AE}" pid="8" name="MSIP_Label_d1eb46ce-67e3-4023-9bb7-2cf97845c0ca_ContentBits">
    <vt:lpwstr>0</vt:lpwstr>
  </property>
  <property fmtid="{D5CDD505-2E9C-101B-9397-08002B2CF9AE}" pid="9" name="MSIP_Label_d1eb46ce-67e3-4023-9bb7-2cf97845c0ca_Tag">
    <vt:lpwstr>10, 3, 0, 1</vt:lpwstr>
  </property>
  <property fmtid="{D5CDD505-2E9C-101B-9397-08002B2CF9AE}" pid="10" name="ContentTypeId">
    <vt:lpwstr>0x010100104297020CB4774BB3DA12ED5041D9E4</vt:lpwstr>
  </property>
  <property fmtid="{D5CDD505-2E9C-101B-9397-08002B2CF9AE}" pid="11" name="MediaServiceImageTags">
    <vt:lpwstr/>
  </property>
</Properties>
</file>